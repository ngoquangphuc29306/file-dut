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y="6858000" cx="9144000"/>
  <p:notesSz cx="6858000" cy="9144000"/>
  <p:embeddedFontLst>
    <p:embeddedFont>
      <p:font typeface="Arim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3" roundtripDataSignature="AMtx7mhHPHZmgE3ofx3vKOsm/fU4Pgzl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D4AB86-5967-49AB-98AF-9A7983102531}">
  <a:tblStyle styleId="{B0D4AB86-5967-49AB-98AF-9A7983102531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5D5E90B3-AE2E-458A-BFB4-0B1FBA4DF8E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customschemas.google.com/relationships/presentationmetadata" Target="metadata"/><Relationship Id="rId72" Type="http://schemas.openxmlformats.org/officeDocument/2006/relationships/font" Target="fonts/Arimo-bold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Arimo-italic.fntdata"/><Relationship Id="rId70" Type="http://schemas.openxmlformats.org/officeDocument/2006/relationships/font" Target="fonts/Arimo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Arimo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2da383816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52da383816_0_1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52da383816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52da383816_0_1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2da383816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52da383816_0_1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84aec728a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84aec728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1184aec728a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84aec728a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84aec728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1184aec728a_0_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84aec728a_0_2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84aec728a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1184aec728a_0_2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184aec728a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184aec728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1184aec728a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84aec728a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184aec728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1184aec728a_0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84aec728a_0_2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84aec728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1184aec728a_0_2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184aec728a_0_2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184aec728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1184aec728a_0_2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184aec728a_0_2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184aec728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1184aec728a_0_2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84aec728a_0_3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184aec728a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1184aec728a_0_3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184aec728a_0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184aec728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1184aec728a_0_3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84aec728a_0_3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184aec728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1184aec728a_0_3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184aec728a_0_3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184aec728a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1184aec728a_0_3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184aec728a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184aec728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1184aec728a_0_3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184aec728a_0_3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184aec728a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1184aec728a_0_3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184aec728a_0_2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184aec728a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1184aec728a_0_2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84aec728a_0_3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184aec728a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1184aec728a_0_3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84aec728a_0_3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184aec728a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1184aec728a_0_3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184aec728a_0_3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184aec728a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1184aec728a_0_3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84aec728a_0_3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84aec728a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1184aec728a_0_3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ce12c0adc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ce12c0ad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ce12c0adc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184aec728a_0_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184aec728a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1184aec728a_0_4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84aec728a_0_4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84aec728a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1184aec728a_0_4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184aec728a_0_4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184aec728a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1184aec728a_0_4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184aec728a_0_4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184aec728a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1184aec728a_0_4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184aec728a_0_3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184aec728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1184aec728a_0_3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84aec728a_0_4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184aec728a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1184aec728a_0_4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184aec728a_0_4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184aec728a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1184aec728a_0_4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52da383a1b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g52da383a1b_0_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184aec728a_0_4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184aec728a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1184aec728a_0_4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184aec728a_0_4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1184aec728a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1184aec728a_0_4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Quá trình tìm kiếm lời giải theo thuật toán quay lui có thể mô tả bởi cây tìm kiếm với lời giải: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1: Khả năng chọn s1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2: Khả năng chọn s2 khi s1 đã chọn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3: khả năng chọn s3 khi s1 và s2 đã chọn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4: khả năng chonn s4 khi s1, s2 và s3 đã chọn.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184aec728a_0_4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184aec728a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1184aec728a_0_4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184aec728a_0_4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184aec728a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1184aec728a_0_4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184aec728a_0_4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1184aec728a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1184aec728a_0_4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184aec728a_0_4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184aec728a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1184aec728a_0_4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184aec728a_0_5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184aec728a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1184aec728a_0_5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184aec728a_0_5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184aec728a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1184aec728a_0_5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184aec728a_0_5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184aec728a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1184aec728a_0_5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184aec728a_0_5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184aec728a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1184aec728a_0_5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Nghiệm đầu tiên của chương trình với n = 8;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       x = (4 8 1 3 6 2 7 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Hàng 1 cột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Hàng 2 cột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Bài toán: Liệt kê các tổ hợp chập k của n phần tử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Thiết kế thuật toán: 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Ta sẽ biểu diễn tổ hợp dưới dạng x1….xk; trong đó: 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≤ x1 ≤ x2 ≤ … ≤ xk ≤ n. 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Nếu với mọi j thuộc { 1,…,n } 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 chấp nhận j nếu j thuộc { xi-1+1 ,…., n-k+i }. </a:t>
            </a:r>
            <a:endParaRPr/>
          </a:p>
        </p:txBody>
      </p:sp>
      <p:sp>
        <p:nvSpPr>
          <p:cNvPr id="757" name="Google Shape;757;p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A1A2A3 , AI thuoc 1--4</a:t>
            </a:r>
            <a:endParaRPr/>
          </a:p>
        </p:txBody>
      </p:sp>
      <p:sp>
        <p:nvSpPr>
          <p:cNvPr id="766" name="Google Shape;766;p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90" name="Google Shape;79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án Rời Rạc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0" type="dt"/>
          </p:nvPr>
        </p:nvSpPr>
        <p:spPr>
          <a:xfrm>
            <a:off x="3810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5" name="Google Shape;25;p6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8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69"/>
          <p:cNvSpPr txBox="1"/>
          <p:nvPr>
            <p:ph idx="11" type="ftr"/>
          </p:nvPr>
        </p:nvSpPr>
        <p:spPr>
          <a:xfrm>
            <a:off x="2514600" y="6536938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1" type="ftr"/>
          </p:nvPr>
        </p:nvSpPr>
        <p:spPr>
          <a:xfrm>
            <a:off x="2971800" y="6492875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71"/>
          <p:cNvSpPr txBox="1"/>
          <p:nvPr>
            <p:ph idx="10" type="dt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1"/>
          <p:cNvSpPr txBox="1"/>
          <p:nvPr>
            <p:ph idx="11" type="ftr"/>
          </p:nvPr>
        </p:nvSpPr>
        <p:spPr>
          <a:xfrm>
            <a:off x="27432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1" type="ftr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3"/>
          <p:cNvSpPr txBox="1"/>
          <p:nvPr>
            <p:ph idx="11" type="ftr"/>
          </p:nvPr>
        </p:nvSpPr>
        <p:spPr>
          <a:xfrm>
            <a:off x="2667000" y="6477000"/>
            <a:ext cx="335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4"/>
          <p:cNvSpPr txBox="1"/>
          <p:nvPr>
            <p:ph idx="11" type="ftr"/>
          </p:nvPr>
        </p:nvSpPr>
        <p:spPr>
          <a:xfrm>
            <a:off x="28956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7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5"/>
          <p:cNvSpPr txBox="1"/>
          <p:nvPr>
            <p:ph idx="11" type="ftr"/>
          </p:nvPr>
        </p:nvSpPr>
        <p:spPr>
          <a:xfrm>
            <a:off x="2819400" y="6492875"/>
            <a:ext cx="342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4" name="Google Shape;74;p7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1" type="ftr"/>
          </p:nvPr>
        </p:nvSpPr>
        <p:spPr>
          <a:xfrm>
            <a:off x="2895600" y="6613525"/>
            <a:ext cx="3429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>
  <p:cSld name="Title, Text, and 2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idx="1" type="body"/>
          </p:nvPr>
        </p:nvSpPr>
        <p:spPr>
          <a:xfrm>
            <a:off x="304800" y="381000"/>
            <a:ext cx="3962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idx="2" type="body"/>
          </p:nvPr>
        </p:nvSpPr>
        <p:spPr>
          <a:xfrm>
            <a:off x="4419600" y="3810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3" type="body"/>
          </p:nvPr>
        </p:nvSpPr>
        <p:spPr>
          <a:xfrm>
            <a:off x="4419600" y="33909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1" type="ftr"/>
          </p:nvPr>
        </p:nvSpPr>
        <p:spPr>
          <a:xfrm>
            <a:off x="2743200" y="649287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2da383816_0_168"/>
          <p:cNvSpPr txBox="1"/>
          <p:nvPr>
            <p:ph idx="1" type="body"/>
          </p:nvPr>
        </p:nvSpPr>
        <p:spPr>
          <a:xfrm>
            <a:off x="493776" y="3968497"/>
            <a:ext cx="49788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g52da383816_0_168"/>
          <p:cNvSpPr txBox="1"/>
          <p:nvPr>
            <p:ph type="ctrTitle"/>
          </p:nvPr>
        </p:nvSpPr>
        <p:spPr>
          <a:xfrm>
            <a:off x="493776" y="1239123"/>
            <a:ext cx="49788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6" name="Google Shape;96;g52da383816_0_168"/>
          <p:cNvCxnSpPr/>
          <p:nvPr/>
        </p:nvCxnSpPr>
        <p:spPr>
          <a:xfrm>
            <a:off x="276359" y="2216727"/>
            <a:ext cx="0" cy="340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97" name="Google Shape;97;g52da383816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8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2da383816_0_173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52da383816_0_173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2da383816_0_176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52da383816_0_176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52da383816_0_176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2da383816_0_180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52da383816_0_180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2da383816_0_183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52da383816_0_183"/>
          <p:cNvSpPr txBox="1"/>
          <p:nvPr>
            <p:ph idx="1" type="body"/>
          </p:nvPr>
        </p:nvSpPr>
        <p:spPr>
          <a:xfrm>
            <a:off x="425196" y="2185416"/>
            <a:ext cx="37926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52da383816_0_183"/>
          <p:cNvSpPr txBox="1"/>
          <p:nvPr>
            <p:ph idx="2" type="body"/>
          </p:nvPr>
        </p:nvSpPr>
        <p:spPr>
          <a:xfrm>
            <a:off x="4389120" y="2185416"/>
            <a:ext cx="3922800" cy="3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52da383816_0_183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2da383816_0_188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52da383816_0_188"/>
          <p:cNvSpPr txBox="1"/>
          <p:nvPr>
            <p:ph idx="1" type="body"/>
          </p:nvPr>
        </p:nvSpPr>
        <p:spPr>
          <a:xfrm>
            <a:off x="425196" y="2185416"/>
            <a:ext cx="3854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52da383816_0_188"/>
          <p:cNvSpPr txBox="1"/>
          <p:nvPr>
            <p:ph idx="2" type="body"/>
          </p:nvPr>
        </p:nvSpPr>
        <p:spPr>
          <a:xfrm>
            <a:off x="425197" y="2593340"/>
            <a:ext cx="3855300" cy="3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52da383816_0_188"/>
          <p:cNvSpPr txBox="1"/>
          <p:nvPr>
            <p:ph idx="3" type="body"/>
          </p:nvPr>
        </p:nvSpPr>
        <p:spPr>
          <a:xfrm>
            <a:off x="4629150" y="2185416"/>
            <a:ext cx="3854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52da383816_0_188"/>
          <p:cNvSpPr txBox="1"/>
          <p:nvPr>
            <p:ph idx="4" type="body"/>
          </p:nvPr>
        </p:nvSpPr>
        <p:spPr>
          <a:xfrm>
            <a:off x="4629150" y="2590800"/>
            <a:ext cx="38541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52da383816_0_188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1.xml"/><Relationship Id="rId1" Type="http://schemas.openxmlformats.org/officeDocument/2006/relationships/image" Target="../media/image23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1.png" id="15" name="Google Shape;15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52da383816_0_160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52da383816_0_160"/>
          <p:cNvSpPr txBox="1"/>
          <p:nvPr>
            <p:ph idx="1" type="body"/>
          </p:nvPr>
        </p:nvSpPr>
        <p:spPr>
          <a:xfrm>
            <a:off x="425196" y="2185417"/>
            <a:ext cx="78867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52da383816_0_160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52da383816_0_160"/>
          <p:cNvSpPr txBox="1"/>
          <p:nvPr/>
        </p:nvSpPr>
        <p:spPr>
          <a:xfrm>
            <a:off x="5542161" y="217021"/>
            <a:ext cx="276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52da383816_0_160"/>
          <p:cNvSpPr/>
          <p:nvPr/>
        </p:nvSpPr>
        <p:spPr>
          <a:xfrm>
            <a:off x="8311897" y="134971"/>
            <a:ext cx="645300" cy="59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52da383816_0_1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6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2" name="Google Shape;92;g52da383816_0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://../Chuong%20trinh/XepHau_back.exe" TargetMode="External"/><Relationship Id="rId4" Type="http://schemas.openxmlformats.org/officeDocument/2006/relationships/hyperlink" Target="about:blank" TargetMode="External"/><Relationship Id="rId5" Type="http://schemas.openxmlformats.org/officeDocument/2006/relationships/hyperlink" Target="about:blank" TargetMode="External"/><Relationship Id="rId6" Type="http://schemas.openxmlformats.org/officeDocument/2006/relationships/image" Target="../media/image2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52da383816_0_142"/>
          <p:cNvSpPr txBox="1"/>
          <p:nvPr>
            <p:ph type="ctrTitle"/>
          </p:nvPr>
        </p:nvSpPr>
        <p:spPr>
          <a:xfrm>
            <a:off x="510473" y="1804112"/>
            <a:ext cx="56199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TOÁN RỜI RẠC</a:t>
            </a:r>
            <a:endParaRPr/>
          </a:p>
        </p:txBody>
      </p:sp>
      <p:sp>
        <p:nvSpPr>
          <p:cNvPr id="125" name="Google Shape;125;g52da383816_0_142"/>
          <p:cNvSpPr txBox="1"/>
          <p:nvPr/>
        </p:nvSpPr>
        <p:spPr>
          <a:xfrm>
            <a:off x="1309143" y="4828745"/>
            <a:ext cx="494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52da383816_0_142"/>
          <p:cNvSpPr/>
          <p:nvPr/>
        </p:nvSpPr>
        <p:spPr>
          <a:xfrm>
            <a:off x="437871" y="4735071"/>
            <a:ext cx="797700" cy="797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52da383816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743275" cy="72841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2da383816_0_149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TOÁN RỜI RẠC</a:t>
            </a:r>
            <a:endParaRPr/>
          </a:p>
        </p:txBody>
      </p:sp>
      <p:sp>
        <p:nvSpPr>
          <p:cNvPr id="133" name="Google Shape;133;g52da383816_0_149"/>
          <p:cNvSpPr txBox="1"/>
          <p:nvPr>
            <p:ph idx="1" type="subTitle"/>
          </p:nvPr>
        </p:nvSpPr>
        <p:spPr>
          <a:xfrm>
            <a:off x="493776" y="3793356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Bài 3: </a:t>
            </a:r>
            <a:r>
              <a:rPr lang="en-US"/>
              <a:t>BÀI TOÁN LIỆT KÊ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2da383816_0_154"/>
          <p:cNvSpPr txBox="1"/>
          <p:nvPr>
            <p:ph type="title"/>
          </p:nvPr>
        </p:nvSpPr>
        <p:spPr>
          <a:xfrm>
            <a:off x="425196" y="1499616"/>
            <a:ext cx="5213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39" name="Google Shape;139;g52da383816_0_154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AutoNum type="arabicPeriod"/>
            </a:pPr>
            <a:r>
              <a:rPr lang="en-US" sz="2400"/>
              <a:t>GIỚI THIỆU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SINH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QUAY LUI</a:t>
            </a:r>
            <a:endParaRPr sz="2400"/>
          </a:p>
        </p:txBody>
      </p:sp>
      <p:sp>
        <p:nvSpPr>
          <p:cNvPr id="140" name="Google Shape;140;g52da383816_0_154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>
            <p:ph type="title"/>
          </p:nvPr>
        </p:nvSpPr>
        <p:spPr>
          <a:xfrm>
            <a:off x="669075" y="381000"/>
            <a:ext cx="801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 sz="3600">
                <a:solidFill>
                  <a:srgbClr val="2820D2"/>
                </a:solidFill>
                <a:latin typeface="Georgia"/>
                <a:ea typeface="Georgia"/>
                <a:cs typeface="Georgia"/>
                <a:sym typeface="Georgia"/>
              </a:rPr>
              <a:t>GIỚI THIỆU</a:t>
            </a:r>
            <a:endParaRPr sz="3600">
              <a:solidFill>
                <a:srgbClr val="2820D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47" name="Google Shape;147;p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8" name="Google Shape;148;p3"/>
          <p:cNvGraphicFramePr/>
          <p:nvPr/>
        </p:nvGraphicFramePr>
        <p:xfrm>
          <a:off x="8382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086600"/>
              </a:tblGrid>
              <a:tr h="43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Mục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đích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091850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Liệt kê tất cả các cấu hình có thể có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Google Shape;149;p3"/>
          <p:cNvGraphicFramePr/>
          <p:nvPr/>
        </p:nvGraphicFramePr>
        <p:xfrm>
          <a:off x="838200" y="39624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162800"/>
              </a:tblGrid>
              <a:tr h="43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Bản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chất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091850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Tìm thuật toán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  <a:p>
                      <a:pPr indent="-495300" lvl="1" marL="914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Char char="▪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Dữ liệu vào: cấu hình hiện tại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495300" lvl="1" marL="914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Char char="▪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Dữ liệu ra: cấu hình kế tiếp.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55" name="Google Shape;155;p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6" name="Google Shape;156;p4"/>
          <p:cNvGraphicFramePr/>
          <p:nvPr/>
        </p:nvGraphicFramePr>
        <p:xfrm>
          <a:off x="8382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086600"/>
              </a:tblGrid>
              <a:tr h="4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Nguyên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tắc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1229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được lặp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cấu hình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được bỏ sót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cấu hình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7" name="Google Shape;157;p4"/>
          <p:cNvGraphicFramePr/>
          <p:nvPr/>
        </p:nvGraphicFramePr>
        <p:xfrm>
          <a:off x="914400" y="369003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086600"/>
              </a:tblGrid>
              <a:tr h="43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Tiếp cận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091850">
                <a:tc>
                  <a:txBody>
                    <a:bodyPr/>
                    <a:lstStyle/>
                    <a:p>
                      <a:pPr indent="-406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800"/>
                        <a:buFont typeface="Arial"/>
                        <a:buChar char="●"/>
                      </a:pPr>
                      <a:r>
                        <a:rPr b="1" lang="en-US" sz="2800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Bài toán chưa có cách giải</a:t>
                      </a:r>
                      <a:endParaRPr sz="11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1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4"/>
          <p:cNvSpPr txBox="1"/>
          <p:nvPr>
            <p:ph type="title"/>
          </p:nvPr>
        </p:nvSpPr>
        <p:spPr>
          <a:xfrm>
            <a:off x="669075" y="381000"/>
            <a:ext cx="801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GIỚI THIỆU</a:t>
            </a:r>
            <a:endParaRPr b="1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title"/>
          </p:nvPr>
        </p:nvSpPr>
        <p:spPr>
          <a:xfrm>
            <a:off x="635625" y="381000"/>
            <a:ext cx="8051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SINH</a:t>
            </a:r>
            <a:endParaRPr b="1" sz="3200"/>
          </a:p>
        </p:txBody>
      </p:sp>
      <p:sp>
        <p:nvSpPr>
          <p:cNvPr id="164" name="Google Shape;164;p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65" name="Google Shape;165;p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6" name="Google Shape;166;p5"/>
          <p:cNvGraphicFramePr/>
          <p:nvPr/>
        </p:nvGraphicFramePr>
        <p:xfrm>
          <a:off x="8382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086600"/>
              </a:tblGrid>
              <a:tr h="4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Mục đích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11229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Giải bài toán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bằng  liệt kê tất cả cấu hình</a:t>
                      </a:r>
                      <a:endParaRPr sz="28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Google Shape;167;p5"/>
          <p:cNvGraphicFramePr/>
          <p:nvPr/>
        </p:nvGraphicFramePr>
        <p:xfrm>
          <a:off x="914400" y="34290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086600"/>
              </a:tblGrid>
              <a:tr h="73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Điều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kiện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082025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Xác định được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thứ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tự</a:t>
                      </a: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cần phải liệt kê</a:t>
                      </a:r>
                      <a:endParaRPr/>
                    </a:p>
                    <a:p>
                      <a:pPr indent="-457200" lvl="1" marL="9144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Char char="▪"/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Biết được</a:t>
                      </a:r>
                      <a:r>
                        <a:rPr lang="en-US" sz="115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cấu hình đầu tiên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457200" lvl="1" marL="9144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Char char="▪"/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Biết được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cấu hình cuối cùng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4572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960"/>
                        <a:buFont typeface="Noto Sans Symbols"/>
                        <a:buChar char="▪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Xây dựng được thuật toán 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73" name="Google Shape;173;p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4" name="Google Shape;174;p6"/>
          <p:cNvGraphicFramePr/>
          <p:nvPr/>
        </p:nvGraphicFramePr>
        <p:xfrm>
          <a:off x="7620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4343400"/>
              </a:tblGrid>
              <a:tr h="586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Bản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chất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680675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Method(</a:t>
                      </a:r>
                      <a:r>
                        <a:rPr lang="en-US" sz="2400" u="none" cap="none" strike="noStrike"/>
                        <a:t>…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)  {  </a:t>
                      </a:r>
                      <a:endParaRPr sz="2400" u="none" cap="none" strike="noStrike">
                        <a:solidFill>
                          <a:srgbClr val="002060"/>
                        </a:solidFill>
                      </a:endParaRPr>
                    </a:p>
                    <a:p>
                      <a:pPr indent="0" lvl="1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(1)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cấu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 hình ban đầu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   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(2) </a:t>
                      </a:r>
                      <a:r>
                        <a:rPr b="1" lang="en-US" sz="2400" u="none" cap="none" strike="noStrike">
                          <a:solidFill>
                            <a:srgbClr val="FF0000"/>
                          </a:solidFill>
                        </a:rPr>
                        <a:t>stop = islastconfigure(…);</a:t>
                      </a:r>
                      <a:endParaRPr/>
                    </a:p>
                    <a:p>
                      <a:pPr indent="0" lvl="1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</a:t>
                      </a:r>
                      <a:r>
                        <a:rPr lang="en-US" sz="2400" u="none" cap="none" strike="noStrike"/>
                        <a:t>while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(</a:t>
                      </a:r>
                      <a:r>
                        <a:rPr b="1" lang="en-US" sz="2400">
                          <a:solidFill>
                            <a:srgbClr val="FF0000"/>
                          </a:solidFill>
                        </a:rPr>
                        <a:t>top==0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) {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</a:t>
                      </a:r>
                      <a:r>
                        <a:rPr b="1" lang="en-US" sz="2400" u="none" cap="none" strike="noStrike">
                          <a:solidFill>
                            <a:srgbClr val="00B050"/>
                          </a:solidFill>
                        </a:rPr>
                        <a:t>(3) sin</a:t>
                      </a:r>
                      <a:r>
                        <a:rPr b="1" lang="en-US" sz="2400">
                          <a:solidFill>
                            <a:srgbClr val="00B050"/>
                          </a:solidFill>
                        </a:rPr>
                        <a:t>h kế_tiếp;</a:t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 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}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Google Shape;175;p6"/>
          <p:cNvGraphicFramePr/>
          <p:nvPr/>
        </p:nvGraphicFramePr>
        <p:xfrm>
          <a:off x="5334000" y="16002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32766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Chú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thích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53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00B050"/>
                          </a:solidFill>
                        </a:rPr>
                        <a:t>(1):</a:t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00B050"/>
                          </a:solidFill>
                        </a:rPr>
                        <a:t>(2):</a:t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00B050"/>
                          </a:solidFill>
                        </a:rPr>
                        <a:t>(3): </a:t>
                      </a:r>
                      <a:endParaRPr b="1" sz="24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6" name="Google Shape;176;p6"/>
          <p:cNvSpPr txBox="1"/>
          <p:nvPr>
            <p:ph type="title"/>
          </p:nvPr>
        </p:nvSpPr>
        <p:spPr>
          <a:xfrm>
            <a:off x="635625" y="381000"/>
            <a:ext cx="8051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SINH</a:t>
            </a:r>
            <a:endParaRPr b="1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84aec728a_0_12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183" name="Google Shape;183;g1184aec728a_0_12"/>
          <p:cNvSpPr txBox="1"/>
          <p:nvPr>
            <p:ph idx="1" type="body"/>
          </p:nvPr>
        </p:nvSpPr>
        <p:spPr>
          <a:xfrm>
            <a:off x="425200" y="2185425"/>
            <a:ext cx="82662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AutoNum type="arabicParenBoth"/>
            </a:pPr>
            <a:r>
              <a:rPr lang="en-US" sz="3000">
                <a:solidFill>
                  <a:schemeClr val="dk2"/>
                </a:solidFill>
              </a:rPr>
              <a:t>- Bài toán l</a:t>
            </a:r>
            <a:r>
              <a:rPr lang="en-US" sz="3000">
                <a:solidFill>
                  <a:schemeClr val="dk2"/>
                </a:solidFill>
              </a:rPr>
              <a:t>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 với </a:t>
            </a:r>
            <a:r>
              <a:rPr lang="en-US" sz="2700">
                <a:solidFill>
                  <a:schemeClr val="dk2"/>
                </a:solidFill>
              </a:rPr>
              <a:t>số bit 0 bằng số bit 1.</a:t>
            </a:r>
            <a:endParaRPr sz="2700">
              <a:solidFill>
                <a:schemeClr val="dk2"/>
              </a:solidFill>
            </a:endParaRPr>
          </a:p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2700">
                <a:solidFill>
                  <a:schemeClr val="dk2"/>
                </a:solidFill>
              </a:rPr>
              <a:t>Bài toán liệt kê chuỗi nhị phân có độ dài n với số bit 0 là số chẵn.</a:t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184aec728a_0_93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190" name="Google Shape;190;g1184aec728a_0_93"/>
          <p:cNvSpPr txBox="1"/>
          <p:nvPr>
            <p:ph idx="1" type="body"/>
          </p:nvPr>
        </p:nvSpPr>
        <p:spPr>
          <a:xfrm>
            <a:off x="425200" y="1934843"/>
            <a:ext cx="7770000" cy="65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pSp>
        <p:nvGrpSpPr>
          <p:cNvPr id="191" name="Google Shape;191;g1184aec728a_0_93"/>
          <p:cNvGrpSpPr/>
          <p:nvPr/>
        </p:nvGrpSpPr>
        <p:grpSpPr>
          <a:xfrm>
            <a:off x="1187100" y="3007550"/>
            <a:ext cx="6124536" cy="2336551"/>
            <a:chOff x="1187100" y="3007550"/>
            <a:chExt cx="6124536" cy="2336551"/>
          </a:xfrm>
        </p:grpSpPr>
        <p:grpSp>
          <p:nvGrpSpPr>
            <p:cNvPr id="192" name="Google Shape;192;g1184aec728a_0_93"/>
            <p:cNvGrpSpPr/>
            <p:nvPr/>
          </p:nvGrpSpPr>
          <p:grpSpPr>
            <a:xfrm>
              <a:off x="1385620" y="3059901"/>
              <a:ext cx="2476500" cy="476250"/>
              <a:chOff x="480" y="1488"/>
              <a:chExt cx="1560" cy="300"/>
            </a:xfrm>
          </p:grpSpPr>
          <p:sp>
            <p:nvSpPr>
              <p:cNvPr id="193" name="Google Shape;193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33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0000</a:t>
                </a:r>
                <a:endParaRPr>
                  <a:solidFill>
                    <a:srgbClr val="FF3300"/>
                  </a:solidFill>
                </a:endParaRPr>
              </a:p>
            </p:txBody>
          </p:sp>
          <p:sp>
            <p:nvSpPr>
              <p:cNvPr id="194" name="Google Shape;194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0100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95" name="Google Shape;195;g1184aec728a_0_93"/>
            <p:cNvGrpSpPr/>
            <p:nvPr/>
          </p:nvGrpSpPr>
          <p:grpSpPr>
            <a:xfrm>
              <a:off x="1385620" y="3648638"/>
              <a:ext cx="2476500" cy="476250"/>
              <a:chOff x="480" y="1488"/>
              <a:chExt cx="1560" cy="300"/>
            </a:xfrm>
          </p:grpSpPr>
          <p:sp>
            <p:nvSpPr>
              <p:cNvPr id="196" name="Google Shape;196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0001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197" name="Google Shape;197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0101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98" name="Google Shape;198;g1184aec728a_0_93"/>
            <p:cNvGrpSpPr/>
            <p:nvPr/>
          </p:nvGrpSpPr>
          <p:grpSpPr>
            <a:xfrm>
              <a:off x="1385620" y="4258238"/>
              <a:ext cx="2476500" cy="476250"/>
              <a:chOff x="480" y="1488"/>
              <a:chExt cx="1560" cy="300"/>
            </a:xfrm>
          </p:grpSpPr>
          <p:sp>
            <p:nvSpPr>
              <p:cNvPr id="199" name="Google Shape;199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0010</a:t>
                </a:r>
                <a:endParaRPr b="1">
                  <a:solidFill>
                    <a:schemeClr val="dk2"/>
                  </a:solidFill>
                </a:endParaRPr>
              </a:p>
            </p:txBody>
          </p:sp>
          <p:sp>
            <p:nvSpPr>
              <p:cNvPr id="200" name="Google Shape;200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0110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01" name="Google Shape;201;g1184aec728a_0_93"/>
            <p:cNvGrpSpPr/>
            <p:nvPr/>
          </p:nvGrpSpPr>
          <p:grpSpPr>
            <a:xfrm>
              <a:off x="1385620" y="4867838"/>
              <a:ext cx="2476500" cy="476250"/>
              <a:chOff x="480" y="1488"/>
              <a:chExt cx="1560" cy="300"/>
            </a:xfrm>
          </p:grpSpPr>
          <p:sp>
            <p:nvSpPr>
              <p:cNvPr id="202" name="Google Shape;202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0011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03" name="Google Shape;203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</a:t>
                </a: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04" name="Google Shape;204;g1184aec728a_0_93"/>
            <p:cNvGrpSpPr/>
            <p:nvPr/>
          </p:nvGrpSpPr>
          <p:grpSpPr>
            <a:xfrm>
              <a:off x="4835136" y="3033177"/>
              <a:ext cx="2476500" cy="476250"/>
              <a:chOff x="480" y="1488"/>
              <a:chExt cx="1560" cy="300"/>
            </a:xfrm>
          </p:grpSpPr>
          <p:sp>
            <p:nvSpPr>
              <p:cNvPr id="205" name="Google Shape;205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06" name="Google Shape;206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1100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07" name="Google Shape;207;g1184aec728a_0_93"/>
            <p:cNvGrpSpPr/>
            <p:nvPr/>
          </p:nvGrpSpPr>
          <p:grpSpPr>
            <a:xfrm>
              <a:off x="4835136" y="3642777"/>
              <a:ext cx="2476500" cy="476250"/>
              <a:chOff x="480" y="1488"/>
              <a:chExt cx="1560" cy="300"/>
            </a:xfrm>
          </p:grpSpPr>
          <p:sp>
            <p:nvSpPr>
              <p:cNvPr id="208" name="Google Shape;208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1001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09" name="Google Shape;209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1101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10" name="Google Shape;210;g1184aec728a_0_93"/>
            <p:cNvGrpSpPr/>
            <p:nvPr/>
          </p:nvGrpSpPr>
          <p:grpSpPr>
            <a:xfrm>
              <a:off x="4835136" y="4252377"/>
              <a:ext cx="2476500" cy="476250"/>
              <a:chOff x="480" y="1488"/>
              <a:chExt cx="1560" cy="300"/>
            </a:xfrm>
          </p:grpSpPr>
          <p:sp>
            <p:nvSpPr>
              <p:cNvPr id="211" name="Google Shape;211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010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12" name="Google Shape;212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1110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13" name="Google Shape;213;g1184aec728a_0_93"/>
            <p:cNvGrpSpPr/>
            <p:nvPr/>
          </p:nvGrpSpPr>
          <p:grpSpPr>
            <a:xfrm>
              <a:off x="4835136" y="4861977"/>
              <a:ext cx="2476500" cy="476250"/>
              <a:chOff x="480" y="1488"/>
              <a:chExt cx="1560" cy="300"/>
            </a:xfrm>
          </p:grpSpPr>
          <p:sp>
            <p:nvSpPr>
              <p:cNvPr id="214" name="Google Shape;214;g1184aec728a_0_93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1011</a:t>
                </a: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15" name="Google Shape;215;g1184aec728a_0_93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111</a:t>
                </a:r>
                <a:endParaRPr>
                  <a:solidFill>
                    <a:srgbClr val="C00000"/>
                  </a:solidFill>
                </a:endParaRPr>
              </a:p>
            </p:txBody>
          </p:sp>
        </p:grpSp>
        <p:cxnSp>
          <p:nvCxnSpPr>
            <p:cNvPr id="216" name="Google Shape;216;g1184aec728a_0_93"/>
            <p:cNvCxnSpPr>
              <a:stCxn id="194" idx="0"/>
              <a:endCxn id="202" idx="2"/>
            </p:cNvCxnSpPr>
            <p:nvPr/>
          </p:nvCxnSpPr>
          <p:spPr>
            <a:xfrm rot="5400000">
              <a:off x="1481770" y="3440001"/>
              <a:ext cx="2284200" cy="1524000"/>
            </a:xfrm>
            <a:prstGeom prst="bentConnector5">
              <a:avLst>
                <a:gd fmla="val -10425" name="adj1"/>
                <a:gd fmla="val 50000" name="adj2"/>
                <a:gd fmla="val 110424" name="adj3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7" name="Google Shape;217;g1184aec728a_0_93"/>
            <p:cNvCxnSpPr>
              <a:stCxn id="205" idx="0"/>
              <a:endCxn id="203" idx="2"/>
            </p:cNvCxnSpPr>
            <p:nvPr/>
          </p:nvCxnSpPr>
          <p:spPr>
            <a:xfrm rot="5400000">
              <a:off x="3193236" y="3225927"/>
              <a:ext cx="2310900" cy="1925400"/>
            </a:xfrm>
            <a:prstGeom prst="bentConnector5">
              <a:avLst>
                <a:gd fmla="val -10304" name="adj1"/>
                <a:gd fmla="val 50003" name="adj2"/>
                <a:gd fmla="val 110305" name="adj3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8" name="Google Shape;218;g1184aec728a_0_93"/>
            <p:cNvCxnSpPr>
              <a:stCxn id="206" idx="0"/>
              <a:endCxn id="214" idx="2"/>
            </p:cNvCxnSpPr>
            <p:nvPr/>
          </p:nvCxnSpPr>
          <p:spPr>
            <a:xfrm rot="5400000">
              <a:off x="4920786" y="3423777"/>
              <a:ext cx="2305200" cy="1524000"/>
            </a:xfrm>
            <a:prstGeom prst="bentConnector5">
              <a:avLst>
                <a:gd fmla="val -10330" name="adj1"/>
                <a:gd fmla="val 50000" name="adj2"/>
                <a:gd fmla="val 110323" name="adj3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9" name="Google Shape;219;g1184aec728a_0_93"/>
            <p:cNvCxnSpPr/>
            <p:nvPr/>
          </p:nvCxnSpPr>
          <p:spPr>
            <a:xfrm flipH="1">
              <a:off x="1187100" y="3007550"/>
              <a:ext cx="13200" cy="23082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184aec728a_0_223"/>
          <p:cNvSpPr txBox="1"/>
          <p:nvPr>
            <p:ph type="title"/>
          </p:nvPr>
        </p:nvSpPr>
        <p:spPr>
          <a:xfrm>
            <a:off x="425200" y="1001022"/>
            <a:ext cx="7850100" cy="61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26" name="Google Shape;226;g1184aec728a_0_22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g1184aec728a_0_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614854"/>
            <a:ext cx="8229599" cy="51053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8" name="Google Shape;228;g1184aec728a_0_223"/>
          <p:cNvGraphicFramePr/>
          <p:nvPr/>
        </p:nvGraphicFramePr>
        <p:xfrm>
          <a:off x="992221" y="52011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7490300"/>
              </a:tblGrid>
              <a:tr h="142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184aec728a_0_2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35" name="Google Shape;235;g1184aec728a_0_27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236" name="Google Shape;236;g1184aec728a_0_27"/>
          <p:cNvGraphicFramePr/>
          <p:nvPr/>
        </p:nvGraphicFramePr>
        <p:xfrm>
          <a:off x="785450" y="2771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315200"/>
              </a:tblGrid>
              <a:tr h="73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thứ tự 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cần liệt kê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082025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Chuỗi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nhị phân được biểu diễn: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        b = (b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…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) với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€{0,1}</a:t>
                      </a:r>
                      <a:endParaRPr/>
                    </a:p>
                    <a:p>
                      <a:pPr indent="0" lvl="0" marL="9144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Định nghĩa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thứ tự “</a:t>
                      </a: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</a:rPr>
                        <a:t>từ điển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”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: 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   b = (b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...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) và  *b = (*b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*b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... *b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)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chuỗi </a:t>
                      </a: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</a:rPr>
                        <a:t>b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được liệt kê trước </a:t>
                      </a: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</a:rPr>
                        <a:t> *b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: 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                         q(b) &lt; q(*b)</a:t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84aec728a_0_36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43" name="Google Shape;243;g1184aec728a_0_36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244" name="Google Shape;244;g1184aec728a_0_36"/>
          <p:cNvGraphicFramePr/>
          <p:nvPr/>
        </p:nvGraphicFramePr>
        <p:xfrm>
          <a:off x="785450" y="2771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315200"/>
              </a:tblGrid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Xây dựng thuật toán sinh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62297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45" name="Google Shape;245;g1184aec728a_0_36"/>
          <p:cNvGrpSpPr/>
          <p:nvPr/>
        </p:nvGrpSpPr>
        <p:grpSpPr>
          <a:xfrm>
            <a:off x="1108663" y="3540200"/>
            <a:ext cx="2476500" cy="2305050"/>
            <a:chOff x="1517505" y="2893965"/>
            <a:chExt cx="2476500" cy="2305050"/>
          </a:xfrm>
        </p:grpSpPr>
        <p:grpSp>
          <p:nvGrpSpPr>
            <p:cNvPr id="246" name="Google Shape;246;g1184aec728a_0_36"/>
            <p:cNvGrpSpPr/>
            <p:nvPr/>
          </p:nvGrpSpPr>
          <p:grpSpPr>
            <a:xfrm>
              <a:off x="1517505" y="2893965"/>
              <a:ext cx="2476500" cy="476250"/>
              <a:chOff x="480" y="1488"/>
              <a:chExt cx="1560" cy="300"/>
            </a:xfrm>
          </p:grpSpPr>
          <p:sp>
            <p:nvSpPr>
              <p:cNvPr id="247" name="Google Shape;247;g1184aec728a_0_36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/>
              </a:p>
            </p:txBody>
          </p:sp>
          <p:sp>
            <p:nvSpPr>
              <p:cNvPr id="248" name="Google Shape;248;g1184aec728a_0_36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  <p:cxnSp>
            <p:nvCxnSpPr>
              <p:cNvPr id="249" name="Google Shape;249;g1184aec728a_0_36"/>
              <p:cNvCxnSpPr/>
              <p:nvPr/>
            </p:nvCxnSpPr>
            <p:spPr>
              <a:xfrm>
                <a:off x="1152" y="1632"/>
                <a:ext cx="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50" name="Google Shape;250;g1184aec728a_0_36"/>
            <p:cNvGrpSpPr/>
            <p:nvPr/>
          </p:nvGrpSpPr>
          <p:grpSpPr>
            <a:xfrm>
              <a:off x="1517505" y="3503565"/>
              <a:ext cx="2476500" cy="476250"/>
              <a:chOff x="480" y="1488"/>
              <a:chExt cx="1560" cy="300"/>
            </a:xfrm>
          </p:grpSpPr>
          <p:sp>
            <p:nvSpPr>
              <p:cNvPr id="251" name="Google Shape;251;g1184aec728a_0_36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  <p:sp>
            <p:nvSpPr>
              <p:cNvPr id="252" name="Google Shape;252;g1184aec728a_0_36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/>
              </a:p>
            </p:txBody>
          </p:sp>
          <p:cxnSp>
            <p:nvCxnSpPr>
              <p:cNvPr id="253" name="Google Shape;253;g1184aec728a_0_36"/>
              <p:cNvCxnSpPr/>
              <p:nvPr/>
            </p:nvCxnSpPr>
            <p:spPr>
              <a:xfrm>
                <a:off x="1152" y="1632"/>
                <a:ext cx="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54" name="Google Shape;254;g1184aec728a_0_36"/>
            <p:cNvGrpSpPr/>
            <p:nvPr/>
          </p:nvGrpSpPr>
          <p:grpSpPr>
            <a:xfrm>
              <a:off x="1517505" y="4113165"/>
              <a:ext cx="2476500" cy="476250"/>
              <a:chOff x="480" y="1488"/>
              <a:chExt cx="1560" cy="300"/>
            </a:xfrm>
          </p:grpSpPr>
          <p:sp>
            <p:nvSpPr>
              <p:cNvPr id="255" name="Google Shape;255;g1184aec728a_0_36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</a:t>
                </a:r>
                <a:endParaRPr/>
              </a:p>
            </p:txBody>
          </p:sp>
          <p:sp>
            <p:nvSpPr>
              <p:cNvPr id="256" name="Google Shape;256;g1184aec728a_0_36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</a:t>
                </a:r>
                <a:endParaRPr/>
              </a:p>
            </p:txBody>
          </p:sp>
          <p:cxnSp>
            <p:nvCxnSpPr>
              <p:cNvPr id="257" name="Google Shape;257;g1184aec728a_0_36"/>
              <p:cNvCxnSpPr/>
              <p:nvPr/>
            </p:nvCxnSpPr>
            <p:spPr>
              <a:xfrm>
                <a:off x="1152" y="1632"/>
                <a:ext cx="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58" name="Google Shape;258;g1184aec728a_0_36"/>
            <p:cNvGrpSpPr/>
            <p:nvPr/>
          </p:nvGrpSpPr>
          <p:grpSpPr>
            <a:xfrm>
              <a:off x="1517505" y="4722765"/>
              <a:ext cx="2476500" cy="476250"/>
              <a:chOff x="480" y="1488"/>
              <a:chExt cx="1560" cy="300"/>
            </a:xfrm>
          </p:grpSpPr>
          <p:sp>
            <p:nvSpPr>
              <p:cNvPr id="259" name="Google Shape;259;g1184aec728a_0_36"/>
              <p:cNvSpPr/>
              <p:nvPr/>
            </p:nvSpPr>
            <p:spPr>
              <a:xfrm>
                <a:off x="48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r>
                  <a:rPr b="1" lang="en-US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111</a:t>
                </a:r>
                <a:endParaRPr/>
              </a:p>
            </p:txBody>
          </p:sp>
          <p:sp>
            <p:nvSpPr>
              <p:cNvPr id="260" name="Google Shape;260;g1184aec728a_0_36"/>
              <p:cNvSpPr/>
              <p:nvPr/>
            </p:nvSpPr>
            <p:spPr>
              <a:xfrm>
                <a:off x="1440" y="1488"/>
                <a:ext cx="600" cy="300"/>
              </a:xfrm>
              <a:prstGeom prst="rect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b="1" lang="en-US" sz="24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000</a:t>
                </a:r>
                <a:endParaRPr/>
              </a:p>
            </p:txBody>
          </p:sp>
          <p:cxnSp>
            <p:nvCxnSpPr>
              <p:cNvPr id="261" name="Google Shape;261;g1184aec728a_0_36"/>
              <p:cNvCxnSpPr/>
              <p:nvPr/>
            </p:nvCxnSpPr>
            <p:spPr>
              <a:xfrm>
                <a:off x="1152" y="1632"/>
                <a:ext cx="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262" name="Google Shape;262;g1184aec728a_0_36"/>
          <p:cNvSpPr txBox="1"/>
          <p:nvPr/>
        </p:nvSpPr>
        <p:spPr>
          <a:xfrm>
            <a:off x="4663314" y="3877174"/>
            <a:ext cx="3048000" cy="16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Noto Sans Symbols"/>
              <a:buChar char="★"/>
            </a:pPr>
            <a:r>
              <a:rPr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từ bên phải: 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b</a:t>
            </a:r>
            <a:r>
              <a:rPr baseline="-25000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Char char="★"/>
            </a:pP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Gán lại b</a:t>
            </a:r>
            <a:r>
              <a:rPr baseline="-25000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và</a:t>
            </a:r>
            <a:endParaRPr sz="24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b</a:t>
            </a:r>
            <a:r>
              <a:rPr baseline="-25000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 với j&gt; i</a:t>
            </a:r>
            <a:r>
              <a:rPr lang="en-US" sz="2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84aec728a_0_229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69" name="Google Shape;269;g1184aec728a_0_229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270" name="Google Shape;270;g1184aec728a_0_229"/>
          <p:cNvGraphicFramePr/>
          <p:nvPr/>
        </p:nvGraphicFramePr>
        <p:xfrm>
          <a:off x="785450" y="2771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190075"/>
              </a:tblGrid>
              <a:tr h="59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Demo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62297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84aec728a_0_283"/>
          <p:cNvSpPr txBox="1"/>
          <p:nvPr>
            <p:ph type="title"/>
          </p:nvPr>
        </p:nvSpPr>
        <p:spPr>
          <a:xfrm>
            <a:off x="425200" y="1001022"/>
            <a:ext cx="7850100" cy="61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77" name="Google Shape;277;g1184aec728a_0_28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g1184aec728a_0_2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27" y="1710471"/>
            <a:ext cx="8077200" cy="4986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9" name="Google Shape;279;g1184aec728a_0_283"/>
          <p:cNvGraphicFramePr/>
          <p:nvPr/>
        </p:nvGraphicFramePr>
        <p:xfrm>
          <a:off x="845527" y="3039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5350225"/>
              </a:tblGrid>
              <a:tr h="215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184aec728a_0_294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86" name="Google Shape;286;g1184aec728a_0_294"/>
          <p:cNvSpPr txBox="1"/>
          <p:nvPr>
            <p:ph idx="1" type="body"/>
          </p:nvPr>
        </p:nvSpPr>
        <p:spPr>
          <a:xfrm>
            <a:off x="778275" y="2185425"/>
            <a:ext cx="79131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(2)</a:t>
            </a:r>
            <a:r>
              <a:rPr lang="en-US" sz="3000">
                <a:solidFill>
                  <a:schemeClr val="dk2"/>
                </a:solidFill>
              </a:rPr>
              <a:t> </a:t>
            </a:r>
            <a:r>
              <a:rPr lang="en-US" sz="3000">
                <a:solidFill>
                  <a:schemeClr val="dk2"/>
                </a:solidFill>
              </a:rPr>
              <a:t>- Bài toán </a:t>
            </a:r>
            <a:r>
              <a:rPr lang="en-US" sz="3000">
                <a:solidFill>
                  <a:schemeClr val="dk2"/>
                </a:solidFill>
              </a:rPr>
              <a:t>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</a:t>
            </a:r>
            <a:r>
              <a:rPr lang="en-US" sz="3000">
                <a:solidFill>
                  <a:schemeClr val="dk2"/>
                </a:solidFill>
              </a:rPr>
              <a:t>tập con k phần tử của tập n phần tử</a:t>
            </a:r>
            <a:endParaRPr sz="2700">
              <a:solidFill>
                <a:schemeClr val="dk2"/>
              </a:solidFill>
            </a:endParaRPr>
          </a:p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2700">
                <a:solidFill>
                  <a:schemeClr val="dk2"/>
                </a:solidFill>
              </a:rPr>
              <a:t>Bài toán liệt kê tổ hợp không lặp chập k của tập n phần tử</a:t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84aec728a_0_313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293" name="Google Shape;293;g1184aec728a_0_313"/>
          <p:cNvSpPr txBox="1"/>
          <p:nvPr>
            <p:ph idx="1" type="body"/>
          </p:nvPr>
        </p:nvSpPr>
        <p:spPr>
          <a:xfrm>
            <a:off x="778275" y="1829325"/>
            <a:ext cx="7913100" cy="72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(2)</a:t>
            </a:r>
            <a:r>
              <a:rPr lang="en-US" sz="3000">
                <a:solidFill>
                  <a:schemeClr val="dk2"/>
                </a:solidFill>
              </a:rPr>
              <a:t> - Bài toán liệt kê các tập con </a:t>
            </a:r>
            <a:r>
              <a:rPr lang="en-US" sz="3000">
                <a:solidFill>
                  <a:schemeClr val="dk2"/>
                </a:solidFill>
              </a:rPr>
              <a:t>k pt </a:t>
            </a:r>
            <a:r>
              <a:rPr lang="en-US" sz="3000">
                <a:solidFill>
                  <a:schemeClr val="dk2"/>
                </a:solidFill>
              </a:rPr>
              <a:t>của tập n phần tử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94" name="Google Shape;294;g1184aec728a_0_313"/>
          <p:cNvSpPr/>
          <p:nvPr/>
        </p:nvSpPr>
        <p:spPr>
          <a:xfrm>
            <a:off x="2453200" y="2716800"/>
            <a:ext cx="14199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1,2,3 }</a:t>
            </a:r>
            <a:endParaRPr b="1" sz="1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1,2,4 }</a:t>
            </a:r>
            <a:endParaRPr b="1" sz="1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1,2,5 }</a:t>
            </a:r>
            <a:endParaRPr b="1" sz="1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1,3,4 }</a:t>
            </a:r>
            <a:endParaRPr b="1" sz="1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1,3,5 }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1184aec728a_0_313"/>
          <p:cNvSpPr txBox="1"/>
          <p:nvPr/>
        </p:nvSpPr>
        <p:spPr>
          <a:xfrm>
            <a:off x="5380900" y="2782775"/>
            <a:ext cx="153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1,4,5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2,3,4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2,3,5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2,4,5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3,4,5 }</a:t>
            </a:r>
            <a:endParaRPr b="1" sz="2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6" name="Google Shape;296;g1184aec728a_0_313"/>
          <p:cNvCxnSpPr>
            <a:stCxn id="294" idx="2"/>
            <a:endCxn id="295" idx="0"/>
          </p:cNvCxnSpPr>
          <p:nvPr/>
        </p:nvCxnSpPr>
        <p:spPr>
          <a:xfrm rot="-5400000">
            <a:off x="3190450" y="2755500"/>
            <a:ext cx="2928300" cy="2982900"/>
          </a:xfrm>
          <a:prstGeom prst="bentConnector5">
            <a:avLst>
              <a:gd fmla="val -8132" name="adj1"/>
              <a:gd fmla="val 49075" name="adj2"/>
              <a:gd fmla="val 108133" name="adj3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g1184aec728a_0_313"/>
          <p:cNvCxnSpPr/>
          <p:nvPr/>
        </p:nvCxnSpPr>
        <p:spPr>
          <a:xfrm flipH="1">
            <a:off x="2031125" y="2730575"/>
            <a:ext cx="52800" cy="288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g1184aec728a_0_313"/>
          <p:cNvCxnSpPr/>
          <p:nvPr/>
        </p:nvCxnSpPr>
        <p:spPr>
          <a:xfrm flipH="1">
            <a:off x="6910900" y="2831675"/>
            <a:ext cx="52800" cy="288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84aec728a_0_300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05" name="Google Shape;305;g1184aec728a_0_300"/>
          <p:cNvSpPr txBox="1"/>
          <p:nvPr>
            <p:ph idx="1" type="body"/>
          </p:nvPr>
        </p:nvSpPr>
        <p:spPr>
          <a:xfrm>
            <a:off x="778275" y="1846950"/>
            <a:ext cx="7609800" cy="430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Ánh xạ tập n phần tử vào tập X: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</a:rPr>
              <a:t>                </a:t>
            </a:r>
            <a:r>
              <a:rPr lang="en-US" sz="3300">
                <a:solidFill>
                  <a:srgbClr val="002060"/>
                </a:solidFill>
              </a:rPr>
              <a:t>  X = {1,2,…,n}</a:t>
            </a:r>
            <a:endParaRPr b="1" sz="1400">
              <a:solidFill>
                <a:srgbClr val="000000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>
                <a:solidFill>
                  <a:schemeClr val="dk2"/>
                </a:solidFill>
              </a:rPr>
              <a:t>Một tập con k phần tử - </a:t>
            </a:r>
            <a:r>
              <a:rPr b="1" lang="en-US" sz="3000">
                <a:solidFill>
                  <a:schemeClr val="dk2"/>
                </a:solidFill>
              </a:rPr>
              <a:t>bộ k thành phần có thứ tự</a:t>
            </a:r>
            <a:endParaRPr b="1"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</a:rPr>
              <a:t>           </a:t>
            </a:r>
            <a:r>
              <a:rPr lang="en-US" sz="3300">
                <a:solidFill>
                  <a:srgbClr val="002060"/>
                </a:solidFill>
              </a:rPr>
              <a:t>  </a:t>
            </a:r>
            <a:r>
              <a:rPr b="1" lang="en-US" sz="3300">
                <a:solidFill>
                  <a:srgbClr val="002060"/>
                </a:solidFill>
              </a:rPr>
              <a:t>a = (a</a:t>
            </a:r>
            <a:r>
              <a:rPr b="1" baseline="-25000" lang="en-US" sz="3300">
                <a:solidFill>
                  <a:srgbClr val="002060"/>
                </a:solidFill>
              </a:rPr>
              <a:t>1</a:t>
            </a:r>
            <a:r>
              <a:rPr b="1" lang="en-US" sz="3300">
                <a:solidFill>
                  <a:srgbClr val="002060"/>
                </a:solidFill>
              </a:rPr>
              <a:t> a</a:t>
            </a:r>
            <a:r>
              <a:rPr b="1" baseline="-25000" lang="en-US" sz="3300">
                <a:solidFill>
                  <a:srgbClr val="002060"/>
                </a:solidFill>
              </a:rPr>
              <a:t>2</a:t>
            </a:r>
            <a:r>
              <a:rPr b="1" lang="en-US" sz="3300">
                <a:solidFill>
                  <a:srgbClr val="002060"/>
                </a:solidFill>
              </a:rPr>
              <a:t> a</a:t>
            </a:r>
            <a:r>
              <a:rPr b="1" baseline="-25000" lang="en-US" sz="3300">
                <a:solidFill>
                  <a:srgbClr val="002060"/>
                </a:solidFill>
              </a:rPr>
              <a:t>3</a:t>
            </a:r>
            <a:r>
              <a:rPr b="1" lang="en-US" sz="3300">
                <a:solidFill>
                  <a:srgbClr val="002060"/>
                </a:solidFill>
              </a:rPr>
              <a:t> ..... a</a:t>
            </a:r>
            <a:r>
              <a:rPr b="1" baseline="-25000" lang="en-US" sz="3300">
                <a:solidFill>
                  <a:srgbClr val="002060"/>
                </a:solidFill>
              </a:rPr>
              <a:t>k</a:t>
            </a:r>
            <a:r>
              <a:rPr b="1" lang="en-US" sz="3300">
                <a:solidFill>
                  <a:srgbClr val="002060"/>
                </a:solidFill>
              </a:rPr>
              <a:t>)</a:t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</a:rPr>
              <a:t>                          </a:t>
            </a:r>
            <a:r>
              <a:rPr b="1" lang="en-US" sz="2400">
                <a:solidFill>
                  <a:srgbClr val="002060"/>
                </a:solidFill>
              </a:rPr>
              <a:t>1≤ a</a:t>
            </a:r>
            <a:r>
              <a:rPr b="1" baseline="-25000" lang="en-US" sz="2400">
                <a:solidFill>
                  <a:srgbClr val="002060"/>
                </a:solidFill>
              </a:rPr>
              <a:t>1</a:t>
            </a:r>
            <a:r>
              <a:rPr b="1" lang="en-US" sz="2400">
                <a:solidFill>
                  <a:srgbClr val="002060"/>
                </a:solidFill>
              </a:rPr>
              <a:t>&lt; a</a:t>
            </a:r>
            <a:r>
              <a:rPr b="1" baseline="-25000" lang="en-US" sz="2400">
                <a:solidFill>
                  <a:srgbClr val="002060"/>
                </a:solidFill>
              </a:rPr>
              <a:t>2</a:t>
            </a:r>
            <a:r>
              <a:rPr b="1" lang="en-US" sz="2400">
                <a:solidFill>
                  <a:srgbClr val="002060"/>
                </a:solidFill>
              </a:rPr>
              <a:t> &lt; ..... &lt; a</a:t>
            </a:r>
            <a:r>
              <a:rPr b="1" baseline="-25000" lang="en-US" sz="2400">
                <a:solidFill>
                  <a:srgbClr val="002060"/>
                </a:solidFill>
              </a:rPr>
              <a:t>k</a:t>
            </a:r>
            <a:r>
              <a:rPr b="1" lang="en-US" sz="2400">
                <a:solidFill>
                  <a:srgbClr val="002060"/>
                </a:solidFill>
              </a:rPr>
              <a:t> ≤ n,   a</a:t>
            </a:r>
            <a:r>
              <a:rPr b="1" baseline="-25000" lang="en-US" sz="2400">
                <a:solidFill>
                  <a:srgbClr val="002060"/>
                </a:solidFill>
              </a:rPr>
              <a:t>i</a:t>
            </a:r>
            <a:r>
              <a:rPr b="1" lang="en-US" sz="2400">
                <a:solidFill>
                  <a:srgbClr val="002060"/>
                </a:solidFill>
              </a:rPr>
              <a:t> €X.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•"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184aec728a_0_306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12" name="Google Shape;312;g1184aec728a_0_306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13" name="Google Shape;313;g1184aec728a_0_306"/>
          <p:cNvGraphicFramePr/>
          <p:nvPr/>
        </p:nvGraphicFramePr>
        <p:xfrm>
          <a:off x="914400" y="25864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315200"/>
              </a:tblGrid>
              <a:tr h="78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thứ tự 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cần liệt kê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281625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Tập k phần tử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được biểu diễn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tập </a:t>
                      </a:r>
                      <a:r>
                        <a:rPr b="1" lang="en-US" sz="2400">
                          <a:solidFill>
                            <a:srgbClr val="002060"/>
                          </a:solidFill>
                        </a:rPr>
                        <a:t>có thứ tự</a:t>
                      </a:r>
                      <a:endParaRPr b="1"/>
                    </a:p>
                    <a:p>
                      <a:pPr indent="0" lvl="1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       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 = (b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… 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): 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b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</a:rPr>
                        <a:t> €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X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    a = (a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...a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):  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€ X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Định nghĩa thứ tự từ điển: 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a = (a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...a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 và  b = (b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...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tập a liệt kê trước tập  b : tồn tại j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 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=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,...,a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j-1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=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j-1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,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="1" baseline="-25000" lang="en-US" sz="2800">
                          <a:solidFill>
                            <a:srgbClr val="002060"/>
                          </a:solidFill>
                        </a:rPr>
                        <a:t>j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 &lt;  b</a:t>
                      </a:r>
                      <a:r>
                        <a:rPr b="1" baseline="-25000" lang="en-US" sz="2800">
                          <a:solidFill>
                            <a:srgbClr val="002060"/>
                          </a:solidFill>
                        </a:rPr>
                        <a:t>j</a:t>
                      </a:r>
                      <a:endParaRPr b="1"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184aec728a_0_325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20" name="Google Shape;320;g1184aec728a_0_325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21" name="Google Shape;321;g1184aec728a_0_325"/>
          <p:cNvGraphicFramePr/>
          <p:nvPr/>
        </p:nvGraphicFramePr>
        <p:xfrm>
          <a:off x="914400" y="25864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8007750"/>
              </a:tblGrid>
              <a:tr h="60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huật toán sinh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281625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ts val="2400"/>
                        <a:buChar char="★"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2" name="Google Shape;322;g1184aec728a_0_325"/>
          <p:cNvSpPr/>
          <p:nvPr/>
        </p:nvSpPr>
        <p:spPr>
          <a:xfrm>
            <a:off x="1411925" y="3297700"/>
            <a:ext cx="14289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 4, 5}</a:t>
            </a:r>
            <a:endParaRPr/>
          </a:p>
        </p:txBody>
      </p:sp>
      <p:sp>
        <p:nvSpPr>
          <p:cNvPr id="323" name="Google Shape;323;g1184aec728a_0_325"/>
          <p:cNvSpPr/>
          <p:nvPr/>
        </p:nvSpPr>
        <p:spPr>
          <a:xfrm>
            <a:off x="1411925" y="4676050"/>
            <a:ext cx="12918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4, 5}</a:t>
            </a:r>
            <a:endParaRPr/>
          </a:p>
        </p:txBody>
      </p:sp>
      <p:sp>
        <p:nvSpPr>
          <p:cNvPr id="324" name="Google Shape;324;g1184aec728a_0_325"/>
          <p:cNvSpPr/>
          <p:nvPr/>
        </p:nvSpPr>
        <p:spPr>
          <a:xfrm>
            <a:off x="3143100" y="4676050"/>
            <a:ext cx="14289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 4, 5}</a:t>
            </a:r>
            <a:endParaRPr/>
          </a:p>
        </p:txBody>
      </p:sp>
      <p:sp>
        <p:nvSpPr>
          <p:cNvPr id="325" name="Google Shape;325;g1184aec728a_0_325"/>
          <p:cNvSpPr/>
          <p:nvPr/>
        </p:nvSpPr>
        <p:spPr>
          <a:xfrm rot="-5400000">
            <a:off x="2752563" y="4738746"/>
            <a:ext cx="341700" cy="351000"/>
          </a:xfrm>
          <a:prstGeom prst="downArrow">
            <a:avLst>
              <a:gd fmla="val 26443" name="adj1"/>
              <a:gd fmla="val 42300" name="adj2"/>
            </a:avLst>
          </a:prstGeom>
          <a:solidFill>
            <a:srgbClr val="FF0000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g1184aec728a_0_325"/>
          <p:cNvSpPr/>
          <p:nvPr/>
        </p:nvSpPr>
        <p:spPr>
          <a:xfrm>
            <a:off x="4866700" y="3297704"/>
            <a:ext cx="3819600" cy="3052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B1: Tìm vị trí i đầu tiên từ </a:t>
            </a:r>
            <a:endParaRPr sz="1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bên phải của dãy: </a:t>
            </a:r>
            <a:endParaRPr sz="1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</a:t>
            </a:r>
            <a:r>
              <a:rPr b="1" baseline="-2500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n-k+i.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 Thay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+ 1.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i +j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</a:t>
            </a:r>
            <a:endParaRPr sz="1200"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với j = i+1,...,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184aec728a_0_340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33" name="Google Shape;333;g1184aec728a_0_340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34" name="Google Shape;334;g1184aec728a_0_340"/>
          <p:cNvGraphicFramePr/>
          <p:nvPr/>
        </p:nvGraphicFramePr>
        <p:xfrm>
          <a:off x="745600" y="2752624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8001925"/>
              </a:tblGrid>
              <a:tr h="4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 định thuật toán sinh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317475">
                <a:tc>
                  <a:txBody>
                    <a:bodyPr/>
                    <a:lstStyle/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C00000"/>
                          </a:solidFill>
                        </a:rPr>
                        <a:t>B1: 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i=k;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 while (a[i]==n-k+i) i-- ;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C00000"/>
                          </a:solidFill>
                        </a:rPr>
                        <a:t>B2:</a:t>
                      </a:r>
                      <a:r>
                        <a:rPr lang="en-US" sz="2100">
                          <a:solidFill>
                            <a:srgbClr val="C00000"/>
                          </a:solidFill>
                        </a:rPr>
                        <a:t> 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a[i]= a[i] + 1;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C00000"/>
                          </a:solidFill>
                        </a:rPr>
                        <a:t>B3: 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for (j=i+1;j&lt;=k;j++)</a:t>
                      </a:r>
                      <a:endParaRPr sz="1100"/>
                    </a:p>
                    <a:p>
                      <a:pPr indent="-609600" lvl="0" marL="60960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002060"/>
                          </a:solidFill>
                        </a:rPr>
                        <a:t>       a[j]= a[i]+ j –i;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0206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35" name="Google Shape;335;g1184aec728a_0_340"/>
          <p:cNvSpPr txBox="1"/>
          <p:nvPr/>
        </p:nvSpPr>
        <p:spPr>
          <a:xfrm>
            <a:off x="4431325" y="3602425"/>
            <a:ext cx="3989100" cy="25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Tìm vị trí i đầu tiên từ </a:t>
            </a:r>
            <a:endParaRPr sz="12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bên phải của dãy: </a:t>
            </a:r>
            <a:endParaRPr sz="12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n-k+i.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 Thay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+ 1. </a:t>
            </a:r>
            <a:endParaRPr b="1" sz="26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Thay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1"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i +j</a:t>
            </a: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</a:t>
            </a:r>
            <a:endParaRPr sz="12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với j = i+1,...,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84aec728a_0_359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42" name="Google Shape;342;g1184aec728a_0_359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các tập con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343" name="Google Shape;343;g1184aec728a_0_359"/>
          <p:cNvGraphicFramePr/>
          <p:nvPr/>
        </p:nvGraphicFramePr>
        <p:xfrm>
          <a:off x="785450" y="2771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190075"/>
              </a:tblGrid>
              <a:tr h="59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Demo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62297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84aec728a_0_254"/>
          <p:cNvSpPr txBox="1"/>
          <p:nvPr>
            <p:ph type="title"/>
          </p:nvPr>
        </p:nvSpPr>
        <p:spPr>
          <a:xfrm>
            <a:off x="425200" y="1001023"/>
            <a:ext cx="7850100" cy="806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50" name="Google Shape;350;g1184aec728a_0_254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g1184aec728a_0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00" y="2071158"/>
            <a:ext cx="8261601" cy="44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84aec728a_0_366"/>
          <p:cNvSpPr txBox="1"/>
          <p:nvPr>
            <p:ph type="title"/>
          </p:nvPr>
        </p:nvSpPr>
        <p:spPr>
          <a:xfrm>
            <a:off x="425200" y="1001023"/>
            <a:ext cx="7850100" cy="806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58" name="Google Shape;358;g1184aec728a_0_366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g1184aec728a_0_3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050" y="1899700"/>
            <a:ext cx="7772400" cy="4574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0" name="Google Shape;360;g1184aec728a_0_366"/>
          <p:cNvGraphicFramePr/>
          <p:nvPr/>
        </p:nvGraphicFramePr>
        <p:xfrm>
          <a:off x="854070" y="34544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6104225"/>
              </a:tblGrid>
              <a:tr h="176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184aec728a_0_381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67" name="Google Shape;367;g1184aec728a_0_381"/>
          <p:cNvSpPr txBox="1"/>
          <p:nvPr>
            <p:ph idx="1" type="body"/>
          </p:nvPr>
        </p:nvSpPr>
        <p:spPr>
          <a:xfrm>
            <a:off x="778275" y="2185425"/>
            <a:ext cx="79131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</a:t>
            </a:r>
            <a:r>
              <a:rPr lang="en-US" sz="3000">
                <a:solidFill>
                  <a:schemeClr val="dk2"/>
                </a:solidFill>
              </a:rPr>
              <a:t>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84aec728a_0_38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74" name="Google Shape;374;g1184aec728a_0_387"/>
          <p:cNvSpPr txBox="1"/>
          <p:nvPr>
            <p:ph idx="1" type="body"/>
          </p:nvPr>
        </p:nvSpPr>
        <p:spPr>
          <a:xfrm>
            <a:off x="778275" y="2185425"/>
            <a:ext cx="79131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184aec728a_0_393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381" name="Google Shape;381;g1184aec728a_0_393"/>
          <p:cNvSpPr txBox="1"/>
          <p:nvPr>
            <p:ph idx="1" type="body"/>
          </p:nvPr>
        </p:nvSpPr>
        <p:spPr>
          <a:xfrm>
            <a:off x="738725" y="1961225"/>
            <a:ext cx="8176800" cy="97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82" name="Google Shape;382;g1184aec728a_0_393"/>
          <p:cNvSpPr txBox="1"/>
          <p:nvPr/>
        </p:nvSpPr>
        <p:spPr>
          <a:xfrm>
            <a:off x="1426475" y="3038325"/>
            <a:ext cx="1371600" cy="3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{1,2,3,4} 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{1,2,4,3}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{1,3,2,4}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{1,3,4,2}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{1,4,2,3}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{1,4,3,2}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{2,1,3,4}</a:t>
            </a:r>
            <a:endParaRPr sz="1300"/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{2,1,4,3}</a:t>
            </a:r>
            <a:endParaRPr sz="1300"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1184aec728a_0_393"/>
          <p:cNvSpPr txBox="1"/>
          <p:nvPr/>
        </p:nvSpPr>
        <p:spPr>
          <a:xfrm>
            <a:off x="7684250" y="2466350"/>
            <a:ext cx="1371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9087" lvl="0" marL="319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g1184aec728a_0_393"/>
          <p:cNvSpPr txBox="1"/>
          <p:nvPr/>
        </p:nvSpPr>
        <p:spPr>
          <a:xfrm>
            <a:off x="3760829" y="3038325"/>
            <a:ext cx="1371600" cy="3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{2,3,1,4}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{2,3,4,1}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{2,4,1,3}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{2,4,3,1}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{3,1,2,4}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{3,1,4,2}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{3,2,1,4}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{3,2,4,1}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1184aec728a_0_393"/>
          <p:cNvSpPr txBox="1"/>
          <p:nvPr/>
        </p:nvSpPr>
        <p:spPr>
          <a:xfrm>
            <a:off x="5640904" y="3038325"/>
            <a:ext cx="1371600" cy="3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{3,4,1,2}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{3,4,2,1}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{4,1,2,3}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{4,1,3,2}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{4,2,1,3}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{4,2,3,1}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{4,3,1,2}</a:t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{4,3,2,1}</a:t>
            </a:r>
            <a:endParaRPr b="1"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6" name="Google Shape;386;g1184aec728a_0_393"/>
          <p:cNvCxnSpPr>
            <a:stCxn id="382" idx="2"/>
            <a:endCxn id="384" idx="0"/>
          </p:cNvCxnSpPr>
          <p:nvPr/>
        </p:nvCxnSpPr>
        <p:spPr>
          <a:xfrm rot="-5400000">
            <a:off x="1602275" y="3548325"/>
            <a:ext cx="3354300" cy="2334300"/>
          </a:xfrm>
          <a:prstGeom prst="bentConnector5">
            <a:avLst>
              <a:gd fmla="val -7099" name="adj1"/>
              <a:gd fmla="val 50001" name="adj2"/>
              <a:gd fmla="val 107099" name="adj3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g1184aec728a_0_393"/>
          <p:cNvCxnSpPr>
            <a:stCxn id="384" idx="2"/>
            <a:endCxn id="385" idx="0"/>
          </p:cNvCxnSpPr>
          <p:nvPr/>
        </p:nvCxnSpPr>
        <p:spPr>
          <a:xfrm rot="-5400000">
            <a:off x="3709529" y="3775425"/>
            <a:ext cx="3354300" cy="1880100"/>
          </a:xfrm>
          <a:prstGeom prst="bentConnector5">
            <a:avLst>
              <a:gd fmla="val -7099" name="adj1"/>
              <a:gd fmla="val 49999" name="adj2"/>
              <a:gd fmla="val 107099" name="adj3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e12c0adc1_0_0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ce12c0adc1_0_0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184aec728a_0_40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01" name="Google Shape;401;g1184aec728a_0_407"/>
          <p:cNvSpPr txBox="1"/>
          <p:nvPr>
            <p:ph idx="1" type="body"/>
          </p:nvPr>
        </p:nvSpPr>
        <p:spPr>
          <a:xfrm>
            <a:off x="514500" y="1728225"/>
            <a:ext cx="8335200" cy="191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402" name="Google Shape;402;g1184aec728a_0_407"/>
          <p:cNvGraphicFramePr/>
          <p:nvPr/>
        </p:nvGraphicFramePr>
        <p:xfrm>
          <a:off x="914400" y="2765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315200"/>
              </a:tblGrid>
              <a:tr h="7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thứ tự 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cần liệt kê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137650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Một hoán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hoán vị của X  - bộ có thứ tự:</a:t>
                      </a:r>
                      <a:endParaRPr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42900" lvl="0" marL="342900" rtl="0" algn="l"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       a = (a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... 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)</a:t>
                      </a:r>
                      <a:r>
                        <a:rPr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 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i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€ X,</a:t>
                      </a:r>
                      <a:r>
                        <a:rPr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p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≠ a</a:t>
                      </a:r>
                      <a:r>
                        <a:rPr baseline="-25000" lang="en-US" sz="2400">
                          <a:solidFill>
                            <a:srgbClr val="002060"/>
                          </a:solidFill>
                        </a:rPr>
                        <a:t>q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, p ≠ q.</a:t>
                      </a:r>
                      <a:endParaRPr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Định nghĩa thứ tự từ điển: 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a = (a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...a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 và  b = (b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...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k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tập a liệt kê trước tập  b : tồn tại j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         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 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 =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,...,a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j-1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= b</a:t>
                      </a:r>
                      <a:r>
                        <a:rPr baseline="-25000" lang="en-US" sz="2800">
                          <a:solidFill>
                            <a:srgbClr val="002060"/>
                          </a:solidFill>
                        </a:rPr>
                        <a:t>j-1</a:t>
                      </a: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,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 a</a:t>
                      </a:r>
                      <a:r>
                        <a:rPr b="1" baseline="-25000" lang="en-US" sz="2800">
                          <a:solidFill>
                            <a:srgbClr val="002060"/>
                          </a:solidFill>
                        </a:rPr>
                        <a:t>j</a:t>
                      </a: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 &lt;  b</a:t>
                      </a:r>
                      <a:r>
                        <a:rPr b="1" baseline="-25000" lang="en-US" sz="2800">
                          <a:solidFill>
                            <a:srgbClr val="002060"/>
                          </a:solidFill>
                        </a:rPr>
                        <a:t>j</a:t>
                      </a:r>
                      <a:endParaRPr b="1"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184aec728a_0_414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09" name="Google Shape;409;g1184aec728a_0_414"/>
          <p:cNvSpPr txBox="1"/>
          <p:nvPr>
            <p:ph idx="1" type="body"/>
          </p:nvPr>
        </p:nvSpPr>
        <p:spPr>
          <a:xfrm>
            <a:off x="514500" y="1728225"/>
            <a:ext cx="8335200" cy="191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410" name="Google Shape;410;g1184aec728a_0_414"/>
          <p:cNvGraphicFramePr/>
          <p:nvPr/>
        </p:nvGraphicFramePr>
        <p:xfrm>
          <a:off x="914400" y="2765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315200"/>
              </a:tblGrid>
              <a:tr h="7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Xác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định th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uật toán sinh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137650">
                <a:tc>
                  <a:txBody>
                    <a:bodyPr/>
                    <a:lstStyle/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-3810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ts val="2400"/>
                        <a:buChar char="★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None/>
                      </a:pPr>
                      <a:r>
                        <a:t/>
                      </a:r>
                      <a:endParaRPr b="1" sz="2400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g1184aec728a_0_414"/>
          <p:cNvSpPr/>
          <p:nvPr/>
        </p:nvSpPr>
        <p:spPr>
          <a:xfrm>
            <a:off x="1411925" y="3574650"/>
            <a:ext cx="15291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{4, 3, 2, 1}</a:t>
            </a:r>
            <a:endParaRPr/>
          </a:p>
        </p:txBody>
      </p:sp>
      <p:sp>
        <p:nvSpPr>
          <p:cNvPr id="412" name="Google Shape;412;g1184aec728a_0_414"/>
          <p:cNvSpPr/>
          <p:nvPr/>
        </p:nvSpPr>
        <p:spPr>
          <a:xfrm>
            <a:off x="1411925" y="4953000"/>
            <a:ext cx="15291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3, 4, 2}</a:t>
            </a:r>
            <a:endParaRPr/>
          </a:p>
        </p:txBody>
      </p:sp>
      <p:sp>
        <p:nvSpPr>
          <p:cNvPr id="413" name="Google Shape;413;g1184aec728a_0_414"/>
          <p:cNvSpPr/>
          <p:nvPr/>
        </p:nvSpPr>
        <p:spPr>
          <a:xfrm>
            <a:off x="1411925" y="6087225"/>
            <a:ext cx="1581900" cy="4764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4, 2, 3}</a:t>
            </a:r>
            <a:endParaRPr/>
          </a:p>
        </p:txBody>
      </p:sp>
      <p:sp>
        <p:nvSpPr>
          <p:cNvPr id="414" name="Google Shape;414;g1184aec728a_0_414"/>
          <p:cNvSpPr/>
          <p:nvPr/>
        </p:nvSpPr>
        <p:spPr>
          <a:xfrm>
            <a:off x="1974350" y="5520113"/>
            <a:ext cx="518400" cy="476400"/>
          </a:xfrm>
          <a:prstGeom prst="downArrow">
            <a:avLst>
              <a:gd fmla="val 0" name="adj1"/>
              <a:gd fmla="val 38178" name="adj2"/>
            </a:avLst>
          </a:prstGeom>
          <a:solidFill>
            <a:srgbClr val="FF0000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g1184aec728a_0_414"/>
          <p:cNvSpPr txBox="1"/>
          <p:nvPr/>
        </p:nvSpPr>
        <p:spPr>
          <a:xfrm>
            <a:off x="4049025" y="3574650"/>
            <a:ext cx="4009200" cy="301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Tìm Right -&gt; Left, j đầu tiên:            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Tìm Right -&gt; Left, k đầu tiên:  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&gt; 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hoán vị 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B4: Lật ngược đoạn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đến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>
              <a:solidFill>
                <a:srgbClr val="33CC3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184aec728a_0_42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22" name="Google Shape;422;g1184aec728a_0_427"/>
          <p:cNvSpPr txBox="1"/>
          <p:nvPr>
            <p:ph idx="1" type="body"/>
          </p:nvPr>
        </p:nvSpPr>
        <p:spPr>
          <a:xfrm>
            <a:off x="514500" y="1728225"/>
            <a:ext cx="8335200" cy="191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</a:rPr>
              <a:t>(3)</a:t>
            </a:r>
            <a:r>
              <a:rPr lang="en-US" sz="3000">
                <a:solidFill>
                  <a:schemeClr val="dk2"/>
                </a:solidFill>
              </a:rPr>
              <a:t> - 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423" name="Google Shape;423;g1184aec728a_0_427"/>
          <p:cNvGraphicFramePr/>
          <p:nvPr/>
        </p:nvGraphicFramePr>
        <p:xfrm>
          <a:off x="631000" y="276502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598600"/>
              </a:tblGrid>
              <a:tr h="313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B1:</a:t>
                      </a:r>
                      <a:r>
                        <a:rPr b="0" lang="en-US" sz="250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b="0" lang="en-US" sz="250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int j = n-1;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        while(a[j]&gt;a[j+1])j--;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B2</a:t>
                      </a:r>
                      <a:r>
                        <a:rPr b="0" lang="en-US" sz="1900">
                          <a:solidFill>
                            <a:schemeClr val="lt1"/>
                          </a:solidFill>
                        </a:rPr>
                        <a:t>:  </a:t>
                      </a: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int k = n;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         while(a[j]&gt;=a[k])k--;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B3:</a:t>
                      </a:r>
                      <a:r>
                        <a:rPr b="0" lang="en-US" sz="19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 </a:t>
                      </a: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int temp = a[j];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0000FF"/>
                          </a:solidFill>
                        </a:rPr>
                        <a:t>       a[j] = a[k];  a[k] = temp;</a:t>
                      </a:r>
                      <a:endParaRPr b="0" sz="15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FF00FF"/>
                          </a:solidFill>
                        </a:rPr>
                        <a:t>B4:</a:t>
                      </a:r>
                      <a:r>
                        <a:rPr b="0" lang="en-US" sz="19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int l = j+1;int r = n;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while(l&lt;r) {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int temp = a[l];		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 a[l]= a[r]; [r]= temp;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260"/>
                        <a:buFont typeface="Times New Roman"/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  l++;       r--;</a:t>
                      </a:r>
                      <a:endParaRPr b="0" sz="1500">
                        <a:solidFill>
                          <a:srgbClr val="2820D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2820D2"/>
                          </a:solidFill>
                        </a:rPr>
                        <a:t>       }</a:t>
                      </a:r>
                      <a:endParaRPr b="0" sz="25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24" name="Google Shape;424;g1184aec728a_0_427"/>
          <p:cNvSpPr txBox="1"/>
          <p:nvPr/>
        </p:nvSpPr>
        <p:spPr>
          <a:xfrm>
            <a:off x="3996275" y="3031138"/>
            <a:ext cx="4009200" cy="301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Tìm Right -&gt; Left, j đầu tiên:            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Tìm Right -&gt; Left, k đầu tiên:   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&gt; 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hoán vị 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</a:t>
            </a:r>
            <a:r>
              <a:rPr b="1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endParaRPr sz="1300">
              <a:solidFill>
                <a:srgbClr val="33CC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B4: Lật ngược đoạn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r>
              <a:rPr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đến a</a:t>
            </a:r>
            <a:r>
              <a:rPr baseline="-25000" lang="en-US" sz="23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solidFill>
                  <a:srgbClr val="33CC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>
              <a:solidFill>
                <a:srgbClr val="33CC3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184aec728a_0_451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31" name="Google Shape;431;g1184aec728a_0_451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hoán vị không lặp của tập n phần tử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432" name="Google Shape;432;g1184aec728a_0_451"/>
          <p:cNvGraphicFramePr/>
          <p:nvPr/>
        </p:nvGraphicFramePr>
        <p:xfrm>
          <a:off x="785450" y="314747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190075"/>
              </a:tblGrid>
              <a:tr h="52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Demo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3165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184aec728a_0_375"/>
          <p:cNvSpPr txBox="1"/>
          <p:nvPr>
            <p:ph type="title"/>
          </p:nvPr>
        </p:nvSpPr>
        <p:spPr>
          <a:xfrm>
            <a:off x="425200" y="1001022"/>
            <a:ext cx="7850100" cy="60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39" name="Google Shape;439;g1184aec728a_0_375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g1184aec728a_0_3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600" y="1912900"/>
            <a:ext cx="8007549" cy="47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184aec728a_0_439"/>
          <p:cNvSpPr txBox="1"/>
          <p:nvPr>
            <p:ph type="title"/>
          </p:nvPr>
        </p:nvSpPr>
        <p:spPr>
          <a:xfrm>
            <a:off x="425200" y="1001022"/>
            <a:ext cx="7850100" cy="60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47" name="Google Shape;447;g1184aec728a_0_439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48;g1184aec728a_0_4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800" y="1886525"/>
            <a:ext cx="8050050" cy="45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184aec728a_0_445"/>
          <p:cNvSpPr txBox="1"/>
          <p:nvPr>
            <p:ph type="title"/>
          </p:nvPr>
        </p:nvSpPr>
        <p:spPr>
          <a:xfrm>
            <a:off x="425200" y="1001022"/>
            <a:ext cx="7850100" cy="60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SINH</a:t>
            </a:r>
            <a:endParaRPr/>
          </a:p>
        </p:txBody>
      </p:sp>
      <p:sp>
        <p:nvSpPr>
          <p:cNvPr id="455" name="Google Shape;455;g1184aec728a_0_445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6" name="Google Shape;456;g1184aec728a_0_4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891825"/>
            <a:ext cx="8077200" cy="480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52da383a1b_0_26"/>
          <p:cNvSpPr txBox="1"/>
          <p:nvPr>
            <p:ph type="title"/>
          </p:nvPr>
        </p:nvSpPr>
        <p:spPr>
          <a:xfrm>
            <a:off x="425196" y="1499616"/>
            <a:ext cx="5213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462" name="Google Shape;462;g52da383a1b_0_26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AutoNum type="arabicPeriod"/>
            </a:pPr>
            <a:r>
              <a:rPr lang="en-US" sz="2400"/>
              <a:t>GIỚI THIỆU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SINH</a:t>
            </a:r>
            <a:endParaRPr sz="2400"/>
          </a:p>
          <a:p>
            <a:pPr indent="-358140" lvl="0" marL="8001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PHƯƠNG PHÁP QUAY LUI</a:t>
            </a:r>
            <a:endParaRPr sz="2400"/>
          </a:p>
        </p:txBody>
      </p:sp>
      <p:sp>
        <p:nvSpPr>
          <p:cNvPr id="463" name="Google Shape;463;g52da383a1b_0_26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184aec728a_0_461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470" name="Google Shape;470;g1184aec728a_0_461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116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560"/>
              <a:buChar char="•"/>
            </a:pPr>
            <a:r>
              <a:rPr lang="en-US" sz="2200">
                <a:solidFill>
                  <a:schemeClr val="dk2"/>
                </a:solidFill>
              </a:rPr>
              <a:t>Mục đích dùng để liệt kê tất cả các câu hình có thể có</a:t>
            </a:r>
            <a:endParaRPr sz="22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en-US" sz="2200">
                <a:solidFill>
                  <a:schemeClr val="dk2"/>
                </a:solidFill>
              </a:rPr>
              <a:t>Các khái niệm liên quan: </a:t>
            </a:r>
            <a:r>
              <a:rPr lang="en-US" sz="2200">
                <a:solidFill>
                  <a:schemeClr val="dk2"/>
                </a:solidFill>
              </a:rPr>
              <a:t>Backtracking - Поиск с возвратом- Quay lui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chemeClr val="dk2"/>
                </a:solidFill>
              </a:rPr>
              <a:t>Phương pháp quay lui - dùng để giải bài toán mà nghiệm của bài toán là cấu hình hoặc một loạt cấu hình:</a:t>
            </a:r>
            <a:endParaRPr sz="22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 chất P: xác định cấu hình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 chất Q:  xác định tính dừng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-US" sz="2200">
                <a:solidFill>
                  <a:schemeClr val="dk2"/>
                </a:solidFill>
              </a:rPr>
              <a:t>Tầm quan trọng của phương pháp:</a:t>
            </a:r>
            <a:endParaRPr sz="22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mã đi tuần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xếp hậu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mê cung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người giao hàng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184aec728a_0_467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477" name="Google Shape;477;g1184aec728a_0_467"/>
          <p:cNvSpPr/>
          <p:nvPr/>
        </p:nvSpPr>
        <p:spPr>
          <a:xfrm>
            <a:off x="883625" y="2308000"/>
            <a:ext cx="3886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</a:t>
            </a:r>
            <a:r>
              <a:rPr b="1" lang="en-US" sz="28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(i, n){ 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(1) </a:t>
            </a:r>
            <a:r>
              <a:rPr b="1" lang="en-US" sz="2400">
                <a:solidFill>
                  <a:srgbClr val="00B050"/>
                </a:solidFill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b="1" lang="en-US" sz="2400">
                <a:solidFill>
                  <a:srgbClr val="00B050"/>
                </a:solidFill>
                <a:latin typeface="Arimo"/>
                <a:ea typeface="Arimo"/>
                <a:cs typeface="Arimo"/>
                <a:sym typeface="Arimo"/>
              </a:rPr>
              <a:t>∈ </a:t>
            </a: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baseline="-25000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(2)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(&lt; chấp nhận j&gt;){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s</a:t>
            </a:r>
            <a:r>
              <a:rPr baseline="-25000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(3) if (i==n)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&lt;ghi cấu hình&gt;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b="1" lang="en-US" sz="24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(</a:t>
            </a:r>
            <a:r>
              <a:rPr b="1" lang="en-US" sz="20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i+1</a:t>
            </a:r>
            <a:r>
              <a:rPr b="1" lang="en-US" sz="240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n); 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}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g1184aec728a_0_467"/>
          <p:cNvSpPr txBox="1"/>
          <p:nvPr>
            <p:ph idx="1" type="body"/>
          </p:nvPr>
        </p:nvSpPr>
        <p:spPr>
          <a:xfrm>
            <a:off x="4876800" y="2308000"/>
            <a:ext cx="4267200" cy="3271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lang="en-US" sz="2800">
                <a:solidFill>
                  <a:srgbClr val="002060"/>
                </a:solidFill>
              </a:rPr>
              <a:t>S = s </a:t>
            </a:r>
            <a:r>
              <a:rPr baseline="-25000" lang="en-US" sz="2800">
                <a:solidFill>
                  <a:srgbClr val="002060"/>
                </a:solidFill>
              </a:rPr>
              <a:t>1</a:t>
            </a:r>
            <a:r>
              <a:rPr lang="en-US" sz="2800">
                <a:solidFill>
                  <a:srgbClr val="002060"/>
                </a:solidFill>
              </a:rPr>
              <a:t> … s</a:t>
            </a:r>
            <a:r>
              <a:rPr baseline="-25000" lang="en-US" sz="2800">
                <a:solidFill>
                  <a:srgbClr val="002060"/>
                </a:solidFill>
              </a:rPr>
              <a:t>n</a:t>
            </a:r>
            <a:r>
              <a:rPr lang="en-US" sz="2800">
                <a:solidFill>
                  <a:srgbClr val="002060"/>
                </a:solidFill>
              </a:rPr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b="1" lang="en-US" sz="2400">
                <a:solidFill>
                  <a:srgbClr val="00B050"/>
                </a:solidFill>
              </a:rPr>
              <a:t>(1)- Duyệt tất mọi j đề cử cho s</a:t>
            </a:r>
            <a:r>
              <a:rPr b="1" baseline="-25000" lang="en-US" sz="2400">
                <a:solidFill>
                  <a:srgbClr val="00B050"/>
                </a:solidFill>
              </a:rPr>
              <a:t>i</a:t>
            </a:r>
            <a:r>
              <a:rPr b="1" lang="en-US" sz="2400">
                <a:solidFill>
                  <a:srgbClr val="00B050"/>
                </a:solidFill>
              </a:rPr>
              <a:t> </a:t>
            </a:r>
            <a:r>
              <a:rPr lang="en-US" sz="1800">
                <a:solidFill>
                  <a:srgbClr val="002060"/>
                </a:solidFill>
              </a:rPr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b="1" lang="en-US" sz="2400">
                <a:solidFill>
                  <a:srgbClr val="0070C0"/>
                </a:solidFill>
              </a:rPr>
              <a:t>(2) -  chấp nhận j thì s</a:t>
            </a:r>
            <a:r>
              <a:rPr b="1" baseline="-25000" lang="en-US" sz="2400">
                <a:solidFill>
                  <a:srgbClr val="0070C0"/>
                </a:solidFill>
              </a:rPr>
              <a:t>i</a:t>
            </a:r>
            <a:r>
              <a:rPr b="1" lang="en-US" sz="2400">
                <a:solidFill>
                  <a:srgbClr val="0070C0"/>
                </a:solidFill>
              </a:rPr>
              <a:t>  = j 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b="1" lang="en-US" sz="2400">
                <a:solidFill>
                  <a:srgbClr val="7030A0"/>
                </a:solidFill>
              </a:rPr>
              <a:t>(3)- ghi cấu hình</a:t>
            </a:r>
            <a:endParaRPr>
              <a:solidFill>
                <a:srgbClr val="00206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★"/>
            </a:pPr>
            <a:r>
              <a:rPr b="1" lang="en-US" sz="2000">
                <a:solidFill>
                  <a:srgbClr val="FF00FF"/>
                </a:solidFill>
              </a:rPr>
              <a:t>(4)- xác định thành phần s</a:t>
            </a:r>
            <a:r>
              <a:rPr b="1" baseline="-25000" lang="en-US" sz="2000">
                <a:solidFill>
                  <a:srgbClr val="FF00FF"/>
                </a:solidFill>
              </a:rPr>
              <a:t>i + 1</a:t>
            </a:r>
            <a:endParaRPr b="1">
              <a:solidFill>
                <a:srgbClr val="00206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-114300" lvl="0" marL="3429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1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9"/>
          <p:cNvSpPr/>
          <p:nvPr/>
        </p:nvSpPr>
        <p:spPr>
          <a:xfrm>
            <a:off x="3657600" y="1371600"/>
            <a:ext cx="1905000" cy="381000"/>
          </a:xfrm>
          <a:prstGeom prst="ellipse">
            <a:avLst/>
          </a:prstGeom>
          <a:solidFill>
            <a:srgbClr val="F8F8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Bắt đầu</a:t>
            </a:r>
            <a:endParaRPr/>
          </a:p>
        </p:txBody>
      </p:sp>
      <p:sp>
        <p:nvSpPr>
          <p:cNvPr id="484" name="Google Shape;484;p39"/>
          <p:cNvSpPr/>
          <p:nvPr/>
        </p:nvSpPr>
        <p:spPr>
          <a:xfrm>
            <a:off x="2819400" y="2362200"/>
            <a:ext cx="152400" cy="152400"/>
          </a:xfrm>
          <a:prstGeom prst="ellipse">
            <a:avLst/>
          </a:prstGeom>
          <a:solidFill>
            <a:srgbClr val="FF9966"/>
          </a:solidFill>
          <a:ln cap="flat" cmpd="sng" w="9525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39"/>
          <p:cNvSpPr/>
          <p:nvPr/>
        </p:nvSpPr>
        <p:spPr>
          <a:xfrm>
            <a:off x="1981200" y="3124200"/>
            <a:ext cx="152400" cy="152400"/>
          </a:xfrm>
          <a:prstGeom prst="ellipse">
            <a:avLst/>
          </a:prstGeom>
          <a:solidFill>
            <a:srgbClr val="66FF66"/>
          </a:solidFill>
          <a:ln cap="flat" cmpd="sng" w="9525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39"/>
          <p:cNvSpPr/>
          <p:nvPr/>
        </p:nvSpPr>
        <p:spPr>
          <a:xfrm>
            <a:off x="1524000" y="4038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12954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15240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17526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2362200" y="4038600"/>
            <a:ext cx="152400" cy="152400"/>
          </a:xfrm>
          <a:prstGeom prst="ellipse">
            <a:avLst/>
          </a:prstGeom>
          <a:solidFill>
            <a:srgbClr val="0099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6172200" y="2362200"/>
            <a:ext cx="152400" cy="152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21336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23622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25908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29718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32004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34290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38100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40386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42672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46482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48768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39"/>
          <p:cNvSpPr/>
          <p:nvPr/>
        </p:nvSpPr>
        <p:spPr>
          <a:xfrm>
            <a:off x="51054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54864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57150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59436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39"/>
          <p:cNvSpPr/>
          <p:nvPr/>
        </p:nvSpPr>
        <p:spPr>
          <a:xfrm>
            <a:off x="63246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39"/>
          <p:cNvSpPr/>
          <p:nvPr/>
        </p:nvSpPr>
        <p:spPr>
          <a:xfrm>
            <a:off x="65532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39"/>
          <p:cNvSpPr/>
          <p:nvPr/>
        </p:nvSpPr>
        <p:spPr>
          <a:xfrm>
            <a:off x="67818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39"/>
          <p:cNvSpPr/>
          <p:nvPr/>
        </p:nvSpPr>
        <p:spPr>
          <a:xfrm>
            <a:off x="7162800" y="4953000"/>
            <a:ext cx="152400" cy="152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39"/>
          <p:cNvSpPr/>
          <p:nvPr/>
        </p:nvSpPr>
        <p:spPr>
          <a:xfrm>
            <a:off x="7391400" y="4953000"/>
            <a:ext cx="152400" cy="1524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39"/>
          <p:cNvSpPr/>
          <p:nvPr/>
        </p:nvSpPr>
        <p:spPr>
          <a:xfrm>
            <a:off x="7620000" y="4953000"/>
            <a:ext cx="152400" cy="152400"/>
          </a:xfrm>
          <a:prstGeom prst="ellipse">
            <a:avLst/>
          </a:prstGeom>
          <a:solidFill>
            <a:srgbClr val="CC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3200400" y="4038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39"/>
          <p:cNvSpPr/>
          <p:nvPr/>
        </p:nvSpPr>
        <p:spPr>
          <a:xfrm>
            <a:off x="4038600" y="4038600"/>
            <a:ext cx="152400" cy="152400"/>
          </a:xfrm>
          <a:prstGeom prst="ellipse">
            <a:avLst/>
          </a:prstGeom>
          <a:solidFill>
            <a:srgbClr val="0099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4876800" y="4038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39"/>
          <p:cNvSpPr/>
          <p:nvPr/>
        </p:nvSpPr>
        <p:spPr>
          <a:xfrm>
            <a:off x="5715000" y="4038600"/>
            <a:ext cx="152400" cy="152400"/>
          </a:xfrm>
          <a:prstGeom prst="ellipse">
            <a:avLst/>
          </a:prstGeom>
          <a:solidFill>
            <a:srgbClr val="0099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39"/>
          <p:cNvSpPr/>
          <p:nvPr/>
        </p:nvSpPr>
        <p:spPr>
          <a:xfrm>
            <a:off x="6553200" y="4038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7391400" y="4038600"/>
            <a:ext cx="152400" cy="152400"/>
          </a:xfrm>
          <a:prstGeom prst="ellipse">
            <a:avLst/>
          </a:prstGeom>
          <a:solidFill>
            <a:srgbClr val="0099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3657600" y="3124200"/>
            <a:ext cx="152400" cy="152400"/>
          </a:xfrm>
          <a:prstGeom prst="ellipse">
            <a:avLst/>
          </a:prstGeom>
          <a:solidFill>
            <a:srgbClr val="009900"/>
          </a:solidFill>
          <a:ln cap="flat" cmpd="sng" w="9525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5257800" y="3124200"/>
            <a:ext cx="152400" cy="152400"/>
          </a:xfrm>
          <a:prstGeom prst="ellipse">
            <a:avLst/>
          </a:prstGeom>
          <a:solidFill>
            <a:srgbClr val="66FF66"/>
          </a:solidFill>
          <a:ln cap="flat" cmpd="sng" w="9525">
            <a:solidFill>
              <a:srgbClr val="66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9"/>
          <p:cNvSpPr/>
          <p:nvPr/>
        </p:nvSpPr>
        <p:spPr>
          <a:xfrm>
            <a:off x="7010400" y="3124200"/>
            <a:ext cx="152400" cy="152400"/>
          </a:xfrm>
          <a:prstGeom prst="ellipse">
            <a:avLst/>
          </a:prstGeom>
          <a:solidFill>
            <a:srgbClr val="009900"/>
          </a:solidFill>
          <a:ln cap="flat" cmpd="sng" w="9525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39"/>
          <p:cNvSpPr/>
          <p:nvPr/>
        </p:nvSpPr>
        <p:spPr>
          <a:xfrm>
            <a:off x="457200" y="2209800"/>
            <a:ext cx="6096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</a:t>
            </a:r>
            <a:endParaRPr/>
          </a:p>
        </p:txBody>
      </p:sp>
      <p:sp>
        <p:nvSpPr>
          <p:cNvPr id="523" name="Google Shape;523;p39"/>
          <p:cNvSpPr/>
          <p:nvPr/>
        </p:nvSpPr>
        <p:spPr>
          <a:xfrm>
            <a:off x="457200" y="2971800"/>
            <a:ext cx="6096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baseline="-25000" lang="en-US" sz="24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24" name="Google Shape;524;p39"/>
          <p:cNvSpPr/>
          <p:nvPr/>
        </p:nvSpPr>
        <p:spPr>
          <a:xfrm>
            <a:off x="457200" y="3886200"/>
            <a:ext cx="6096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baseline="-25000"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25" name="Google Shape;525;p39"/>
          <p:cNvSpPr/>
          <p:nvPr/>
        </p:nvSpPr>
        <p:spPr>
          <a:xfrm>
            <a:off x="457200" y="4800600"/>
            <a:ext cx="533400" cy="381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baseline="-25000"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26" name="Google Shape;526;p39"/>
          <p:cNvSpPr/>
          <p:nvPr/>
        </p:nvSpPr>
        <p:spPr>
          <a:xfrm>
            <a:off x="7620000" y="2362200"/>
            <a:ext cx="914400" cy="381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( 2pt)</a:t>
            </a:r>
            <a:endParaRPr baseline="-25000"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39"/>
          <p:cNvSpPr/>
          <p:nvPr/>
        </p:nvSpPr>
        <p:spPr>
          <a:xfrm>
            <a:off x="7620000" y="3048000"/>
            <a:ext cx="914400" cy="381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16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(2pt)</a:t>
            </a:r>
            <a:endParaRPr baseline="-25000" sz="1600">
              <a:solidFill>
                <a:srgbClr val="00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39"/>
          <p:cNvSpPr/>
          <p:nvPr/>
        </p:nvSpPr>
        <p:spPr>
          <a:xfrm>
            <a:off x="7620000" y="3810000"/>
            <a:ext cx="914400" cy="381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1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1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(2pt)</a:t>
            </a:r>
            <a:endParaRPr baseline="-25000" sz="16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7924800" y="4648200"/>
            <a:ext cx="762000" cy="4572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16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( 3pt)</a:t>
            </a:r>
            <a:endParaRPr baseline="-25000" sz="1600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0" name="Google Shape;530;p39"/>
          <p:cNvCxnSpPr/>
          <p:nvPr/>
        </p:nvCxnSpPr>
        <p:spPr>
          <a:xfrm>
            <a:off x="1066800" y="2590800"/>
            <a:ext cx="701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9"/>
          <p:cNvCxnSpPr/>
          <p:nvPr/>
        </p:nvCxnSpPr>
        <p:spPr>
          <a:xfrm>
            <a:off x="1066800" y="3352800"/>
            <a:ext cx="701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9"/>
          <p:cNvCxnSpPr/>
          <p:nvPr/>
        </p:nvCxnSpPr>
        <p:spPr>
          <a:xfrm>
            <a:off x="1066800" y="4267200"/>
            <a:ext cx="701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9"/>
          <p:cNvCxnSpPr/>
          <p:nvPr/>
        </p:nvCxnSpPr>
        <p:spPr>
          <a:xfrm>
            <a:off x="1066800" y="5181600"/>
            <a:ext cx="701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39"/>
          <p:cNvCxnSpPr/>
          <p:nvPr/>
        </p:nvCxnSpPr>
        <p:spPr>
          <a:xfrm flipH="1">
            <a:off x="3048000" y="1752600"/>
            <a:ext cx="16002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39"/>
          <p:cNvCxnSpPr/>
          <p:nvPr/>
        </p:nvCxnSpPr>
        <p:spPr>
          <a:xfrm flipH="1">
            <a:off x="2133600" y="25146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39"/>
          <p:cNvCxnSpPr/>
          <p:nvPr/>
        </p:nvCxnSpPr>
        <p:spPr>
          <a:xfrm flipH="1">
            <a:off x="16764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39"/>
          <p:cNvCxnSpPr/>
          <p:nvPr/>
        </p:nvCxnSpPr>
        <p:spPr>
          <a:xfrm>
            <a:off x="2057400" y="3276600"/>
            <a:ext cx="3048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39"/>
          <p:cNvCxnSpPr/>
          <p:nvPr/>
        </p:nvCxnSpPr>
        <p:spPr>
          <a:xfrm flipH="1">
            <a:off x="13716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39"/>
          <p:cNvCxnSpPr/>
          <p:nvPr/>
        </p:nvCxnSpPr>
        <p:spPr>
          <a:xfrm>
            <a:off x="16002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39"/>
          <p:cNvCxnSpPr/>
          <p:nvPr/>
        </p:nvCxnSpPr>
        <p:spPr>
          <a:xfrm>
            <a:off x="16002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9"/>
          <p:cNvCxnSpPr/>
          <p:nvPr/>
        </p:nvCxnSpPr>
        <p:spPr>
          <a:xfrm flipH="1">
            <a:off x="22098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39"/>
          <p:cNvCxnSpPr/>
          <p:nvPr/>
        </p:nvCxnSpPr>
        <p:spPr>
          <a:xfrm>
            <a:off x="24384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39"/>
          <p:cNvCxnSpPr/>
          <p:nvPr/>
        </p:nvCxnSpPr>
        <p:spPr>
          <a:xfrm>
            <a:off x="24384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39"/>
          <p:cNvCxnSpPr/>
          <p:nvPr/>
        </p:nvCxnSpPr>
        <p:spPr>
          <a:xfrm flipH="1">
            <a:off x="30480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39"/>
          <p:cNvCxnSpPr/>
          <p:nvPr/>
        </p:nvCxnSpPr>
        <p:spPr>
          <a:xfrm>
            <a:off x="32766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39"/>
          <p:cNvCxnSpPr/>
          <p:nvPr/>
        </p:nvCxnSpPr>
        <p:spPr>
          <a:xfrm>
            <a:off x="32766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7" name="Google Shape;547;p39"/>
          <p:cNvCxnSpPr/>
          <p:nvPr/>
        </p:nvCxnSpPr>
        <p:spPr>
          <a:xfrm flipH="1">
            <a:off x="38862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p39"/>
          <p:cNvCxnSpPr/>
          <p:nvPr/>
        </p:nvCxnSpPr>
        <p:spPr>
          <a:xfrm>
            <a:off x="41148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39"/>
          <p:cNvCxnSpPr/>
          <p:nvPr/>
        </p:nvCxnSpPr>
        <p:spPr>
          <a:xfrm>
            <a:off x="41148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39"/>
          <p:cNvCxnSpPr/>
          <p:nvPr/>
        </p:nvCxnSpPr>
        <p:spPr>
          <a:xfrm flipH="1">
            <a:off x="47244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39"/>
          <p:cNvCxnSpPr/>
          <p:nvPr/>
        </p:nvCxnSpPr>
        <p:spPr>
          <a:xfrm>
            <a:off x="49530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39"/>
          <p:cNvCxnSpPr/>
          <p:nvPr/>
        </p:nvCxnSpPr>
        <p:spPr>
          <a:xfrm>
            <a:off x="49530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39"/>
          <p:cNvCxnSpPr/>
          <p:nvPr/>
        </p:nvCxnSpPr>
        <p:spPr>
          <a:xfrm flipH="1">
            <a:off x="55626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39"/>
          <p:cNvCxnSpPr/>
          <p:nvPr/>
        </p:nvCxnSpPr>
        <p:spPr>
          <a:xfrm>
            <a:off x="57912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5" name="Google Shape;555;p39"/>
          <p:cNvCxnSpPr/>
          <p:nvPr/>
        </p:nvCxnSpPr>
        <p:spPr>
          <a:xfrm>
            <a:off x="57912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6" name="Google Shape;556;p39"/>
          <p:cNvCxnSpPr/>
          <p:nvPr/>
        </p:nvCxnSpPr>
        <p:spPr>
          <a:xfrm flipH="1">
            <a:off x="64008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p39"/>
          <p:cNvCxnSpPr/>
          <p:nvPr/>
        </p:nvCxnSpPr>
        <p:spPr>
          <a:xfrm>
            <a:off x="66294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8" name="Google Shape;558;p39"/>
          <p:cNvCxnSpPr/>
          <p:nvPr/>
        </p:nvCxnSpPr>
        <p:spPr>
          <a:xfrm>
            <a:off x="66294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39"/>
          <p:cNvCxnSpPr/>
          <p:nvPr/>
        </p:nvCxnSpPr>
        <p:spPr>
          <a:xfrm flipH="1">
            <a:off x="72390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p39"/>
          <p:cNvCxnSpPr/>
          <p:nvPr/>
        </p:nvCxnSpPr>
        <p:spPr>
          <a:xfrm>
            <a:off x="7467600" y="41910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1" name="Google Shape;561;p39"/>
          <p:cNvCxnSpPr/>
          <p:nvPr/>
        </p:nvCxnSpPr>
        <p:spPr>
          <a:xfrm>
            <a:off x="7467600" y="4191000"/>
            <a:ext cx="228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39"/>
          <p:cNvCxnSpPr/>
          <p:nvPr/>
        </p:nvCxnSpPr>
        <p:spPr>
          <a:xfrm flipH="1">
            <a:off x="33528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39"/>
          <p:cNvCxnSpPr/>
          <p:nvPr/>
        </p:nvCxnSpPr>
        <p:spPr>
          <a:xfrm>
            <a:off x="3733800" y="3276600"/>
            <a:ext cx="3048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39"/>
          <p:cNvCxnSpPr/>
          <p:nvPr/>
        </p:nvCxnSpPr>
        <p:spPr>
          <a:xfrm flipH="1">
            <a:off x="49530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39"/>
          <p:cNvCxnSpPr/>
          <p:nvPr/>
        </p:nvCxnSpPr>
        <p:spPr>
          <a:xfrm>
            <a:off x="53340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39"/>
          <p:cNvCxnSpPr/>
          <p:nvPr/>
        </p:nvCxnSpPr>
        <p:spPr>
          <a:xfrm flipH="1">
            <a:off x="6705600" y="32766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39"/>
          <p:cNvCxnSpPr/>
          <p:nvPr/>
        </p:nvCxnSpPr>
        <p:spPr>
          <a:xfrm>
            <a:off x="7086600" y="3276600"/>
            <a:ext cx="3048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39"/>
          <p:cNvCxnSpPr/>
          <p:nvPr/>
        </p:nvCxnSpPr>
        <p:spPr>
          <a:xfrm>
            <a:off x="2895600" y="25146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39"/>
          <p:cNvCxnSpPr/>
          <p:nvPr/>
        </p:nvCxnSpPr>
        <p:spPr>
          <a:xfrm flipH="1">
            <a:off x="5486400" y="25146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39"/>
          <p:cNvCxnSpPr/>
          <p:nvPr/>
        </p:nvCxnSpPr>
        <p:spPr>
          <a:xfrm>
            <a:off x="6248400" y="25146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39"/>
          <p:cNvCxnSpPr/>
          <p:nvPr/>
        </p:nvCxnSpPr>
        <p:spPr>
          <a:xfrm>
            <a:off x="4572000" y="1752600"/>
            <a:ext cx="1524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" name="Google Shape;572;p39"/>
          <p:cNvSpPr/>
          <p:nvPr/>
        </p:nvSpPr>
        <p:spPr>
          <a:xfrm>
            <a:off x="457200" y="5562600"/>
            <a:ext cx="1828800" cy="457199"/>
          </a:xfrm>
          <a:prstGeom prst="wedgeRectCallout">
            <a:avLst>
              <a:gd fmla="val 25972" name="adj1"/>
              <a:gd fmla="val -99769" name="adj2"/>
            </a:avLst>
          </a:prstGeom>
          <a:solidFill>
            <a:srgbClr val="F8F8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cấu hình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3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74" name="Google Shape;574;p39"/>
          <p:cNvSpPr txBox="1"/>
          <p:nvPr>
            <p:ph type="title"/>
          </p:nvPr>
        </p:nvSpPr>
        <p:spPr>
          <a:xfrm>
            <a:off x="635625" y="381000"/>
            <a:ext cx="8051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b="1" sz="3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184aec728a_0_475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581" name="Google Shape;581;g1184aec728a_0_475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1184aec728a_0_475"/>
          <p:cNvSpPr/>
          <p:nvPr/>
        </p:nvSpPr>
        <p:spPr>
          <a:xfrm>
            <a:off x="2628900" y="2848700"/>
            <a:ext cx="3886200" cy="3912900"/>
          </a:xfrm>
          <a:prstGeom prst="rect">
            <a:avLst/>
          </a:prstGeom>
          <a:solidFill>
            <a:srgbClr val="0A04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Try(int i, char b[]){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char 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for(j='0'; j&lt;='1';j++){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//P – bỏ qua kiêm tra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b[i]=j;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if(i==n) Out(b);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else Try(i+1,b);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184aec728a_0_482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589" name="Google Shape;589;g1184aec728a_0_482"/>
          <p:cNvSpPr txBox="1"/>
          <p:nvPr>
            <p:ph idx="1" type="body"/>
          </p:nvPr>
        </p:nvSpPr>
        <p:spPr>
          <a:xfrm>
            <a:off x="425196" y="19216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g1184aec728a_0_4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00" y="2651450"/>
            <a:ext cx="6165800" cy="39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184aec728a_0_497"/>
          <p:cNvSpPr txBox="1"/>
          <p:nvPr>
            <p:ph type="title"/>
          </p:nvPr>
        </p:nvSpPr>
        <p:spPr>
          <a:xfrm>
            <a:off x="425200" y="1001023"/>
            <a:ext cx="7850100" cy="72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</a:t>
            </a:r>
            <a:r>
              <a:rPr lang="en-US"/>
              <a:t>QUAY LUI</a:t>
            </a:r>
            <a:endParaRPr/>
          </a:p>
        </p:txBody>
      </p:sp>
      <p:sp>
        <p:nvSpPr>
          <p:cNvPr id="597" name="Google Shape;597;g1184aec728a_0_497"/>
          <p:cNvSpPr txBox="1"/>
          <p:nvPr>
            <p:ph idx="1" type="body"/>
          </p:nvPr>
        </p:nvSpPr>
        <p:spPr>
          <a:xfrm>
            <a:off x="425196" y="1934842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</a:t>
            </a:r>
            <a:r>
              <a:rPr lang="en-US" sz="3000">
                <a:solidFill>
                  <a:schemeClr val="dk2"/>
                </a:solidFill>
              </a:rPr>
              <a:t>ê chuỗi nhị phân có độ dài n</a:t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graphicFrame>
        <p:nvGraphicFramePr>
          <p:cNvPr id="598" name="Google Shape;598;g1184aec728a_0_497"/>
          <p:cNvGraphicFramePr/>
          <p:nvPr/>
        </p:nvGraphicFramePr>
        <p:xfrm>
          <a:off x="785450" y="3147475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7190075"/>
              </a:tblGrid>
              <a:tr h="52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Demo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3165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184aec728a_0_489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pic>
        <p:nvPicPr>
          <p:cNvPr id="605" name="Google Shape;605;g1184aec728a_0_4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57975"/>
            <a:ext cx="7848600" cy="460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6" name="Google Shape;606;g1184aec728a_0_489"/>
          <p:cNvGraphicFramePr/>
          <p:nvPr/>
        </p:nvGraphicFramePr>
        <p:xfrm>
          <a:off x="1245140" y="609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1634250"/>
              </a:tblGrid>
              <a:tr h="26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184aec728a_0_506"/>
          <p:cNvSpPr txBox="1"/>
          <p:nvPr>
            <p:ph idx="1" type="body"/>
          </p:nvPr>
        </p:nvSpPr>
        <p:spPr>
          <a:xfrm>
            <a:off x="425200" y="1833775"/>
            <a:ext cx="79497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liệt kê hoán vị không lặp của tập gồm n phần tử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13" name="Google Shape;613;g1184aec728a_0_506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sp>
        <p:nvSpPr>
          <p:cNvPr id="614" name="Google Shape;614;g1184aec728a_0_506"/>
          <p:cNvSpPr/>
          <p:nvPr/>
        </p:nvSpPr>
        <p:spPr>
          <a:xfrm>
            <a:off x="2941025" y="2796525"/>
            <a:ext cx="3886200" cy="3909900"/>
          </a:xfrm>
          <a:prstGeom prst="rect">
            <a:avLst/>
          </a:prstGeom>
          <a:solidFill>
            <a:srgbClr val="0A04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9087" lvl="0" marL="31908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Try(int i,int b[],int s[]){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 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for(j=1;j&lt;=n;j++){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if(b[j]==1){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s[i]=j;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b[j]=0;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if(i==n) Out(s);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else Try(i+1,b,s);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b[j]=1;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 }</a:t>
            </a:r>
            <a:endParaRPr/>
          </a:p>
          <a:p>
            <a:pPr indent="-319087" lvl="0" marL="319087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184aec728a_0_514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1184aec728a_0_514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pic>
        <p:nvPicPr>
          <p:cNvPr id="622" name="Google Shape;622;g1184aec728a_0_5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00" y="2123925"/>
            <a:ext cx="8185399" cy="42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184aec728a_0_521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1184aec728a_0_521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  <p:pic>
        <p:nvPicPr>
          <p:cNvPr id="630" name="Google Shape;630;g1184aec728a_0_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097550"/>
            <a:ext cx="8077201" cy="4227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1" name="Google Shape;631;g1184aec728a_0_521"/>
          <p:cNvGraphicFramePr/>
          <p:nvPr/>
        </p:nvGraphicFramePr>
        <p:xfrm>
          <a:off x="894945" y="2097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6031150"/>
              </a:tblGrid>
              <a:tr h="248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184aec728a_0_530"/>
          <p:cNvSpPr txBox="1"/>
          <p:nvPr>
            <p:ph idx="1" type="body"/>
          </p:nvPr>
        </p:nvSpPr>
        <p:spPr>
          <a:xfrm>
            <a:off x="425200" y="1833775"/>
            <a:ext cx="79497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35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40"/>
              <a:buFont typeface="Noto Sans Symbols"/>
              <a:buChar char="●"/>
            </a:pPr>
            <a:r>
              <a:rPr lang="en-US" sz="3000">
                <a:solidFill>
                  <a:schemeClr val="dk2"/>
                </a:solidFill>
              </a:rPr>
              <a:t>Bài toán </a:t>
            </a:r>
            <a:r>
              <a:rPr lang="en-US" sz="3000">
                <a:solidFill>
                  <a:schemeClr val="dk2"/>
                </a:solidFill>
              </a:rPr>
              <a:t>liệt kê cách xếp n con hậu lên bàn cờ nxn, sao cho các con hậu không thể ăn được nhau.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38" name="Google Shape;638;g1184aec728a_0_530"/>
          <p:cNvSpPr txBox="1"/>
          <p:nvPr>
            <p:ph type="title"/>
          </p:nvPr>
        </p:nvSpPr>
        <p:spPr>
          <a:xfrm>
            <a:off x="425200" y="1001025"/>
            <a:ext cx="7850100" cy="74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PHÁP QUAY LUI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44" name="Google Shape;644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45" name="Google Shape;645;p50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46" name="Google Shape;646;p5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47" name="Google Shape;647;p50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0902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Noto Sans Symbols"/>
                        <a:buChar char="▪"/>
                      </a:pPr>
                      <a:r>
                        <a:rPr lang="en-US" sz="240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Bài toán xếp hậu</a:t>
                      </a:r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  </a:t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8" name="Google Shape;648;p50"/>
          <p:cNvGraphicFramePr/>
          <p:nvPr/>
        </p:nvGraphicFramePr>
        <p:xfrm>
          <a:off x="4800600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3886200"/>
              </a:tblGrid>
              <a:tr h="5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178925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Đánh số cột từ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1.. 8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Đánh</a:t>
                      </a: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số hàng từ </a:t>
                      </a:r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1.. 8</a:t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Biểu diễn cách xếp: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              </a:t>
                      </a:r>
                      <a:r>
                        <a:rPr b="1" lang="en-US" sz="240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b="1" baseline="-25000" lang="en-US" sz="24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b="1" lang="en-US" sz="2400">
                          <a:solidFill>
                            <a:srgbClr val="FF0000"/>
                          </a:solidFill>
                        </a:rPr>
                        <a:t> x</a:t>
                      </a:r>
                      <a:r>
                        <a:rPr b="1" baseline="-25000" lang="en-US" sz="24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b="1" lang="en-US" sz="2400">
                          <a:solidFill>
                            <a:srgbClr val="FF0000"/>
                          </a:solidFill>
                        </a:rPr>
                        <a:t> … x</a:t>
                      </a:r>
                      <a:r>
                        <a:rPr b="1" baseline="-25000" lang="en-US" sz="2400">
                          <a:solidFill>
                            <a:srgbClr val="FF0000"/>
                          </a:solidFill>
                        </a:rPr>
                        <a:t>8 </a:t>
                      </a:r>
                      <a:endParaRPr b="0" sz="2400">
                        <a:solidFill>
                          <a:srgbClr val="FF0000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x</a:t>
                      </a:r>
                      <a:r>
                        <a:rPr b="0" baseline="-25000" lang="en-US" sz="240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 được xếp ở hàng i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0" lang="en-US" sz="2400">
                          <a:solidFill>
                            <a:schemeClr val="dk1"/>
                          </a:solidFill>
                        </a:rPr>
                        <a:t>D = {1,…,8}</a:t>
                      </a:r>
                      <a:endParaRPr/>
                    </a:p>
                    <a:p>
                      <a:pPr indent="-342900" lvl="1" marL="800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="1" baseline="-25000" lang="en-US" sz="24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</a:rPr>
                        <a:t>= j : </a:t>
                      </a: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Hậu thứ i được xếp vào cột j 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-US" sz="2400">
                          <a:solidFill>
                            <a:schemeClr val="dk1"/>
                          </a:solidFill>
                        </a:rPr>
                        <a:t>j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 được chấp nhận nếu </a:t>
                      </a:r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ô (i,j) được</a:t>
                      </a:r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 tự do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49" name="Google Shape;64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743200"/>
            <a:ext cx="342900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50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56" name="Google Shape;65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57" name="Google Shape;657;p51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58" name="Google Shape;658;p5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59" name="Google Shape;659;p51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 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0902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Ô (i,j) được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 tự do</a:t>
                      </a:r>
                      <a:endParaRPr/>
                    </a:p>
                    <a:p>
                      <a:pPr indent="-342900" lvl="1" marL="800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cột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1" marL="800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đường chéo thuận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1" marL="800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đường chéo nghịch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0574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60"/>
                        <a:buFont typeface="Noto Sans Symbols"/>
                        <a:buNone/>
                      </a:pPr>
                      <a:r>
                        <a:t/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60" name="Google Shape;660;p51"/>
          <p:cNvGraphicFramePr/>
          <p:nvPr/>
        </p:nvGraphicFramePr>
        <p:xfrm>
          <a:off x="4800600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3886200"/>
              </a:tblGrid>
              <a:tr h="5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Quản lý cột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178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61" name="Google Shape;66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4038600"/>
            <a:ext cx="2590800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8" name="Google Shape;668;p5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9" name="Google Shape;669;p52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70" name="Google Shape;670;p5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71" name="Google Shape;671;p52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0902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đường chéo thuận</a:t>
                      </a:r>
                      <a:endParaRPr b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0574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60"/>
                        <a:buFont typeface="Noto Sans Symbols"/>
                        <a:buNone/>
                      </a:pPr>
                      <a:r>
                        <a:t/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72" name="Google Shape;672;p52"/>
          <p:cNvGraphicFramePr/>
          <p:nvPr/>
        </p:nvGraphicFramePr>
        <p:xfrm>
          <a:off x="4800600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3886200"/>
              </a:tblGrid>
              <a:tr h="88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Quản lý đường chéo thuận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76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3" name="Google Shape;6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819400"/>
            <a:ext cx="32766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2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0" name="Google Shape;680;p5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1" name="Google Shape;681;p53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82" name="Google Shape;682;p5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83" name="Google Shape;683;p53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090250"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Char char="✔"/>
                      </a:pPr>
                      <a:r>
                        <a:rPr b="1"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Quản lý đường chéo nghịch</a:t>
                      </a:r>
                      <a:endParaRPr b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0574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60"/>
                        <a:buFont typeface="Noto Sans Symbols"/>
                        <a:buNone/>
                      </a:pPr>
                      <a:r>
                        <a:t/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84" name="Google Shape;684;p53"/>
          <p:cNvGraphicFramePr/>
          <p:nvPr/>
        </p:nvGraphicFramePr>
        <p:xfrm>
          <a:off x="4800600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3886200"/>
              </a:tblGrid>
              <a:tr h="85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Quản lý đường chéo nghịch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77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85" name="Google Shape;68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819400"/>
            <a:ext cx="3572337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3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92" name="Google Shape;692;p5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94" name="Google Shape;694;p5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95" name="Google Shape;695;p54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4267200"/>
              </a:tblGrid>
              <a:tr h="63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Minh họa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4318850">
                <a:tc>
                  <a:txBody>
                    <a:bodyPr/>
                    <a:lstStyle/>
                    <a:p>
                      <a:pPr indent="-20574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60"/>
                        <a:buFont typeface="Noto Sans Symbols"/>
                        <a:buNone/>
                      </a:pPr>
                      <a:r>
                        <a:t/>
                      </a:r>
                      <a:endParaRPr baseline="-25000" sz="1800">
                        <a:solidFill>
                          <a:srgbClr val="002060"/>
                        </a:solidFill>
                      </a:endParaRPr>
                    </a:p>
                    <a:p>
                      <a:pPr indent="-1333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6" name="Google Shape;696;p54"/>
          <p:cNvGraphicFramePr/>
          <p:nvPr/>
        </p:nvGraphicFramePr>
        <p:xfrm>
          <a:off x="4703325" y="14478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3886200"/>
              </a:tblGrid>
              <a:tr h="9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Điều kiện để đặt hậu tại vị trí ô vàng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8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7" name="Google Shape;697;p54"/>
          <p:cNvGraphicFramePr/>
          <p:nvPr/>
        </p:nvGraphicFramePr>
        <p:xfrm>
          <a:off x="990600" y="25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2700" marL="527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8" name="Google Shape;698;p54"/>
          <p:cNvSpPr txBox="1"/>
          <p:nvPr/>
        </p:nvSpPr>
        <p:spPr>
          <a:xfrm>
            <a:off x="496920" y="263132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54"/>
          <p:cNvSpPr txBox="1"/>
          <p:nvPr/>
        </p:nvSpPr>
        <p:spPr>
          <a:xfrm>
            <a:off x="458010" y="3106364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54"/>
          <p:cNvSpPr txBox="1"/>
          <p:nvPr/>
        </p:nvSpPr>
        <p:spPr>
          <a:xfrm>
            <a:off x="477465" y="358139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54"/>
          <p:cNvSpPr txBox="1"/>
          <p:nvPr/>
        </p:nvSpPr>
        <p:spPr>
          <a:xfrm>
            <a:off x="477465" y="403859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54"/>
          <p:cNvSpPr txBox="1"/>
          <p:nvPr/>
        </p:nvSpPr>
        <p:spPr>
          <a:xfrm>
            <a:off x="477465" y="449579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54"/>
          <p:cNvSpPr txBox="1"/>
          <p:nvPr/>
        </p:nvSpPr>
        <p:spPr>
          <a:xfrm>
            <a:off x="477465" y="495299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54"/>
          <p:cNvSpPr txBox="1"/>
          <p:nvPr/>
        </p:nvSpPr>
        <p:spPr>
          <a:xfrm>
            <a:off x="477465" y="5447489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54"/>
          <p:cNvSpPr txBox="1"/>
          <p:nvPr/>
        </p:nvSpPr>
        <p:spPr>
          <a:xfrm>
            <a:off x="516375" y="5807414"/>
            <a:ext cx="53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54"/>
          <p:cNvSpPr txBox="1"/>
          <p:nvPr/>
        </p:nvSpPr>
        <p:spPr>
          <a:xfrm>
            <a:off x="1062750" y="2191964"/>
            <a:ext cx="2667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54"/>
          <p:cNvSpPr txBox="1"/>
          <p:nvPr/>
        </p:nvSpPr>
        <p:spPr>
          <a:xfrm>
            <a:off x="1596150" y="2191964"/>
            <a:ext cx="2667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54"/>
          <p:cNvSpPr txBox="1"/>
          <p:nvPr/>
        </p:nvSpPr>
        <p:spPr>
          <a:xfrm>
            <a:off x="1970670" y="2191964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54"/>
          <p:cNvSpPr txBox="1"/>
          <p:nvPr/>
        </p:nvSpPr>
        <p:spPr>
          <a:xfrm>
            <a:off x="2423010" y="2191964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54"/>
          <p:cNvSpPr txBox="1"/>
          <p:nvPr/>
        </p:nvSpPr>
        <p:spPr>
          <a:xfrm>
            <a:off x="2857515" y="2191964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54"/>
          <p:cNvSpPr txBox="1"/>
          <p:nvPr/>
        </p:nvSpPr>
        <p:spPr>
          <a:xfrm>
            <a:off x="3309855" y="2191964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54"/>
          <p:cNvSpPr txBox="1"/>
          <p:nvPr/>
        </p:nvSpPr>
        <p:spPr>
          <a:xfrm>
            <a:off x="3762195" y="2211419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3" name="Google Shape;713;p54"/>
          <p:cNvSpPr txBox="1"/>
          <p:nvPr/>
        </p:nvSpPr>
        <p:spPr>
          <a:xfrm>
            <a:off x="4195080" y="2211419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1" sz="1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4" name="Google Shape;714;p54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19200"/>
            <a:ext cx="769620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5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21" name="Google Shape;721;p5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22" name="Google Shape;722;p55"/>
          <p:cNvGraphicFramePr/>
          <p:nvPr/>
        </p:nvGraphicFramePr>
        <p:xfrm>
          <a:off x="685800" y="2373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6473750"/>
              </a:tblGrid>
              <a:tr h="196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23" name="Google Shape;723;p55"/>
          <p:cNvGraphicFramePr/>
          <p:nvPr/>
        </p:nvGraphicFramePr>
        <p:xfrm>
          <a:off x="685800" y="4495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7660525"/>
              </a:tblGrid>
              <a:tr h="16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4" name="Google Shape;724;p55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30" name="Google Shape;730;p5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1" name="Google Shape;73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19200"/>
            <a:ext cx="8001000" cy="5105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2" name="Google Shape;732;p56"/>
          <p:cNvGraphicFramePr/>
          <p:nvPr/>
        </p:nvGraphicFramePr>
        <p:xfrm>
          <a:off x="2023353" y="48443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6050600"/>
              </a:tblGrid>
              <a:tr h="103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3" name="Google Shape;733;p56"/>
          <p:cNvGraphicFramePr/>
          <p:nvPr/>
        </p:nvGraphicFramePr>
        <p:xfrm>
          <a:off x="1245140" y="16342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{5D5E90B3-AE2E-458A-BFB4-0B1FBA4DF8EE}</a:tableStyleId>
              </a:tblPr>
              <a:tblGrid>
                <a:gridCol w="7179025"/>
              </a:tblGrid>
              <a:tr h="30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4" name="Google Shape;734;p56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740" name="Google Shape;740;p5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41" name="Google Shape;741;p5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2" name="Google Shape;74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00200"/>
            <a:ext cx="58674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57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8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49" name="Google Shape;749;p5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50" name="Google Shape;750;p58"/>
          <p:cNvGraphicFramePr/>
          <p:nvPr/>
        </p:nvGraphicFramePr>
        <p:xfrm>
          <a:off x="914400" y="1862500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3657600"/>
              </a:tblGrid>
              <a:tr h="82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Đọc kết quả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75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sng">
                          <a:solidFill>
                            <a:schemeClr val="hlink"/>
                          </a:solidFill>
                          <a:hlinkClick r:id="rId3"/>
                        </a:rPr>
                        <a:t>Result</a:t>
                      </a:r>
                      <a:endParaRPr b="1" sz="3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51" name="Google Shape;751;p58"/>
          <p:cNvGraphicFramePr/>
          <p:nvPr/>
        </p:nvGraphicFramePr>
        <p:xfrm>
          <a:off x="4708300" y="1995638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99CCFF"/>
                </a:solidFill>
                <a:tableStyleId>{B0D4AB86-5967-49AB-98AF-9A7983102531}</a:tableStyleId>
              </a:tblPr>
              <a:tblGrid>
                <a:gridCol w="3733800"/>
              </a:tblGrid>
              <a:tr h="123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Chương</a:t>
                      </a:r>
                      <a:r>
                        <a:rPr lang="en-US" sz="2800">
                          <a:solidFill>
                            <a:srgbClr val="2820D2"/>
                          </a:solidFill>
                        </a:rPr>
                        <a:t> trình</a:t>
                      </a:r>
                      <a:endParaRPr sz="2800">
                        <a:solidFill>
                          <a:srgbClr val="2820D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228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None/>
                      </a:pPr>
                      <a:r>
                        <a:rPr b="1" lang="en-US" sz="2400" u="sng">
                          <a:solidFill>
                            <a:schemeClr val="hlink"/>
                          </a:solidFill>
                          <a:hlinkClick r:id="rId4"/>
                        </a:rPr>
                        <a:t> </a:t>
                      </a:r>
                      <a:r>
                        <a:rPr b="1" lang="en-US" sz="3200" u="sng">
                          <a:solidFill>
                            <a:schemeClr val="hlink"/>
                          </a:solidFill>
                          <a:hlinkClick r:id="rId5"/>
                        </a:rPr>
                        <a:t>Source Code</a:t>
                      </a:r>
                      <a:endParaRPr b="1" sz="3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240"/>
                        <a:buFont typeface="Noto Sans Symbols"/>
                        <a:buNone/>
                      </a:pPr>
                      <a:r>
                        <a:t/>
                      </a:r>
                      <a:endParaRPr b="1" sz="3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None/>
                      </a:pPr>
                      <a:r>
                        <a:rPr b="1" lang="en-US" sz="2400"/>
                        <a:t>x = (3 6  4 2 8 5 7 1)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680"/>
                        <a:buFont typeface="Noto Sans Symbols"/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752" name="Google Shape;75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4900" y="3297125"/>
            <a:ext cx="32766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58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Liệt kê tổ hợp chập k của n phần tử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 = 3, n = 4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1 2 3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1 2 4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1 3 4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2 3 4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j = s[i-1]+1…n-k+I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s[0] = 0</a:t>
            </a:r>
            <a:endParaRPr/>
          </a:p>
        </p:txBody>
      </p:sp>
      <p:sp>
        <p:nvSpPr>
          <p:cNvPr id="760" name="Google Shape;760;p5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trình</a:t>
            </a:r>
            <a:endParaRPr/>
          </a:p>
        </p:txBody>
      </p:sp>
      <p:pic>
        <p:nvPicPr>
          <p:cNvPr id="761" name="Google Shape;76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209800"/>
            <a:ext cx="35052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9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Liệt kê chỉnh hợp chập k của n phần tử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 = 2, n = 3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1 2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1 3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2 1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2 3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3 1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3 2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c[1] = 1, c[2] = 1, c[3] = 1 </a:t>
            </a:r>
            <a:endParaRPr/>
          </a:p>
        </p:txBody>
      </p:sp>
      <p:sp>
        <p:nvSpPr>
          <p:cNvPr id="769" name="Google Shape;769;p6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trình</a:t>
            </a:r>
            <a:endParaRPr/>
          </a:p>
        </p:txBody>
      </p:sp>
      <p:pic>
        <p:nvPicPr>
          <p:cNvPr id="770" name="Google Shape;77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399" y="2286000"/>
            <a:ext cx="3581401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0"/>
          <p:cNvSpPr txBox="1"/>
          <p:nvPr/>
        </p:nvSpPr>
        <p:spPr>
          <a:xfrm>
            <a:off x="457200" y="329725"/>
            <a:ext cx="6686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5BBB"/>
                </a:solidFill>
                <a:latin typeface="Georgia"/>
                <a:ea typeface="Georgia"/>
                <a:cs typeface="Georgia"/>
                <a:sym typeface="Georgia"/>
              </a:rPr>
              <a:t>PHƯƠNG PHÁP QUAY LUI</a:t>
            </a:r>
            <a:endParaRPr sz="3600">
              <a:solidFill>
                <a:srgbClr val="005BB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Tóm lại</a:t>
            </a:r>
            <a:endParaRPr b="1" sz="4000"/>
          </a:p>
        </p:txBody>
      </p:sp>
      <p:sp>
        <p:nvSpPr>
          <p:cNvPr id="777" name="Google Shape;777;p61"/>
          <p:cNvSpPr txBox="1"/>
          <p:nvPr>
            <p:ph idx="1" type="body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Kỹ thuật sinh: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(1) Xác định trạng thái đầu của bài toán.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(2) Xác định trạng thái kết thúc.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(3) Xác định một thứ tự cho các trạng thái.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(4) Tìm giải thuật đi từ trạng thái này sang trạng thái khác.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 Kỹ thuật quay lui:</a:t>
            </a:r>
            <a:endParaRPr/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AutoNum type="arabicParenBoth"/>
            </a:pPr>
            <a:r>
              <a:rPr lang="en-US" sz="2400">
                <a:solidFill>
                  <a:srgbClr val="002060"/>
                </a:solidFill>
              </a:rPr>
              <a:t>Tại 1 thời điểm, chỉ xét thành phần thứ i của cấu hình</a:t>
            </a:r>
            <a:endParaRPr sz="2400">
              <a:solidFill>
                <a:srgbClr val="002060"/>
              </a:solidFill>
            </a:endParaRPr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AutoNum type="arabicParenBoth"/>
            </a:pPr>
            <a:r>
              <a:rPr lang="en-US" sz="2400">
                <a:solidFill>
                  <a:srgbClr val="002060"/>
                </a:solidFill>
              </a:rPr>
              <a:t>Với mọi trị j trong miền trị của thành phần này</a:t>
            </a:r>
            <a:endParaRPr sz="2400">
              <a:solidFill>
                <a:srgbClr val="002060"/>
              </a:solidFill>
            </a:endParaRPr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     2.1- Nếu chọn được 1 trị hợp lệ thì</a:t>
            </a:r>
            <a:endParaRPr sz="2400">
              <a:solidFill>
                <a:srgbClr val="002060"/>
              </a:solidFill>
            </a:endParaRPr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            Gán x</a:t>
            </a:r>
            <a:r>
              <a:rPr baseline="-25000" lang="en-US" sz="2400">
                <a:solidFill>
                  <a:srgbClr val="002060"/>
                </a:solidFill>
              </a:rPr>
              <a:t>i</a:t>
            </a:r>
            <a:r>
              <a:rPr lang="en-US" sz="2400">
                <a:solidFill>
                  <a:srgbClr val="002060"/>
                </a:solidFill>
              </a:rPr>
              <a:t> = j</a:t>
            </a:r>
            <a:endParaRPr/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002060"/>
                </a:solidFill>
              </a:rPr>
              <a:t>            Xử lý  cấu hình ở thành phần thứ i+1</a:t>
            </a:r>
            <a:endParaRPr sz="2000">
              <a:solidFill>
                <a:srgbClr val="002060"/>
              </a:solidFill>
            </a:endParaRPr>
          </a:p>
          <a:p>
            <a:pPr indent="-609600" lvl="1" marL="10096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rgbClr val="002060"/>
                </a:solidFill>
              </a:rPr>
              <a:t>Nếu i=0 thì bài toán không có lời giải.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778" name="Google Shape;778;p6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79" name="Google Shape;779;p6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Bài Tập</a:t>
            </a:r>
            <a:endParaRPr b="1" sz="4000"/>
          </a:p>
        </p:txBody>
      </p:sp>
      <p:sp>
        <p:nvSpPr>
          <p:cNvPr id="785" name="Google Shape;785;p62"/>
          <p:cNvSpPr txBox="1"/>
          <p:nvPr>
            <p:ph idx="1" type="body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1. Liệt kê nghiệm nguyên của pt x</a:t>
            </a:r>
            <a:r>
              <a:rPr baseline="-25000" lang="en-US">
                <a:solidFill>
                  <a:srgbClr val="002060"/>
                </a:solidFill>
              </a:rPr>
              <a:t>1</a:t>
            </a:r>
            <a:r>
              <a:rPr lang="en-US">
                <a:solidFill>
                  <a:srgbClr val="002060"/>
                </a:solidFill>
              </a:rPr>
              <a:t> + x</a:t>
            </a:r>
            <a:r>
              <a:rPr baseline="-25000" lang="en-US">
                <a:solidFill>
                  <a:srgbClr val="002060"/>
                </a:solidFill>
              </a:rPr>
              <a:t>2 </a:t>
            </a:r>
            <a:r>
              <a:rPr lang="en-US">
                <a:solidFill>
                  <a:srgbClr val="002060"/>
                </a:solidFill>
              </a:rPr>
              <a:t>+ x</a:t>
            </a:r>
            <a:r>
              <a:rPr baseline="-25000" lang="en-US">
                <a:solidFill>
                  <a:srgbClr val="002060"/>
                </a:solidFill>
              </a:rPr>
              <a:t>3 </a:t>
            </a:r>
            <a:r>
              <a:rPr lang="en-US">
                <a:solidFill>
                  <a:srgbClr val="002060"/>
                </a:solidFill>
              </a:rPr>
              <a:t> = 15 với x</a:t>
            </a:r>
            <a:r>
              <a:rPr baseline="-25000" lang="en-US">
                <a:solidFill>
                  <a:srgbClr val="002060"/>
                </a:solidFill>
              </a:rPr>
              <a:t>1</a:t>
            </a:r>
            <a:r>
              <a:rPr lang="en-US">
                <a:solidFill>
                  <a:srgbClr val="002060"/>
                </a:solidFill>
              </a:rPr>
              <a:t> ≥ 0 , x</a:t>
            </a:r>
            <a:r>
              <a:rPr baseline="-25000" lang="en-US">
                <a:solidFill>
                  <a:srgbClr val="002060"/>
                </a:solidFill>
              </a:rPr>
              <a:t>2 </a:t>
            </a:r>
            <a:r>
              <a:rPr lang="en-US">
                <a:solidFill>
                  <a:srgbClr val="002060"/>
                </a:solidFill>
              </a:rPr>
              <a:t>≥ 0 , x</a:t>
            </a:r>
            <a:r>
              <a:rPr baseline="-25000" lang="en-US">
                <a:solidFill>
                  <a:srgbClr val="002060"/>
                </a:solidFill>
              </a:rPr>
              <a:t>3</a:t>
            </a:r>
            <a:r>
              <a:rPr lang="en-US">
                <a:solidFill>
                  <a:srgbClr val="002060"/>
                </a:solidFill>
              </a:rPr>
              <a:t> ≥ 0.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2. Liệt kê số </a:t>
            </a:r>
            <a:r>
              <a:rPr lang="en-US">
                <a:solidFill>
                  <a:srgbClr val="002060"/>
                </a:solidFill>
              </a:rPr>
              <a:t>chuỗi</a:t>
            </a:r>
            <a:r>
              <a:rPr lang="en-US">
                <a:solidFill>
                  <a:srgbClr val="002060"/>
                </a:solidFill>
              </a:rPr>
              <a:t> có </a:t>
            </a:r>
            <a:r>
              <a:rPr i="1" lang="en-US">
                <a:solidFill>
                  <a:srgbClr val="002060"/>
                </a:solidFill>
              </a:rPr>
              <a:t>độ dài 3 ký tự xyz  </a:t>
            </a:r>
            <a:r>
              <a:rPr lang="en-US">
                <a:solidFill>
                  <a:srgbClr val="002060"/>
                </a:solidFill>
              </a:rPr>
              <a:t>với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      x </a:t>
            </a:r>
            <a:r>
              <a:rPr lang="en-US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∈ </a:t>
            </a:r>
            <a:r>
              <a:rPr lang="en-US">
                <a:solidFill>
                  <a:srgbClr val="002060"/>
                </a:solidFill>
              </a:rPr>
              <a:t>{ a,b,c}, y </a:t>
            </a:r>
            <a:r>
              <a:rPr lang="en-US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∈ </a:t>
            </a:r>
            <a:r>
              <a:rPr lang="en-US">
                <a:solidFill>
                  <a:srgbClr val="002060"/>
                </a:solidFill>
              </a:rPr>
              <a:t>{d,e},  z </a:t>
            </a:r>
            <a:r>
              <a:rPr lang="en-US">
                <a:solidFill>
                  <a:srgbClr val="002060"/>
                </a:solidFill>
                <a:latin typeface="Arimo"/>
                <a:ea typeface="Arimo"/>
                <a:cs typeface="Arimo"/>
                <a:sym typeface="Arimo"/>
              </a:rPr>
              <a:t>∈ </a:t>
            </a:r>
            <a:r>
              <a:rPr lang="en-US">
                <a:solidFill>
                  <a:srgbClr val="002060"/>
                </a:solidFill>
              </a:rPr>
              <a:t>{m,n,t}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</a:rPr>
              <a:t>3. Viết lại các bài mẫu về giải thuật quay lui nhưng ghi kết </a:t>
            </a:r>
            <a:r>
              <a:rPr lang="en-US">
                <a:solidFill>
                  <a:srgbClr val="002060"/>
                </a:solidFill>
              </a:rPr>
              <a:t>quả</a:t>
            </a:r>
            <a:r>
              <a:rPr lang="en-US">
                <a:solidFill>
                  <a:srgbClr val="002060"/>
                </a:solidFill>
              </a:rPr>
              <a:t> lên file.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786" name="Google Shape;786;p6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87" name="Google Shape;787;p6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3"/>
          <p:cNvSpPr txBox="1"/>
          <p:nvPr/>
        </p:nvSpPr>
        <p:spPr>
          <a:xfrm>
            <a:off x="304800" y="449678"/>
            <a:ext cx="8229600" cy="58477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94" name="Google Shape;794;p63"/>
          <p:cNvGrpSpPr/>
          <p:nvPr/>
        </p:nvGrpSpPr>
        <p:grpSpPr>
          <a:xfrm>
            <a:off x="762000" y="1219200"/>
            <a:ext cx="7696200" cy="5338763"/>
            <a:chOff x="859" y="429"/>
            <a:chExt cx="4613" cy="3363"/>
          </a:xfrm>
        </p:grpSpPr>
        <p:grpSp>
          <p:nvGrpSpPr>
            <p:cNvPr id="795" name="Google Shape;795;p63"/>
            <p:cNvGrpSpPr/>
            <p:nvPr/>
          </p:nvGrpSpPr>
          <p:grpSpPr>
            <a:xfrm>
              <a:off x="3552" y="429"/>
              <a:ext cx="624" cy="3363"/>
              <a:chOff x="3024" y="477"/>
              <a:chExt cx="624" cy="3363"/>
            </a:xfrm>
          </p:grpSpPr>
          <p:sp>
            <p:nvSpPr>
              <p:cNvPr id="796" name="Google Shape;796;p63"/>
              <p:cNvSpPr txBox="1"/>
              <p:nvPr/>
            </p:nvSpPr>
            <p:spPr>
              <a:xfrm>
                <a:off x="3024" y="477"/>
                <a:ext cx="624" cy="3363"/>
              </a:xfrm>
              <a:prstGeom prst="rect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 u="sng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  y  z</a:t>
                </a:r>
                <a:endParaRPr b="1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e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e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 e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e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e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  e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</a:t>
                </a:r>
                <a:r>
                  <a:rPr b="1" lang="en-US" sz="1800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</a:t>
                </a: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e  </a:t>
                </a:r>
                <a:r>
                  <a:rPr b="1" lang="en-US" sz="1800">
                    <a:solidFill>
                      <a:srgbClr val="CC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e  </a:t>
                </a:r>
                <a:r>
                  <a:rPr b="1" lang="en-US" sz="1800">
                    <a:solidFill>
                      <a:srgbClr val="006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  e  </a:t>
                </a:r>
                <a:r>
                  <a:rPr b="1" lang="en-US" sz="1800">
                    <a:solidFill>
                      <a:srgbClr val="8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endParaRPr/>
              </a:p>
            </p:txBody>
          </p:sp>
          <p:cxnSp>
            <p:nvCxnSpPr>
              <p:cNvPr id="797" name="Google Shape;797;p63"/>
              <p:cNvCxnSpPr/>
              <p:nvPr/>
            </p:nvCxnSpPr>
            <p:spPr>
              <a:xfrm>
                <a:off x="3024" y="1728"/>
                <a:ext cx="62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" name="Google Shape;798;p63"/>
              <p:cNvCxnSpPr/>
              <p:nvPr/>
            </p:nvCxnSpPr>
            <p:spPr>
              <a:xfrm>
                <a:off x="3024" y="2784"/>
                <a:ext cx="62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99" name="Google Shape;799;p63"/>
            <p:cNvSpPr/>
            <p:nvPr/>
          </p:nvSpPr>
          <p:spPr>
            <a:xfrm>
              <a:off x="859" y="1101"/>
              <a:ext cx="2112" cy="432"/>
            </a:xfrm>
            <a:prstGeom prst="wedgeRectCallout">
              <a:avLst>
                <a:gd fmla="val 77995" name="adj1"/>
                <a:gd fmla="val -142981" name="adj2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Cấu hình ban đầu: trị đầu tiên của mỗi miền trị</a:t>
              </a:r>
              <a:endParaRPr b="1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0" name="Google Shape;800;p63"/>
            <p:cNvSpPr/>
            <p:nvPr/>
          </p:nvSpPr>
          <p:spPr>
            <a:xfrm>
              <a:off x="905" y="3165"/>
              <a:ext cx="2023" cy="480"/>
            </a:xfrm>
            <a:prstGeom prst="wedgeRectCallout">
              <a:avLst>
                <a:gd fmla="val 80681" name="adj1"/>
                <a:gd fmla="val 57917" name="adj2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Cấu hình cuối: trị cuối cùng của mỗi miền trị</a:t>
              </a:r>
              <a:endParaRPr b="1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1" name="Google Shape;801;p63"/>
            <p:cNvSpPr/>
            <p:nvPr/>
          </p:nvSpPr>
          <p:spPr>
            <a:xfrm>
              <a:off x="859" y="2157"/>
              <a:ext cx="2284" cy="432"/>
            </a:xfrm>
            <a:prstGeom prst="wedgeRectCallout">
              <a:avLst>
                <a:gd fmla="val 78241" name="adj1"/>
                <a:gd fmla="val -117111" name="adj2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Cách sinh:</a:t>
              </a:r>
              <a:r>
                <a:rPr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Lấy</a:t>
              </a:r>
              <a:r>
                <a:rPr b="1"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trị kế tiếp của mỗi miền trị theo cơ chế vòng tròn</a:t>
              </a:r>
              <a:endParaRPr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p63"/>
            <p:cNvSpPr txBox="1"/>
            <p:nvPr/>
          </p:nvSpPr>
          <p:spPr>
            <a:xfrm>
              <a:off x="4330" y="1581"/>
              <a:ext cx="1142" cy="110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Dùng thứ tự từ điển để so sánh:</a:t>
              </a:r>
              <a:endParaRPr/>
            </a:p>
            <a:p>
              <a:pPr indent="0" lvl="0" marL="0" marR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adm &lt; adn</a:t>
              </a:r>
              <a:endParaRPr b="1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03" name="Google Shape;803;p6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804" name="Google Shape;804;p6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65"/>
          <p:cNvSpPr txBox="1"/>
          <p:nvPr>
            <p:ph idx="1" type="body"/>
          </p:nvPr>
        </p:nvSpPr>
        <p:spPr>
          <a:xfrm>
            <a:off x="533400" y="5334000"/>
            <a:ext cx="8229600" cy="102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NEXT?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                </a:t>
            </a:r>
            <a:endParaRPr/>
          </a:p>
        </p:txBody>
      </p:sp>
      <p:pic>
        <p:nvPicPr>
          <p:cNvPr id="811" name="Google Shape;81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38300"/>
            <a:ext cx="6858000" cy="358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812" name="Google Shape;812;p65"/>
          <p:cNvSpPr txBox="1"/>
          <p:nvPr/>
        </p:nvSpPr>
        <p:spPr>
          <a:xfrm>
            <a:off x="2438400" y="4419600"/>
            <a:ext cx="4876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ALL;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eme1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2012-10-08T14:50:40Z</dcterms:created>
  <dc:creator>mc</dc:creator>
</cp:coreProperties>
</file>