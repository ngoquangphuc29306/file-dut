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13" r:id="rId2"/>
    <p:sldId id="31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53" r:id="rId15"/>
    <p:sldId id="346" r:id="rId16"/>
    <p:sldId id="354" r:id="rId17"/>
    <p:sldId id="351" r:id="rId18"/>
    <p:sldId id="355" r:id="rId19"/>
    <p:sldId id="33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68" autoAdjust="0"/>
  </p:normalViewPr>
  <p:slideViewPr>
    <p:cSldViewPr>
      <p:cViewPr>
        <p:scale>
          <a:sx n="80" d="100"/>
          <a:sy n="80" d="100"/>
        </p:scale>
        <p:origin x="-126" y="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C11C1-C466-4618-A925-B7E0EC7933D0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55D1F-5502-4A6E-A587-B1BE2C260B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4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Cover</a:t>
            </a:r>
            <a:r>
              <a:rPr lang="en-US" baseline="0" dirty="0" smtClean="0"/>
              <a:t> - </a:t>
            </a:r>
            <a:r>
              <a:rPr lang="en-US" baseline="0" dirty="0" err="1" smtClean="0"/>
              <a:t>võ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55D1F-5502-4A6E-A587-B1BE2C260BD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95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 l="-90000" r="-9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vi-VN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 noChangeAspect="1"/>
          </p:cNvSpPr>
          <p:nvPr>
            <p:ph type="ftr" sz="quarter" idx="12"/>
          </p:nvPr>
        </p:nvSpPr>
        <p:spPr>
          <a:xfrm>
            <a:off x="2514600" y="6536938"/>
            <a:ext cx="3429000" cy="276999"/>
          </a:xfrm>
        </p:spPr>
        <p:txBody>
          <a:bodyPr wrap="none">
            <a:noAutofit/>
          </a:bodyPr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71800" y="6492875"/>
            <a:ext cx="35052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oán Rời Rạ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/>
          <a:lstStyle>
            <a:lvl1pPr algn="l"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64928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3352800" cy="228600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64928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553200"/>
            <a:ext cx="3581400" cy="304800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3810000" cy="304800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0" y="6492875"/>
            <a:ext cx="37338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6477000"/>
            <a:ext cx="3352800" cy="381000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553200"/>
            <a:ext cx="3581400" cy="304800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6492875"/>
            <a:ext cx="34290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vi-V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613525"/>
            <a:ext cx="3429000" cy="24447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381000"/>
            <a:ext cx="3962400" cy="5867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19600" y="381000"/>
            <a:ext cx="3962400" cy="2857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19600" y="3390900"/>
            <a:ext cx="3962400" cy="2857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492875"/>
            <a:ext cx="3962400" cy="365125"/>
          </a:xfrm>
          <a:ln/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vi-VN" smtClean="0"/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0B209FC3-2C1F-4130-BF5B-A2CF8162086E}" type="datetimeFigureOut">
              <a:rPr lang="en-US" smtClean="0"/>
              <a:pPr/>
              <a:t>23-Apr-15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DD2DD8C7-E145-49A2-87B0-FE23F5123F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343" name="Picture 6" descr="Picture1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175" y="0"/>
            <a:ext cx="91376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Bài</a:t>
            </a:r>
            <a:r>
              <a:rPr lang="en-US" dirty="0" smtClean="0"/>
              <a:t> 14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spcBef>
                <a:spcPts val="880"/>
              </a:spcBef>
              <a:spcAft>
                <a:spcPts val="0"/>
              </a:spcAft>
              <a:buClr>
                <a:srgbClr val="0070C0"/>
              </a:buClr>
              <a:buSzPct val="25000"/>
              <a:buNone/>
            </a:pPr>
            <a:r>
              <a:rPr lang="en-US" sz="4400" b="1" dirty="0" err="1" smtClean="0">
                <a:solidFill>
                  <a:srgbClr val="0070C0"/>
                </a:solidFill>
                <a:ea typeface="Times New Roman"/>
                <a:cs typeface="Times New Roman"/>
                <a:sym typeface="Times New Roman"/>
              </a:rPr>
              <a:t>Lôgic</a:t>
            </a:r>
            <a:r>
              <a:rPr lang="en-US" sz="4400" b="1" dirty="0" smtClean="0">
                <a:solidFill>
                  <a:srgbClr val="0070C0"/>
                </a:solidFill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4400" b="1" dirty="0">
                <a:solidFill>
                  <a:srgbClr val="0070C0"/>
                </a:solidFill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ea typeface="Times New Roman"/>
                <a:cs typeface="Times New Roman"/>
                <a:sym typeface="Times New Roman"/>
              </a:rPr>
              <a:t>từ</a:t>
            </a:r>
            <a:endParaRPr lang="en-US" sz="4400" b="1" dirty="0">
              <a:solidFill>
                <a:srgbClr val="0070C0"/>
              </a:solidFill>
              <a:ea typeface="Times New Roman"/>
              <a:cs typeface="Times New Roman"/>
              <a:sym typeface="Times New Roman"/>
            </a:endParaRPr>
          </a:p>
          <a:p>
            <a:pPr marL="457200" lvl="1" indent="0">
              <a:spcBef>
                <a:spcPts val="880"/>
              </a:spcBef>
              <a:spcAft>
                <a:spcPts val="0"/>
              </a:spcAft>
              <a:buClr>
                <a:srgbClr val="0070C0"/>
              </a:buClr>
              <a:buSzPct val="25000"/>
              <a:buNone/>
            </a:pPr>
            <a:r>
              <a:rPr lang="en-US" sz="3200" dirty="0">
                <a:solidFill>
                  <a:schemeClr val="dk2"/>
                </a:solidFill>
                <a:ea typeface="Times New Roman"/>
                <a:cs typeface="Times New Roman"/>
              </a:rPr>
              <a:t>Discrete Mathematics </a:t>
            </a:r>
            <a:r>
              <a:rPr lang="en-US" sz="3200" dirty="0">
                <a:solidFill>
                  <a:schemeClr val="dk2"/>
                </a:solidFill>
                <a:ea typeface="Times New Roman"/>
                <a:cs typeface="Times New Roman"/>
                <a:sym typeface="Times New Roman"/>
              </a:rPr>
              <a:t>on 2013-2014</a:t>
            </a:r>
          </a:p>
        </p:txBody>
      </p:sp>
      <p:sp>
        <p:nvSpPr>
          <p:cNvPr id="5" name="Shape 74"/>
          <p:cNvSpPr txBox="1"/>
          <p:nvPr/>
        </p:nvSpPr>
        <p:spPr>
          <a:xfrm>
            <a:off x="5324169" y="5037512"/>
            <a:ext cx="3438831" cy="12311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1371600" marR="0" lvl="3" indent="0" algn="l" rtl="0">
              <a:spcBef>
                <a:spcPts val="0"/>
              </a:spcBef>
              <a:buSzPct val="25000"/>
              <a:buNone/>
            </a:pPr>
            <a:r>
              <a:rPr lang="en-US" sz="1400" b="1" i="0" u="none" strike="noStrike" cap="none" baseline="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Nguyen Van </a:t>
            </a:r>
            <a:r>
              <a:rPr lang="en-US" sz="1400" b="1" i="0" u="none" strike="noStrike" cap="none" baseline="0" dirty="0" err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Hieu</a:t>
            </a:r>
            <a:endParaRPr lang="en-US" sz="1400" b="1" i="0" u="none" strike="noStrike" cap="none" baseline="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marR="0" lvl="1" indent="0" algn="l" rtl="0">
              <a:buSzPct val="25000"/>
              <a:buNone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400" b="0" i="0" u="none" strike="noStrike" cap="none" baseline="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nformation Technology</a:t>
            </a:r>
            <a:r>
              <a:rPr lang="en-US" sz="1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Faculty</a:t>
            </a:r>
            <a:r>
              <a:rPr lang="en-US" sz="1400" b="0" i="0" u="none" strike="noStrike" cap="none" baseline="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marL="0" marR="0" lvl="0" indent="0" algn="l" rtl="0">
              <a:buSzPct val="25000"/>
              <a:buNone/>
            </a:pPr>
            <a:r>
              <a:rPr lang="en-US" sz="1400" b="0" i="0" u="none" strike="noStrike" cap="none" baseline="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</a:t>
            </a:r>
            <a:r>
              <a:rPr lang="en-US" sz="1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</a:t>
            </a:r>
            <a:r>
              <a:rPr lang="en-US" sz="1400" b="0" i="0" u="none" strike="noStrike" cap="none" baseline="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sz="1400" b="0" i="0" u="none" strike="noStrike" cap="none" baseline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Danang</a:t>
            </a:r>
            <a:r>
              <a:rPr lang="en-US" sz="1400" b="0" i="0" u="none" strike="noStrike" cap="none" baseline="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University of Science and Technology (UD-UST)</a:t>
            </a:r>
          </a:p>
          <a:p>
            <a:endParaRPr lang="en-US" sz="1400" b="0" i="0" u="none" strike="noStrike" cap="none" baseline="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B0F0"/>
                </a:solidFill>
              </a:rPr>
              <a:t>Nội</a:t>
            </a:r>
            <a:r>
              <a:rPr lang="en-US" dirty="0" smtClean="0">
                <a:solidFill>
                  <a:srgbClr val="00B0F0"/>
                </a:solidFill>
              </a:rPr>
              <a:t> dung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162800" cy="4267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800" dirty="0" err="1" smtClean="0"/>
              <a:t>Nhược</a:t>
            </a:r>
            <a:r>
              <a:rPr lang="en-US" sz="2800" dirty="0" smtClean="0"/>
              <a:t> </a:t>
            </a:r>
            <a:r>
              <a:rPr lang="en-US" sz="2800" dirty="0" err="1" smtClean="0"/>
              <a:t>điểm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lôgic</a:t>
            </a:r>
            <a:r>
              <a:rPr lang="en-US" sz="2800" dirty="0" smtClean="0"/>
              <a:t> </a:t>
            </a:r>
            <a:r>
              <a:rPr lang="en-US" sz="2800" dirty="0" err="1" smtClean="0"/>
              <a:t>mệnh</a:t>
            </a:r>
            <a:r>
              <a:rPr lang="en-US" sz="2800" dirty="0" smtClean="0"/>
              <a:t> </a:t>
            </a:r>
            <a:r>
              <a:rPr lang="en-US" sz="2800" dirty="0" err="1" smtClean="0"/>
              <a:t>đề</a:t>
            </a: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err="1" smtClean="0"/>
              <a:t>Lôgic</a:t>
            </a:r>
            <a:r>
              <a:rPr lang="en-US" sz="2800" dirty="0" smtClean="0"/>
              <a:t> </a:t>
            </a:r>
            <a:r>
              <a:rPr lang="en-US" sz="2800" dirty="0" err="1" smtClean="0"/>
              <a:t>vị</a:t>
            </a:r>
            <a:r>
              <a:rPr lang="en-US" sz="2800" dirty="0" smtClean="0"/>
              <a:t> </a:t>
            </a:r>
            <a:r>
              <a:rPr lang="en-US" sz="2800" dirty="0" err="1" smtClean="0"/>
              <a:t>từ</a:t>
            </a: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err="1" smtClean="0"/>
              <a:t>Tầm</a:t>
            </a:r>
            <a:r>
              <a:rPr lang="en-US" sz="2800" dirty="0" smtClean="0"/>
              <a:t> </a:t>
            </a:r>
            <a:r>
              <a:rPr lang="en-US" sz="2800" dirty="0" err="1" smtClean="0"/>
              <a:t>vực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lượng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từ</a:t>
            </a: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err="1" smtClean="0"/>
              <a:t>Thứ</a:t>
            </a:r>
            <a:r>
              <a:rPr lang="en-US" sz="2800" dirty="0" smtClean="0"/>
              <a:t> </a:t>
            </a:r>
            <a:r>
              <a:rPr lang="en-US" sz="2800" dirty="0" err="1" smtClean="0"/>
              <a:t>tự</a:t>
            </a:r>
            <a:r>
              <a:rPr lang="en-US" sz="2800" dirty="0" smtClean="0"/>
              <a:t> </a:t>
            </a:r>
            <a:r>
              <a:rPr lang="en-US" sz="2800" dirty="0" err="1" smtClean="0"/>
              <a:t>ưu</a:t>
            </a:r>
            <a:r>
              <a:rPr lang="en-US" sz="2800" dirty="0" smtClean="0"/>
              <a:t> </a:t>
            </a:r>
            <a:r>
              <a:rPr lang="en-US" sz="2800" dirty="0" err="1" smtClean="0"/>
              <a:t>tiên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lượng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từ</a:t>
            </a: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err="1" smtClean="0"/>
              <a:t>Diễn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ý </a:t>
            </a:r>
            <a:r>
              <a:rPr lang="en-US" sz="2800" dirty="0" err="1" smtClean="0"/>
              <a:t>nghĩa</a:t>
            </a: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err="1" smtClean="0"/>
              <a:t>Hình</a:t>
            </a:r>
            <a:r>
              <a:rPr lang="en-US" sz="2800" dirty="0" smtClean="0"/>
              <a:t> </a:t>
            </a:r>
            <a:r>
              <a:rPr lang="en-US" sz="2800" dirty="0" err="1" smtClean="0"/>
              <a:t>thức</a:t>
            </a:r>
            <a:r>
              <a:rPr lang="en-US" sz="2800" dirty="0" smtClean="0"/>
              <a:t> </a:t>
            </a:r>
            <a:r>
              <a:rPr lang="en-US" sz="2800" dirty="0" err="1" smtClean="0"/>
              <a:t>hóa</a:t>
            </a:r>
            <a:r>
              <a:rPr lang="en-US" sz="2800" dirty="0" smtClean="0"/>
              <a:t> </a:t>
            </a:r>
            <a:r>
              <a:rPr lang="en-US" sz="2800" dirty="0" err="1" smtClean="0"/>
              <a:t>ngôn</a:t>
            </a:r>
            <a:r>
              <a:rPr lang="en-US" sz="2800" dirty="0" smtClean="0"/>
              <a:t> </a:t>
            </a:r>
            <a:r>
              <a:rPr lang="en-US" sz="2800" dirty="0" err="1" smtClean="0"/>
              <a:t>ngữ</a:t>
            </a: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err="1" smtClean="0"/>
              <a:t>Tóm</a:t>
            </a:r>
            <a:r>
              <a:rPr lang="en-US" sz="2800" dirty="0" smtClean="0"/>
              <a:t> </a:t>
            </a:r>
            <a:r>
              <a:rPr lang="en-US" sz="2800" dirty="0" err="1" smtClean="0"/>
              <a:t>tắt</a:t>
            </a:r>
            <a:r>
              <a:rPr lang="en-US" sz="2800" dirty="0" smtClean="0"/>
              <a:t> ý </a:t>
            </a:r>
            <a:r>
              <a:rPr lang="en-US" sz="2800" dirty="0" err="1" smtClean="0"/>
              <a:t>nghĩa</a:t>
            </a:r>
            <a:r>
              <a:rPr lang="en-US" sz="2800" dirty="0" smtClean="0"/>
              <a:t> </a:t>
            </a:r>
            <a:r>
              <a:rPr lang="en-US" sz="2800" dirty="0" err="1" smtClean="0"/>
              <a:t>lượng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từ</a:t>
            </a: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err="1" smtClean="0"/>
              <a:t>Phủ</a:t>
            </a:r>
            <a:r>
              <a:rPr lang="en-US" sz="2800" dirty="0" smtClean="0"/>
              <a:t> </a:t>
            </a:r>
            <a:r>
              <a:rPr lang="en-US" sz="2800" dirty="0" err="1" smtClean="0"/>
              <a:t>định</a:t>
            </a:r>
            <a:r>
              <a:rPr lang="en-US" sz="2800" dirty="0" smtClean="0"/>
              <a:t> </a:t>
            </a:r>
            <a:r>
              <a:rPr lang="en-US" sz="2800" dirty="0" err="1" smtClean="0"/>
              <a:t>lượng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từ</a:t>
            </a:r>
            <a:endParaRPr lang="en-US" sz="2800" dirty="0" smtClean="0"/>
          </a:p>
        </p:txBody>
      </p:sp>
      <p:sp>
        <p:nvSpPr>
          <p:cNvPr id="4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l"/>
            <a:r>
              <a:rPr lang="en-US" sz="3200" b="1" dirty="0" err="1" smtClean="0">
                <a:solidFill>
                  <a:srgbClr val="00B0F0"/>
                </a:solidFill>
              </a:rPr>
              <a:t>Nhược</a:t>
            </a:r>
            <a:r>
              <a:rPr lang="en-US" sz="3200" b="1" dirty="0" smtClean="0">
                <a:solidFill>
                  <a:srgbClr val="00B0F0"/>
                </a:solidFill>
              </a:rPr>
              <a:t> </a:t>
            </a:r>
            <a:r>
              <a:rPr lang="en-US" sz="3200" b="1" dirty="0" err="1" smtClean="0">
                <a:solidFill>
                  <a:srgbClr val="00B0F0"/>
                </a:solidFill>
              </a:rPr>
              <a:t>điểm</a:t>
            </a:r>
            <a:r>
              <a:rPr lang="en-US" sz="3200" b="1" dirty="0" smtClean="0">
                <a:solidFill>
                  <a:srgbClr val="00B0F0"/>
                </a:solidFill>
              </a:rPr>
              <a:t> </a:t>
            </a:r>
            <a:r>
              <a:rPr lang="en-US" sz="3200" b="1" dirty="0" err="1" smtClean="0">
                <a:solidFill>
                  <a:srgbClr val="00B0F0"/>
                </a:solidFill>
              </a:rPr>
              <a:t>lôgic</a:t>
            </a:r>
            <a:r>
              <a:rPr lang="en-US" sz="3200" b="1" dirty="0" smtClean="0">
                <a:solidFill>
                  <a:srgbClr val="00B0F0"/>
                </a:solidFill>
              </a:rPr>
              <a:t> </a:t>
            </a:r>
            <a:r>
              <a:rPr lang="en-US" sz="3200" b="1" dirty="0" err="1" smtClean="0">
                <a:solidFill>
                  <a:srgbClr val="00B0F0"/>
                </a:solidFill>
              </a:rPr>
              <a:t>mênh</a:t>
            </a:r>
            <a:r>
              <a:rPr lang="en-US" sz="3200" b="1" dirty="0" smtClean="0">
                <a:solidFill>
                  <a:srgbClr val="00B0F0"/>
                </a:solidFill>
              </a:rPr>
              <a:t> </a:t>
            </a:r>
            <a:r>
              <a:rPr lang="en-US" sz="3200" b="1" dirty="0" err="1" smtClean="0">
                <a:solidFill>
                  <a:srgbClr val="00B0F0"/>
                </a:solidFill>
              </a:rPr>
              <a:t>đề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biến</a:t>
            </a:r>
            <a:endParaRPr lang="en-US" dirty="0" smtClean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x &gt;3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x = y + 3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gặp</a:t>
            </a:r>
            <a:r>
              <a:rPr lang="en-US" dirty="0" smtClean="0"/>
              <a:t>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tương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đương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sau</a:t>
            </a:r>
            <a:endParaRPr lang="en-US" dirty="0" smtClean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“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gái</a:t>
            </a:r>
            <a:r>
              <a:rPr lang="en-US" dirty="0" smtClean="0"/>
              <a:t>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đẹp</a:t>
            </a:r>
            <a:r>
              <a:rPr lang="en-US" dirty="0" smtClean="0"/>
              <a:t>” </a:t>
            </a:r>
            <a:r>
              <a:rPr lang="en-US" dirty="0" err="1" smtClean="0"/>
              <a:t>và</a:t>
            </a:r>
            <a:r>
              <a:rPr lang="en-US" dirty="0" smtClean="0"/>
              <a:t> “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gái</a:t>
            </a:r>
            <a:r>
              <a:rPr lang="en-US" dirty="0" smtClean="0"/>
              <a:t> </a:t>
            </a:r>
            <a:r>
              <a:rPr lang="en-US" dirty="0" err="1" smtClean="0"/>
              <a:t>đẹp</a:t>
            </a:r>
            <a:r>
              <a:rPr lang="en-US" dirty="0" smtClean="0"/>
              <a:t>”.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“Not all integers are even” and “some integers are even”</a:t>
            </a:r>
            <a:endParaRPr lang="en-US" dirty="0"/>
          </a:p>
        </p:txBody>
      </p:sp>
      <p:sp>
        <p:nvSpPr>
          <p:cNvPr id="7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69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l"/>
            <a:r>
              <a:rPr lang="en-US" sz="3600" b="1" dirty="0" err="1" smtClean="0"/>
              <a:t>Lôgic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vị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từ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err="1" smtClean="0"/>
              <a:t>Khắc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nêu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</a:p>
          <a:p>
            <a:pPr>
              <a:buFont typeface="Wingdings" pitchFamily="2" charset="2"/>
              <a:buChar char="§"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 err="1" smtClean="0">
                <a:solidFill>
                  <a:srgbClr val="FF0000"/>
                </a:solidFill>
              </a:rPr>
              <a:t>Phát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biểu</a:t>
            </a:r>
            <a:r>
              <a:rPr lang="en-US" dirty="0" smtClean="0"/>
              <a:t> x &gt; 3 </a:t>
            </a:r>
            <a:r>
              <a:rPr lang="en-US" dirty="0" err="1" smtClean="0"/>
              <a:t>có</a:t>
            </a:r>
            <a:r>
              <a:rPr lang="en-US" dirty="0" smtClean="0"/>
              <a:t> 2 </a:t>
            </a:r>
            <a:r>
              <a:rPr lang="en-US" dirty="0" err="1" smtClean="0"/>
              <a:t>phần</a:t>
            </a:r>
            <a:endParaRPr lang="en-US" dirty="0" smtClean="0"/>
          </a:p>
          <a:p>
            <a:pPr lvl="1">
              <a:buFont typeface="Wingdings" pitchFamily="2" charset="2"/>
              <a:buChar char="ü"/>
            </a:pPr>
            <a:r>
              <a:rPr lang="en-US" dirty="0" err="1" smtClean="0"/>
              <a:t>Biến</a:t>
            </a:r>
            <a:r>
              <a:rPr lang="en-US" dirty="0" smtClean="0"/>
              <a:t> x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x (x&gt;3),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từ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tả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mối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P(x)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P(2)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P(4)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mện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endParaRPr lang="en-US" dirty="0"/>
          </a:p>
        </p:txBody>
      </p:sp>
      <p:sp>
        <p:nvSpPr>
          <p:cNvPr id="5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182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sz="3600" b="1" dirty="0" err="1"/>
              <a:t>Lôgic</a:t>
            </a:r>
            <a:r>
              <a:rPr lang="en-US" sz="3600" b="1" dirty="0"/>
              <a:t> </a:t>
            </a:r>
            <a:r>
              <a:rPr lang="en-US" sz="3600" b="1" dirty="0" err="1"/>
              <a:t>vị</a:t>
            </a:r>
            <a:r>
              <a:rPr lang="en-US" sz="3600" b="1" dirty="0"/>
              <a:t> </a:t>
            </a:r>
            <a:r>
              <a:rPr lang="en-US" sz="3600" b="1" dirty="0" err="1"/>
              <a:t>từ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3886200" cy="381000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dirty="0" err="1" smtClean="0"/>
              <a:t>Xét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câu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: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“The car Tom is driving is blue”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“The sky is blue”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“The cover of this book is blue”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err="1" smtClean="0"/>
              <a:t>Chúng</a:t>
            </a:r>
            <a:r>
              <a:rPr lang="en-US" sz="2400" dirty="0" smtClean="0"/>
              <a:t> ta </a:t>
            </a:r>
            <a:r>
              <a:rPr lang="en-US" sz="2400" dirty="0" err="1" smtClean="0"/>
              <a:t>có</a:t>
            </a:r>
            <a:r>
              <a:rPr lang="en-US" sz="2400" dirty="0" smtClean="0"/>
              <a:t> 1 </a:t>
            </a:r>
            <a:r>
              <a:rPr lang="en-US" sz="2400" dirty="0" err="1" smtClean="0"/>
              <a:t>vị</a:t>
            </a:r>
            <a:r>
              <a:rPr lang="en-US" sz="2400" dirty="0" smtClean="0"/>
              <a:t> </a:t>
            </a:r>
            <a:r>
              <a:rPr lang="en-US" sz="2400" dirty="0" err="1" smtClean="0"/>
              <a:t>từ</a:t>
            </a:r>
            <a:r>
              <a:rPr lang="en-US" sz="2400" dirty="0" smtClean="0"/>
              <a:t> “Is blue” </a:t>
            </a:r>
            <a:r>
              <a:rPr lang="en-US" sz="2400" dirty="0" err="1" smtClean="0"/>
              <a:t>viết</a:t>
            </a:r>
            <a:r>
              <a:rPr lang="en-US" sz="2400" dirty="0" smtClean="0"/>
              <a:t> </a:t>
            </a:r>
            <a:r>
              <a:rPr lang="en-US" sz="2400" dirty="0" err="1" smtClean="0"/>
              <a:t>tắt</a:t>
            </a:r>
            <a:r>
              <a:rPr lang="en-US" sz="2400" dirty="0" smtClean="0"/>
              <a:t> B.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sz="2400" dirty="0" smtClean="0">
                <a:solidFill>
                  <a:srgbClr val="FF0000"/>
                </a:solidFill>
              </a:rPr>
              <a:t>B(x) </a:t>
            </a:r>
            <a:r>
              <a:rPr lang="en-US" sz="2400" dirty="0" err="1" smtClean="0">
                <a:solidFill>
                  <a:srgbClr val="FF0000"/>
                </a:solidFill>
              </a:rPr>
              <a:t>nghĩa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là</a:t>
            </a:r>
            <a:r>
              <a:rPr lang="en-US" sz="2400" dirty="0" smtClean="0">
                <a:solidFill>
                  <a:srgbClr val="FF0000"/>
                </a:solidFill>
              </a:rPr>
              <a:t> “x is blue”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3886200" cy="381000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dirty="0" err="1" smtClean="0"/>
              <a:t>Biểu</a:t>
            </a:r>
            <a:r>
              <a:rPr lang="en-US" sz="2400" dirty="0" smtClean="0"/>
              <a:t> </a:t>
            </a:r>
            <a:r>
              <a:rPr lang="en-US" sz="2400" dirty="0" err="1" smtClean="0"/>
              <a:t>diễn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câu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B(The car Tom is driving)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B(The sky)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B(The cover of this book)</a:t>
            </a:r>
            <a:endParaRPr lang="en-US" sz="2200" dirty="0"/>
          </a:p>
        </p:txBody>
      </p:sp>
      <p:sp>
        <p:nvSpPr>
          <p:cNvPr id="5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515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sz="3600" b="1" dirty="0" err="1">
                <a:solidFill>
                  <a:srgbClr val="00B0F0"/>
                </a:solidFill>
              </a:rPr>
              <a:t>Lôgic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vị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từ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463925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n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P(x1,x2,…</a:t>
            </a:r>
            <a:r>
              <a:rPr lang="en-US" dirty="0" err="1" smtClean="0"/>
              <a:t>xn</a:t>
            </a:r>
            <a:r>
              <a:rPr lang="en-US" dirty="0" smtClean="0"/>
              <a:t>)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hàm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mệnh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đề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P 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từ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smtClean="0"/>
              <a:t>Vi </a:t>
            </a:r>
            <a:r>
              <a:rPr lang="en-US" dirty="0" err="1" smtClean="0"/>
              <a:t>dụ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463925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1658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44686"/>
            <a:ext cx="3581400" cy="1008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71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x &gt; 3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mệnh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x  &gt; 3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1 </a:t>
            </a:r>
            <a:r>
              <a:rPr lang="en-US" dirty="0" err="1" smtClean="0"/>
              <a:t>mệnh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1 </a:t>
            </a:r>
            <a:r>
              <a:rPr lang="en-US" dirty="0" err="1" smtClean="0"/>
              <a:t>trong</a:t>
            </a:r>
            <a:r>
              <a:rPr lang="en-US" dirty="0" smtClean="0"/>
              <a:t> 2 </a:t>
            </a:r>
            <a:r>
              <a:rPr lang="en-US" dirty="0" err="1" smtClean="0"/>
              <a:t>cách</a:t>
            </a:r>
            <a:r>
              <a:rPr lang="en-US" dirty="0" smtClean="0"/>
              <a:t>: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b="1" dirty="0" err="1" smtClean="0"/>
              <a:t>Cách</a:t>
            </a:r>
            <a:r>
              <a:rPr lang="en-US" b="1" dirty="0" smtClean="0"/>
              <a:t> 1: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 err="1" smtClean="0">
                <a:solidFill>
                  <a:srgbClr val="FF0000"/>
                </a:solidFill>
              </a:rPr>
              <a:t>Gán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giá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cụ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thể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cho</a:t>
            </a:r>
            <a:r>
              <a:rPr lang="en-US" dirty="0" smtClean="0">
                <a:solidFill>
                  <a:srgbClr val="FF0000"/>
                </a:solidFill>
              </a:rPr>
              <a:t> 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b="1" dirty="0" err="1" smtClean="0"/>
              <a:t>Cách</a:t>
            </a:r>
            <a:r>
              <a:rPr lang="en-US" b="1" dirty="0" smtClean="0"/>
              <a:t> 2: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sang </a:t>
            </a:r>
            <a:r>
              <a:rPr lang="en-US" dirty="0" err="1" smtClean="0"/>
              <a:t>dạng</a:t>
            </a:r>
            <a:endParaRPr lang="en-US" dirty="0" smtClean="0"/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There is a number x, for which x &gt; 3</a:t>
            </a:r>
          </a:p>
          <a:p>
            <a:endParaRPr lang="en-US" dirty="0"/>
          </a:p>
        </p:txBody>
      </p:sp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sz="3600" b="1" dirty="0" err="1">
                <a:solidFill>
                  <a:srgbClr val="00B0F0"/>
                </a:solidFill>
              </a:rPr>
              <a:t>Lôgic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vị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từ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8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722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>
                  <a:buFont typeface="Wingdings" pitchFamily="2" charset="2"/>
                  <a:buChar char="§"/>
                </a:pPr>
                <a:r>
                  <a:rPr lang="en-US" dirty="0" smtClean="0"/>
                  <a:t>Gán </a:t>
                </a:r>
                <a:r>
                  <a:rPr lang="en-US" dirty="0" err="1" smtClean="0"/>
                  <a:t>giá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trị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cho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tất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biến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P  </a:t>
                </a:r>
                <a:r>
                  <a:rPr lang="en-US" dirty="0" err="1" smtClean="0"/>
                  <a:t>tạo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mệnh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đề</a:t>
                </a:r>
                <a:endParaRPr lang="en-US" dirty="0" smtClean="0"/>
              </a:p>
              <a:p>
                <a:pPr>
                  <a:buFont typeface="Wingdings" pitchFamily="2" charset="2"/>
                  <a:buChar char="§"/>
                </a:pPr>
                <a:r>
                  <a:rPr lang="en-US" dirty="0" err="1" smtClean="0"/>
                  <a:t>Cách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khác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dùng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các</a:t>
                </a:r>
                <a:r>
                  <a:rPr lang="en-US" dirty="0" smtClean="0"/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lượng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từ</a:t>
                </a:r>
                <a:endParaRPr lang="en-US" dirty="0" smtClean="0">
                  <a:solidFill>
                    <a:srgbClr val="FF0000"/>
                  </a:solidFill>
                </a:endParaRPr>
              </a:p>
              <a:p>
                <a:pPr lvl="1">
                  <a:buFont typeface="Wingdings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: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mọi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∀</m:t>
                    </m:r>
                  </m:oMath>
                </a14:m>
                <a:r>
                  <a:rPr lang="en-US" dirty="0" smtClean="0"/>
                  <a:t> xP(x) = P(x)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T </a:t>
                </a:r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mọi</a:t>
                </a:r>
                <a:r>
                  <a:rPr lang="en-US" dirty="0" smtClean="0"/>
                  <a:t> x</a:t>
                </a:r>
              </a:p>
              <a:p>
                <a:pPr lvl="1">
                  <a:buFont typeface="Wingdings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∃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:  </m:t>
                    </m:r>
                  </m:oMath>
                </a14:m>
                <a:r>
                  <a:rPr lang="en-US" dirty="0" err="1" smtClean="0"/>
                  <a:t>tồn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tại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∃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P (x) = </a:t>
                </a:r>
                <a:r>
                  <a:rPr lang="en-US" dirty="0" err="1" smtClean="0"/>
                  <a:t>tồn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tại</a:t>
                </a:r>
                <a:r>
                  <a:rPr lang="en-US" dirty="0" smtClean="0"/>
                  <a:t> x </a:t>
                </a:r>
                <a:r>
                  <a:rPr lang="en-US" dirty="0" err="1" smtClean="0"/>
                  <a:t>sao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cho</a:t>
                </a:r>
                <a:r>
                  <a:rPr lang="en-US" dirty="0" smtClean="0"/>
                  <a:t> P (x)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T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err="1" smtClean="0"/>
                  <a:t>Cần</a:t>
                </a:r>
                <a:r>
                  <a:rPr lang="en-US" dirty="0" smtClean="0"/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miền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giá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trị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của</a:t>
                </a:r>
                <a:r>
                  <a:rPr lang="en-US" dirty="0" smtClean="0"/>
                  <a:t> x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961" t="-1235" r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b="1" dirty="0" err="1" smtClean="0">
                <a:solidFill>
                  <a:srgbClr val="FF0000"/>
                </a:solidFill>
              </a:rPr>
              <a:t>Miền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giá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trị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err="1" smtClean="0"/>
              <a:t>Mệnh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T </a:t>
            </a:r>
            <a:r>
              <a:rPr lang="en-US" dirty="0" err="1" smtClean="0"/>
              <a:t>hoặc</a:t>
            </a:r>
            <a:r>
              <a:rPr lang="en-US" dirty="0" smtClean="0"/>
              <a:t> F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miền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sz="3600" b="1" dirty="0" err="1">
                <a:solidFill>
                  <a:srgbClr val="00B0F0"/>
                </a:solidFill>
              </a:rPr>
              <a:t>Lôgic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vị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từ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8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240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>
                  <a:buFont typeface="Wingdings" pitchFamily="2" charset="2"/>
                  <a:buChar char="q"/>
                </a:pPr>
                <a:r>
                  <a:rPr lang="en-US" dirty="0" err="1" smtClean="0"/>
                  <a:t>Mọi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sinh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công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nghê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thông</a:t>
                </a:r>
                <a:r>
                  <a:rPr lang="en-US" dirty="0" smtClean="0"/>
                  <a:t> tin </a:t>
                </a:r>
                <a:r>
                  <a:rPr lang="en-US" dirty="0" err="1" smtClean="0"/>
                  <a:t>phải</a:t>
                </a:r>
                <a:r>
                  <a:rPr lang="en-US" dirty="0" smtClean="0"/>
                  <a:t> học </a:t>
                </a:r>
                <a:r>
                  <a:rPr lang="en-US" dirty="0" err="1" smtClean="0"/>
                  <a:t>toán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rạc</a:t>
                </a:r>
                <a:endParaRPr lang="en-US" dirty="0" smtClean="0"/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smtClean="0"/>
                  <a:t>P(x) = “x </a:t>
                </a:r>
                <a:r>
                  <a:rPr lang="en-US" dirty="0" err="1" smtClean="0"/>
                  <a:t>phải</a:t>
                </a:r>
                <a:r>
                  <a:rPr lang="en-US" dirty="0" smtClean="0"/>
                  <a:t> học </a:t>
                </a:r>
                <a:r>
                  <a:rPr lang="en-US" dirty="0" err="1" smtClean="0"/>
                  <a:t>môn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rạc</a:t>
                </a:r>
                <a:r>
                  <a:rPr lang="en-US" dirty="0" smtClean="0"/>
                  <a:t>”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err="1" smtClean="0"/>
                  <a:t>Mệnh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đề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</m:oMath>
                </a14:m>
                <a:r>
                  <a:rPr lang="en-US" dirty="0" smtClean="0"/>
                  <a:t> P(x)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961" t="-1235" r="-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>
                  <a:buFont typeface="Wingdings" pitchFamily="2" charset="2"/>
                  <a:buChar char="q"/>
                </a:pPr>
                <a:r>
                  <a:rPr lang="en-US" dirty="0" err="1" smtClean="0"/>
                  <a:t>Chính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xác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hơn</a:t>
                </a:r>
                <a:endParaRPr lang="en-US" dirty="0" smtClean="0"/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smtClean="0"/>
                  <a:t>S(x) = “x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sinh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cộng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thông</a:t>
                </a:r>
                <a:r>
                  <a:rPr lang="en-US" dirty="0" smtClean="0"/>
                  <a:t> tin”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smtClean="0"/>
                  <a:t>P(x) = “x </a:t>
                </a:r>
                <a:r>
                  <a:rPr lang="en-US" dirty="0" err="1" smtClean="0"/>
                  <a:t>phải</a:t>
                </a:r>
                <a:r>
                  <a:rPr lang="en-US" dirty="0" smtClean="0"/>
                  <a:t> học </a:t>
                </a:r>
                <a:r>
                  <a:rPr lang="en-US" dirty="0" err="1" smtClean="0"/>
                  <a:t>môn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rạc</a:t>
                </a:r>
                <a:r>
                  <a:rPr lang="en-US" dirty="0" smtClean="0"/>
                  <a:t>”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err="1" smtClean="0"/>
                  <a:t>Mệnh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đề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∀</m:t>
                    </m:r>
                  </m:oMath>
                </a14:m>
                <a:r>
                  <a:rPr lang="en-US" dirty="0" smtClean="0"/>
                  <a:t>S(x)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⟶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P(x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l="-2112" t="-1235" r="-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sz="3600" b="1" dirty="0" err="1">
                <a:solidFill>
                  <a:srgbClr val="00B0F0"/>
                </a:solidFill>
              </a:rPr>
              <a:t>Lôgic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vị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từ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8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865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>
                  <a:buFont typeface="Wingdings" pitchFamily="2" charset="2"/>
                  <a:buChar char="q"/>
                </a:pPr>
                <a:r>
                  <a:rPr lang="en-US" dirty="0" smtClean="0"/>
                  <a:t>P(x) = “x&gt;3”</a:t>
                </a:r>
              </a:p>
              <a:p>
                <a:pPr>
                  <a:buFont typeface="Wingdings" pitchFamily="2" charset="2"/>
                  <a:buChar char="ü"/>
                </a:pPr>
                <a:endParaRPr lang="en-US" dirty="0" smtClean="0"/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err="1" smtClean="0"/>
                  <a:t>Miền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giá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trị</a:t>
                </a:r>
                <a:r>
                  <a:rPr lang="en-US" dirty="0" smtClean="0"/>
                  <a:t> 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endParaRPr lang="en-US" b="0" dirty="0" smtClean="0">
                  <a:ea typeface="Cambria Math"/>
                </a:endParaRPr>
              </a:p>
              <a:p>
                <a:pPr>
                  <a:buFont typeface="Wingdings" pitchFamily="2" charset="2"/>
                  <a:buChar char="ü"/>
                </a:pPr>
                <a:endParaRPr lang="en-US" dirty="0" smtClean="0"/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err="1" smtClean="0"/>
                  <a:t>Mệnh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đề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∃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𝑃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T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961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>
                  <a:buFont typeface="Wingdings" pitchFamily="2" charset="2"/>
                  <a:buChar char="q"/>
                </a:pPr>
                <a:r>
                  <a:rPr lang="en-US" dirty="0" smtClean="0"/>
                  <a:t>Q(x) = “x=x+1”</a:t>
                </a:r>
              </a:p>
              <a:p>
                <a:pPr>
                  <a:buFont typeface="Wingdings" pitchFamily="2" charset="2"/>
                  <a:buChar char="ü"/>
                </a:pPr>
                <a:endParaRPr lang="en-US" dirty="0" smtClean="0"/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err="1" smtClean="0"/>
                  <a:t>Miền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giá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trị</a:t>
                </a:r>
                <a:r>
                  <a:rPr lang="en-US" dirty="0" smtClean="0"/>
                  <a:t> </a:t>
                </a: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>
                  <a:buFont typeface="Wingdings" pitchFamily="2" charset="2"/>
                  <a:buChar char="ü"/>
                </a:pPr>
                <a:endParaRPr lang="en-US" dirty="0" smtClean="0"/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 err="1" smtClean="0"/>
                  <a:t>Mệnh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đề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∃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𝑄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smtClean="0"/>
                  <a:t>F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l="-2112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sz="3600" b="1" dirty="0" err="1">
                <a:solidFill>
                  <a:srgbClr val="00B0F0"/>
                </a:solidFill>
              </a:rPr>
              <a:t>Lôgic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vị</a:t>
            </a: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err="1">
                <a:solidFill>
                  <a:srgbClr val="00B0F0"/>
                </a:solidFill>
              </a:rPr>
              <a:t>từ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9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301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sz="3600" b="1" dirty="0" err="1" smtClean="0">
                <a:solidFill>
                  <a:srgbClr val="00B0F0"/>
                </a:solidFill>
              </a:rPr>
              <a:t>Tầm</a:t>
            </a:r>
            <a:r>
              <a:rPr lang="en-US" sz="3600" b="1" dirty="0" smtClean="0">
                <a:solidFill>
                  <a:srgbClr val="00B0F0"/>
                </a:solidFill>
              </a:rPr>
              <a:t> </a:t>
            </a:r>
            <a:r>
              <a:rPr lang="en-US" sz="3600" b="1" dirty="0" err="1" smtClean="0">
                <a:solidFill>
                  <a:srgbClr val="00B0F0"/>
                </a:solidFill>
              </a:rPr>
              <a:t>vực</a:t>
            </a:r>
            <a:r>
              <a:rPr lang="en-US" sz="3600" b="1" dirty="0" smtClean="0">
                <a:solidFill>
                  <a:srgbClr val="00B0F0"/>
                </a:solidFill>
              </a:rPr>
              <a:t> </a:t>
            </a:r>
            <a:r>
              <a:rPr lang="en-US" sz="3600" b="1" dirty="0" err="1" smtClean="0">
                <a:solidFill>
                  <a:srgbClr val="00B0F0"/>
                </a:solidFill>
              </a:rPr>
              <a:t>của</a:t>
            </a:r>
            <a:r>
              <a:rPr lang="en-US" sz="3600" b="1" dirty="0" smtClean="0">
                <a:solidFill>
                  <a:srgbClr val="00B0F0"/>
                </a:solidFill>
              </a:rPr>
              <a:t> </a:t>
            </a:r>
            <a:r>
              <a:rPr lang="en-US" sz="3600" b="1" dirty="0" err="1" smtClean="0">
                <a:solidFill>
                  <a:srgbClr val="00B0F0"/>
                </a:solidFill>
              </a:rPr>
              <a:t>lượng</a:t>
            </a:r>
            <a:r>
              <a:rPr lang="en-US" sz="3600" b="1" dirty="0" smtClean="0">
                <a:solidFill>
                  <a:srgbClr val="00B0F0"/>
                </a:solidFill>
              </a:rPr>
              <a:t> </a:t>
            </a:r>
            <a:r>
              <a:rPr lang="en-US" sz="3600" b="1" dirty="0" err="1" smtClean="0">
                <a:solidFill>
                  <a:srgbClr val="00B0F0"/>
                </a:solidFill>
              </a:rPr>
              <a:t>từ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[ ] </a:t>
            </a:r>
            <a:r>
              <a:rPr lang="en-US" dirty="0" err="1" smtClean="0"/>
              <a:t>hoặc</a:t>
            </a:r>
            <a:r>
              <a:rPr lang="en-US" dirty="0" smtClean="0"/>
              <a:t> (),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tầm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ngay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/>
              <a:t>Biến</a:t>
            </a:r>
            <a:r>
              <a:rPr lang="en-US" dirty="0" smtClean="0"/>
              <a:t> x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bound </a:t>
            </a:r>
            <a:r>
              <a:rPr lang="en-US" dirty="0" err="1" smtClean="0"/>
              <a:t>nếu</a:t>
            </a:r>
            <a:endParaRPr lang="en-US" dirty="0" smtClean="0"/>
          </a:p>
          <a:p>
            <a:pPr lvl="1">
              <a:buFont typeface="Wingdings" pitchFamily="2" charset="2"/>
              <a:buChar char="ü"/>
            </a:pPr>
            <a:r>
              <a:rPr lang="en-US" dirty="0" err="1" smtClean="0"/>
              <a:t>Biến</a:t>
            </a:r>
            <a:r>
              <a:rPr lang="en-US" dirty="0" smtClean="0"/>
              <a:t> x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endParaRPr lang="en-US" dirty="0" smtClean="0"/>
          </a:p>
          <a:p>
            <a:pPr lvl="1">
              <a:buFont typeface="Wingdings" pitchFamily="2" charset="2"/>
              <a:buChar char="ü"/>
            </a:pPr>
            <a:r>
              <a:rPr lang="en-US" dirty="0" err="1" smtClean="0"/>
              <a:t>Biến</a:t>
            </a:r>
            <a:r>
              <a:rPr lang="en-US" dirty="0" smtClean="0"/>
              <a:t> x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err="1" smtClean="0"/>
              <a:t>Biến</a:t>
            </a:r>
            <a:r>
              <a:rPr lang="en-US" dirty="0" smtClean="0"/>
              <a:t> x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free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bound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𝑥𝑃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b="0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𝑡h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ì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à 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𝑏𝑜𝑢𝑛𝑑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𝑣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à ý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à 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𝑓𝑟𝑒𝑒</m:t>
                    </m:r>
                  </m:oMath>
                </a14:m>
                <a:endParaRPr lang="en-US" dirty="0" smtClean="0">
                  <a:solidFill>
                    <a:srgbClr val="FF0000"/>
                  </a:solidFill>
                  <a:ea typeface="Cambria Math"/>
                </a:endParaRPr>
              </a:p>
              <a:p>
                <a:endParaRPr lang="en-US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(∃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𝑦𝑃</m:t>
                    </m:r>
                    <m:d>
                      <m:d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</m:d>
                    <m:r>
                      <a:rPr lang="en-US" i="1" smtClean="0">
                        <a:latin typeface="Cambria Math"/>
                        <a:ea typeface="Cambria Math"/>
                      </a:rPr>
                      <m:t>∨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b="0" dirty="0" smtClean="0">
                    <a:ea typeface="Cambria Math"/>
                  </a:rPr>
                  <a:t> </a:t>
                </a:r>
                <a:r>
                  <a:rPr lang="en-US" b="0" dirty="0" err="1" smtClean="0">
                    <a:ea typeface="Cambria Math"/>
                  </a:rPr>
                  <a:t>thì</a:t>
                </a:r>
                <a:r>
                  <a:rPr lang="en-US" b="0" dirty="0" smtClean="0">
                    <a:ea typeface="Cambria Math"/>
                  </a:rPr>
                  <a:t> x, y </a:t>
                </a:r>
                <a:r>
                  <a:rPr lang="en-US" b="0" dirty="0" err="1" smtClean="0">
                    <a:ea typeface="Cambria Math"/>
                  </a:rPr>
                  <a:t>trong</a:t>
                </a:r>
                <a:r>
                  <a:rPr lang="en-US" b="0" dirty="0" smtClean="0">
                    <a:ea typeface="Cambria Math"/>
                  </a:rPr>
                  <a:t> P(</a:t>
                </a:r>
                <a:r>
                  <a:rPr lang="en-US" b="0" dirty="0" err="1" smtClean="0">
                    <a:ea typeface="Cambria Math"/>
                  </a:rPr>
                  <a:t>x,y</a:t>
                </a:r>
                <a:r>
                  <a:rPr lang="en-US" b="0" dirty="0" smtClean="0">
                    <a:ea typeface="Cambria Math"/>
                  </a:rPr>
                  <a:t>) </a:t>
                </a:r>
                <a:r>
                  <a:rPr lang="en-US" b="0" dirty="0" err="1" smtClean="0">
                    <a:ea typeface="Cambria Math"/>
                  </a:rPr>
                  <a:t>là</a:t>
                </a:r>
                <a:r>
                  <a:rPr lang="en-US" b="0" dirty="0" smtClean="0">
                    <a:ea typeface="Cambria Math"/>
                  </a:rPr>
                  <a:t> </a:t>
                </a:r>
                <a:r>
                  <a:rPr lang="en-US" b="0" dirty="0" smtClean="0">
                    <a:solidFill>
                      <a:srgbClr val="FF0000"/>
                    </a:solidFill>
                    <a:ea typeface="Cambria Math"/>
                  </a:rPr>
                  <a:t>bound</a:t>
                </a:r>
                <a:r>
                  <a:rPr lang="en-US" b="0" dirty="0" smtClean="0">
                    <a:ea typeface="Cambria Math"/>
                  </a:rPr>
                  <a:t>, </a:t>
                </a:r>
                <a:r>
                  <a:rPr lang="en-US" b="0" dirty="0" err="1" smtClean="0">
                    <a:ea typeface="Cambria Math"/>
                  </a:rPr>
                  <a:t>trong</a:t>
                </a:r>
                <a:r>
                  <a:rPr lang="en-US" b="0" dirty="0" smtClean="0">
                    <a:ea typeface="Cambria Math"/>
                  </a:rPr>
                  <a:t> </a:t>
                </a:r>
                <a:r>
                  <a:rPr lang="en-US" b="0" dirty="0" err="1" smtClean="0">
                    <a:ea typeface="Cambria Math"/>
                  </a:rPr>
                  <a:t>khi</a:t>
                </a:r>
                <a:r>
                  <a:rPr lang="en-US" b="0" dirty="0" smtClean="0">
                    <a:ea typeface="Cambria Math"/>
                  </a:rPr>
                  <a:t> y </a:t>
                </a:r>
                <a:r>
                  <a:rPr lang="en-US" b="0" dirty="0" err="1" smtClean="0">
                    <a:ea typeface="Cambria Math"/>
                  </a:rPr>
                  <a:t>trong</a:t>
                </a:r>
                <a:r>
                  <a:rPr lang="en-US" b="0" dirty="0" smtClean="0">
                    <a:ea typeface="Cambria Math"/>
                  </a:rPr>
                  <a:t> Q(</a:t>
                </a:r>
                <a:r>
                  <a:rPr lang="en-US" b="0" dirty="0" err="1" smtClean="0">
                    <a:ea typeface="Cambria Math"/>
                  </a:rPr>
                  <a:t>x,y</a:t>
                </a:r>
                <a:r>
                  <a:rPr lang="en-US" b="0" dirty="0" smtClean="0">
                    <a:ea typeface="Cambria Math"/>
                  </a:rPr>
                  <a:t>) </a:t>
                </a:r>
                <a:r>
                  <a:rPr lang="en-US" b="0" dirty="0" err="1" smtClean="0">
                    <a:ea typeface="Cambria Math"/>
                  </a:rPr>
                  <a:t>là</a:t>
                </a:r>
                <a:r>
                  <a:rPr lang="en-US" b="0" dirty="0" smtClean="0">
                    <a:ea typeface="Cambria Math"/>
                  </a:rPr>
                  <a:t> </a:t>
                </a:r>
                <a:r>
                  <a:rPr lang="en-US" b="0" dirty="0" smtClean="0">
                    <a:solidFill>
                      <a:srgbClr val="FF0000"/>
                    </a:solidFill>
                    <a:ea typeface="Cambria Math"/>
                  </a:rPr>
                  <a:t>free</a:t>
                </a:r>
              </a:p>
              <a:p>
                <a:endParaRPr lang="en-US" b="0" dirty="0" smtClean="0">
                  <a:ea typeface="Cambria Math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2"/>
                <a:stretch>
                  <a:fillRect l="-2112" t="-617" r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496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sz="3600" b="1" dirty="0" err="1" smtClean="0">
                <a:solidFill>
                  <a:srgbClr val="00B0F0"/>
                </a:solidFill>
              </a:rPr>
              <a:t>Thứ</a:t>
            </a:r>
            <a:r>
              <a:rPr lang="en-US" sz="3600" b="1" dirty="0" smtClean="0">
                <a:solidFill>
                  <a:srgbClr val="00B0F0"/>
                </a:solidFill>
              </a:rPr>
              <a:t> </a:t>
            </a:r>
            <a:r>
              <a:rPr lang="en-US" sz="3600" b="1" dirty="0" err="1" smtClean="0">
                <a:solidFill>
                  <a:srgbClr val="00B0F0"/>
                </a:solidFill>
              </a:rPr>
              <a:t>tự</a:t>
            </a:r>
            <a:r>
              <a:rPr lang="en-US" sz="3600" b="1" dirty="0" smtClean="0">
                <a:solidFill>
                  <a:srgbClr val="00B0F0"/>
                </a:solidFill>
              </a:rPr>
              <a:t> </a:t>
            </a:r>
            <a:r>
              <a:rPr lang="en-US" sz="3600" b="1" dirty="0" err="1" smtClean="0">
                <a:solidFill>
                  <a:srgbClr val="00B0F0"/>
                </a:solidFill>
              </a:rPr>
              <a:t>các</a:t>
            </a:r>
            <a:r>
              <a:rPr lang="en-US" sz="3600" b="1" dirty="0" smtClean="0">
                <a:solidFill>
                  <a:srgbClr val="00B0F0"/>
                </a:solidFill>
              </a:rPr>
              <a:t> </a:t>
            </a:r>
            <a:r>
              <a:rPr lang="en-US" sz="3600" b="1" dirty="0" err="1" smtClean="0">
                <a:solidFill>
                  <a:srgbClr val="00B0F0"/>
                </a:solidFill>
              </a:rPr>
              <a:t>lượng</a:t>
            </a:r>
            <a:r>
              <a:rPr lang="en-US" sz="3600" b="1" dirty="0" smtClean="0">
                <a:solidFill>
                  <a:srgbClr val="00B0F0"/>
                </a:solidFill>
              </a:rPr>
              <a:t> </a:t>
            </a:r>
            <a:r>
              <a:rPr lang="en-US" sz="3600" b="1" dirty="0" err="1" smtClean="0">
                <a:solidFill>
                  <a:srgbClr val="00B0F0"/>
                </a:solidFill>
              </a:rPr>
              <a:t>từ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quan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trọng</a:t>
            </a:r>
            <a:r>
              <a:rPr lang="en-US" dirty="0" smtClean="0">
                <a:solidFill>
                  <a:srgbClr val="FF0000"/>
                </a:solidFill>
              </a:rPr>
              <a:t>,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trừ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“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”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Tất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cả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là</a:t>
            </a:r>
            <a:r>
              <a:rPr lang="en-US" dirty="0" smtClean="0"/>
              <a:t> “</a:t>
            </a: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”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trái</a:t>
            </a:r>
            <a:r>
              <a:rPr lang="en-US" dirty="0" smtClean="0"/>
              <a:t> sang </a:t>
            </a:r>
            <a:r>
              <a:rPr lang="en-US" dirty="0" err="1" smtClean="0"/>
              <a:t>phải</a:t>
            </a:r>
            <a:r>
              <a:rPr lang="en-US" dirty="0" smtClean="0"/>
              <a:t>,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1699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286000"/>
            <a:ext cx="38100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411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sz="3600" b="1" dirty="0" err="1" smtClean="0">
                <a:solidFill>
                  <a:srgbClr val="0070C0"/>
                </a:solidFill>
              </a:rPr>
              <a:t>Diễn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giải</a:t>
            </a:r>
            <a:r>
              <a:rPr lang="en-US" sz="3600" b="1" dirty="0" smtClean="0">
                <a:solidFill>
                  <a:srgbClr val="0070C0"/>
                </a:solidFill>
              </a:rPr>
              <a:t>  ý </a:t>
            </a:r>
            <a:r>
              <a:rPr lang="en-US" sz="3600" b="1" dirty="0" err="1" smtClean="0">
                <a:solidFill>
                  <a:srgbClr val="0070C0"/>
                </a:solidFill>
              </a:rPr>
              <a:t>nghĩa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Ví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dụ</a:t>
            </a:r>
            <a:r>
              <a:rPr lang="en-US" dirty="0" smtClean="0">
                <a:solidFill>
                  <a:srgbClr val="0070C0"/>
                </a:solidFill>
              </a:rPr>
              <a:t> 1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r>
                  <a:rPr lang="en-US" i="1" dirty="0" err="1" smtClean="0">
                    <a:latin typeface="Cambria Math"/>
                    <a:ea typeface="Cambria Math"/>
                  </a:rPr>
                  <a:t>Diễn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giải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phát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biểu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sau</a:t>
                </a:r>
                <a:r>
                  <a:rPr lang="en-US" i="1" dirty="0" smtClean="0">
                    <a:latin typeface="Cambria Math"/>
                    <a:ea typeface="Cambria Math"/>
                  </a:rPr>
                  <a:t>:</a:t>
                </a:r>
              </a:p>
              <a:p>
                <a:pPr marL="0" indent="0">
                  <a:buNone/>
                </a:pPr>
                <a:endParaRPr lang="en-US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∀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∀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, </m:t>
                      </m:r>
                    </m:oMath>
                  </m:oMathPara>
                </a14:m>
                <a:endParaRPr lang="en-US" b="0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∈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ℝ</m:t>
                      </m:r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 x + y = y + x  </a:t>
                </a:r>
                <a:r>
                  <a:rPr lang="en-US" dirty="0" err="1" smtClean="0"/>
                  <a:t>đúng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với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tất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số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thực</a:t>
                </a:r>
                <a:r>
                  <a:rPr lang="en-US" dirty="0" smtClean="0"/>
                  <a:t> x, y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961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Ví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dụ</a:t>
            </a:r>
            <a:r>
              <a:rPr lang="en-US" dirty="0" smtClean="0">
                <a:solidFill>
                  <a:srgbClr val="0070C0"/>
                </a:solidFill>
              </a:rPr>
              <a:t> 2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quarter" idx="4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r>
                  <a:rPr lang="en-US" i="1" dirty="0" err="1" smtClean="0">
                    <a:latin typeface="Cambria Math"/>
                    <a:ea typeface="Cambria Math"/>
                  </a:rPr>
                  <a:t>Diễn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giải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phát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biểu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sau</a:t>
                </a:r>
                <a:r>
                  <a:rPr lang="en-US" i="1" dirty="0" smtClean="0">
                    <a:latin typeface="Cambria Math"/>
                    <a:ea typeface="Cambria Math"/>
                  </a:rPr>
                  <a:t>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∀ </m:t>
                      </m:r>
                      <m:r>
                        <a:rPr lang="en-US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i="1" smtClean="0">
                          <a:latin typeface="Cambria Math"/>
                          <a:ea typeface="Cambria Math"/>
                        </a:rPr>
                        <m:t> ∃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𝑦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=0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, </m:t>
                      </m:r>
                    </m:oMath>
                  </m:oMathPara>
                </a14:m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 ∈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  <a:p>
                <a:endParaRPr lang="en-US" dirty="0" smtClean="0"/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err="1" smtClean="0"/>
                  <a:t>Mọi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số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thức</a:t>
                </a:r>
                <a:r>
                  <a:rPr lang="en-US" dirty="0" smtClean="0"/>
                  <a:t> x, </a:t>
                </a:r>
                <a:r>
                  <a:rPr lang="en-US" dirty="0" err="1" smtClean="0"/>
                  <a:t>tồn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tại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số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thực</a:t>
                </a:r>
                <a:r>
                  <a:rPr lang="en-US" dirty="0" smtClean="0"/>
                  <a:t> y </a:t>
                </a:r>
                <a:r>
                  <a:rPr lang="en-US" dirty="0" err="1" smtClean="0"/>
                  <a:t>thỏa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mãn</a:t>
                </a:r>
                <a:r>
                  <a:rPr lang="en-US" dirty="0" smtClean="0"/>
                  <a:t> x + y = 0</a:t>
                </a:r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l="-2112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889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sz="3600" b="1" dirty="0" err="1" smtClean="0">
                <a:solidFill>
                  <a:srgbClr val="0070C0"/>
                </a:solidFill>
              </a:rPr>
              <a:t>Diễn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giải</a:t>
            </a:r>
            <a:r>
              <a:rPr lang="en-US" sz="3600" b="1" dirty="0" smtClean="0">
                <a:solidFill>
                  <a:srgbClr val="0070C0"/>
                </a:solidFill>
              </a:rPr>
              <a:t>  ý </a:t>
            </a:r>
            <a:r>
              <a:rPr lang="en-US" sz="3600" b="1" dirty="0" err="1" smtClean="0">
                <a:solidFill>
                  <a:srgbClr val="0070C0"/>
                </a:solidFill>
              </a:rPr>
              <a:t>nghĩa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Ví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dụ</a:t>
            </a:r>
            <a:r>
              <a:rPr lang="en-US" dirty="0" smtClean="0">
                <a:solidFill>
                  <a:srgbClr val="0070C0"/>
                </a:solidFill>
              </a:rPr>
              <a:t> 3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2174875"/>
                <a:ext cx="4040188" cy="2549525"/>
              </a:xfr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>
                  <a:buFont typeface="Wingdings" pitchFamily="2" charset="2"/>
                  <a:buChar char="q"/>
                </a:pPr>
                <a:r>
                  <a:rPr lang="en-US" i="1" dirty="0" smtClean="0">
                    <a:latin typeface="Cambria Math"/>
                    <a:ea typeface="Cambria Math"/>
                  </a:rPr>
                  <a:t>Diễn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giải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phát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biểu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sau</a:t>
                </a:r>
                <a:r>
                  <a:rPr lang="en-US" i="1" dirty="0" smtClean="0">
                    <a:latin typeface="Cambria Math"/>
                    <a:ea typeface="Cambria Math"/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)∨∃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𝐶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∧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dirty="0" err="1" smtClean="0"/>
                  <a:t>Trong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đó</a:t>
                </a:r>
                <a:r>
                  <a:rPr lang="en-US" dirty="0" smtClean="0"/>
                  <a:t> </a:t>
                </a:r>
              </a:p>
              <a:p>
                <a:pPr lvl="1">
                  <a:buFont typeface="Arial" pitchFamily="34" charset="0"/>
                  <a:buChar char="•"/>
                </a:pPr>
                <a:r>
                  <a:rPr lang="en-US" sz="1600" dirty="0" smtClean="0"/>
                  <a:t>C(x): x </a:t>
                </a:r>
                <a:r>
                  <a:rPr lang="en-US" sz="1600" dirty="0" err="1" smtClean="0"/>
                  <a:t>có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máy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tính</a:t>
                </a:r>
                <a:endParaRPr lang="en-US" sz="1600" dirty="0" smtClean="0"/>
              </a:p>
              <a:p>
                <a:pPr lvl="1">
                  <a:buFont typeface="Arial" pitchFamily="34" charset="0"/>
                  <a:buChar char="•"/>
                </a:pPr>
                <a:r>
                  <a:rPr lang="en-US" sz="1600" dirty="0" smtClean="0"/>
                  <a:t>F(</a:t>
                </a:r>
                <a:r>
                  <a:rPr lang="en-US" sz="1600" dirty="0" err="1" smtClean="0"/>
                  <a:t>x,y</a:t>
                </a:r>
                <a:r>
                  <a:rPr lang="en-US" sz="1600" dirty="0" smtClean="0"/>
                  <a:t>): x, y </a:t>
                </a:r>
                <a:r>
                  <a:rPr lang="en-US" sz="1600" dirty="0" err="1" smtClean="0"/>
                  <a:t>là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bạn</a:t>
                </a:r>
                <a:endParaRPr lang="en-US" sz="1600" dirty="0" smtClean="0"/>
              </a:p>
              <a:p>
                <a:pPr lvl="1">
                  <a:buFont typeface="Arial" pitchFamily="34" charset="0"/>
                  <a:buChar char="•"/>
                </a:pPr>
                <a:r>
                  <a:rPr lang="en-US" sz="1600" dirty="0" err="1" smtClean="0"/>
                  <a:t>x,y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thuộc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tất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cả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sinh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viên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trong</a:t>
                </a:r>
                <a:r>
                  <a:rPr lang="en-US" sz="1600" dirty="0" smtClean="0"/>
                  <a:t> </a:t>
                </a:r>
                <a:r>
                  <a:rPr lang="en-US" sz="1600" dirty="0" err="1" smtClean="0"/>
                  <a:t>trường</a:t>
                </a:r>
                <a:endParaRPr lang="en-US" sz="1600" dirty="0" smtClean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2174875"/>
                <a:ext cx="4040188" cy="2549525"/>
              </a:xfrm>
              <a:blipFill rotWithShape="1">
                <a:blip r:embed="rId2"/>
                <a:stretch>
                  <a:fillRect l="-2262" t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Ví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dụ</a:t>
            </a:r>
            <a:r>
              <a:rPr lang="en-US" dirty="0" smtClean="0">
                <a:solidFill>
                  <a:srgbClr val="0070C0"/>
                </a:solidFill>
              </a:rPr>
              <a:t> 4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quarter" idx="4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>
                  <a:buFont typeface="Wingdings" pitchFamily="2" charset="2"/>
                  <a:buChar char="q"/>
                </a:pPr>
                <a:r>
                  <a:rPr lang="en-US" i="1" dirty="0" smtClean="0">
                    <a:latin typeface="Cambria Math"/>
                    <a:ea typeface="Cambria Math"/>
                  </a:rPr>
                  <a:t>Diễn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giải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phát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biểu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US" i="1" dirty="0" err="1" smtClean="0">
                    <a:latin typeface="Cambria Math"/>
                    <a:ea typeface="Cambria Math"/>
                  </a:rPr>
                  <a:t>sau</a:t>
                </a:r>
                <a:r>
                  <a:rPr lang="en-US" i="1" dirty="0" smtClean="0">
                    <a:latin typeface="Cambria Math"/>
                    <a:ea typeface="Cambria Math"/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∃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𝑧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(((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)∧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𝑧</m:t>
                    </m:r>
                  </m:oMath>
                </a14:m>
                <a:r>
                  <a:rPr lang="en-US" i="1" dirty="0" smtClean="0">
                    <a:latin typeface="Cambria Math"/>
                    <a:ea typeface="Cambria Math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∧(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𝑧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)) ⟶¬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err="1" smtClean="0"/>
                  <a:t>Trong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đó</a:t>
                </a:r>
                <a:r>
                  <a:rPr lang="en-US" dirty="0" smtClean="0"/>
                  <a:t> </a:t>
                </a:r>
              </a:p>
              <a:p>
                <a:pPr lvl="1">
                  <a:buFont typeface="Arial" pitchFamily="34" charset="0"/>
                  <a:buChar char="•"/>
                </a:pPr>
                <a:r>
                  <a:rPr lang="en-US" dirty="0" smtClean="0"/>
                  <a:t>F(</a:t>
                </a:r>
                <a:r>
                  <a:rPr lang="en-US" dirty="0" err="1" smtClean="0"/>
                  <a:t>x,y</a:t>
                </a:r>
                <a:r>
                  <a:rPr lang="en-US" dirty="0" smtClean="0"/>
                  <a:t>): x, y </a:t>
                </a:r>
                <a:r>
                  <a:rPr lang="en-US" dirty="0" err="1" smtClean="0"/>
                  <a:t>là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bạn</a:t>
                </a:r>
                <a:endParaRPr lang="en-US" dirty="0" smtClean="0"/>
              </a:p>
              <a:p>
                <a:pPr lvl="1">
                  <a:buFont typeface="Arial" pitchFamily="34" charset="0"/>
                  <a:buChar char="•"/>
                </a:pPr>
                <a:r>
                  <a:rPr lang="en-US" dirty="0" err="1" smtClean="0"/>
                  <a:t>x,y</a:t>
                </a:r>
                <a:r>
                  <a:rPr lang="en-US" dirty="0" smtClean="0"/>
                  <a:t>, z </a:t>
                </a:r>
                <a:r>
                  <a:rPr lang="en-US" dirty="0" err="1" smtClean="0"/>
                  <a:t>thuộc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tất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cả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sinh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trong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trường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l="-2413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797" y="4876800"/>
            <a:ext cx="380047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3400" y="4856996"/>
            <a:ext cx="3962400" cy="132343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Với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mọi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x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trường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rgbClr val="C00000"/>
                </a:solidFill>
              </a:rPr>
              <a:t>hoặc</a:t>
            </a:r>
            <a:r>
              <a:rPr lang="en-US" sz="2000" dirty="0"/>
              <a:t> x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rgbClr val="C00000"/>
                </a:solidFill>
              </a:rPr>
              <a:t>hoặc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tồn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tại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y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x, y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bạn</a:t>
            </a:r>
            <a:endParaRPr lang="en-US" sz="2000" dirty="0"/>
          </a:p>
        </p:txBody>
      </p:sp>
      <p:sp>
        <p:nvSpPr>
          <p:cNvPr id="11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610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sz="3600" b="1" dirty="0" err="1" smtClean="0">
                <a:solidFill>
                  <a:srgbClr val="0070C0"/>
                </a:solidFill>
              </a:rPr>
              <a:t>Hình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thức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hóa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ngôn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ngữ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“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Hà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“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Huế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Nha</a:t>
            </a:r>
            <a:r>
              <a:rPr lang="en-US" dirty="0" smtClean="0"/>
              <a:t> Trang ”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 smtClean="0"/>
              <a:t>“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”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67200"/>
            <a:ext cx="3429000" cy="1631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267200"/>
            <a:ext cx="3809999" cy="1631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766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sz="3600" b="1" dirty="0" err="1" smtClean="0">
                <a:solidFill>
                  <a:srgbClr val="0070C0"/>
                </a:solidFill>
              </a:rPr>
              <a:t>Hình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thức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hóa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ngôn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ngữ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3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“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nữ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cha </a:t>
            </a:r>
            <a:r>
              <a:rPr lang="en-US" dirty="0" err="1" smtClean="0"/>
              <a:t>mẹ</a:t>
            </a:r>
            <a:r>
              <a:rPr lang="en-US" dirty="0" smtClean="0"/>
              <a:t>,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mẹ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ai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33800"/>
            <a:ext cx="3886200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214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Tóm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tắt</a:t>
            </a:r>
            <a:r>
              <a:rPr lang="en-US" dirty="0" smtClean="0">
                <a:solidFill>
                  <a:srgbClr val="0070C0"/>
                </a:solidFill>
              </a:rPr>
              <a:t> ý </a:t>
            </a:r>
            <a:r>
              <a:rPr lang="en-US" dirty="0" err="1" smtClean="0">
                <a:solidFill>
                  <a:srgbClr val="0070C0"/>
                </a:solidFill>
              </a:rPr>
              <a:t>nghĩa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của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lượng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từ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096125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789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sz="3600" b="1" dirty="0" err="1" smtClean="0">
                <a:solidFill>
                  <a:srgbClr val="0070C0"/>
                </a:solidFill>
              </a:rPr>
              <a:t>Phủ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định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lượng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từ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solidFill>
            <a:srgbClr val="00B050"/>
          </a:solidFill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Mọi </a:t>
                </a:r>
                <a:r>
                  <a:rPr lang="en-US" dirty="0" err="1" smtClean="0"/>
                  <a:t>sinh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viên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công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nghệ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thông</a:t>
                </a:r>
                <a:r>
                  <a:rPr lang="en-US" dirty="0" smtClean="0"/>
                  <a:t> tin </a:t>
                </a:r>
                <a:r>
                  <a:rPr lang="en-US" dirty="0" err="1" smtClean="0"/>
                  <a:t>đều</a:t>
                </a:r>
                <a:r>
                  <a:rPr lang="en-US" dirty="0" smtClean="0"/>
                  <a:t> học </a:t>
                </a:r>
                <a:r>
                  <a:rPr lang="en-US" dirty="0" err="1" smtClean="0"/>
                  <a:t>môn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toán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rời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rạc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∀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en-US" dirty="0" smtClean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dirty="0" err="1" smtClean="0">
                    <a:ea typeface="Cambria Math"/>
                  </a:rPr>
                  <a:t>Không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phải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mọi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sinh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viên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công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nghệ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thông</a:t>
                </a:r>
                <a:r>
                  <a:rPr lang="en-US" dirty="0" smtClean="0">
                    <a:ea typeface="Cambria Math"/>
                  </a:rPr>
                  <a:t> tin </a:t>
                </a:r>
                <a:r>
                  <a:rPr lang="en-US" dirty="0" err="1" smtClean="0">
                    <a:ea typeface="Cambria Math"/>
                  </a:rPr>
                  <a:t>đều</a:t>
                </a:r>
                <a:r>
                  <a:rPr lang="en-US" dirty="0" smtClean="0">
                    <a:ea typeface="Cambria Math"/>
                  </a:rPr>
                  <a:t> học </a:t>
                </a:r>
                <a:r>
                  <a:rPr lang="en-US" dirty="0" err="1" smtClean="0">
                    <a:ea typeface="Cambria Math"/>
                  </a:rPr>
                  <a:t>môn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toán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rời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rạc</a:t>
                </a:r>
                <a:r>
                  <a:rPr lang="en-US" dirty="0" smtClean="0">
                    <a:ea typeface="Cambria Math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∃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 ¬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/>
                </a:endParaRPr>
              </a:p>
              <a:p>
                <a:pPr marL="0" indent="0">
                  <a:buNone/>
                </a:pPr>
                <a:endParaRPr lang="en-US" b="0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2262" t="-1235" r="-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solidFill>
            <a:srgbClr val="00B050"/>
          </a:solidFill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quarter" idx="4"/>
              </p:nvPr>
            </p:nvSpPr>
            <p:spPr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¬ ∀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tương</a:t>
                </a:r>
                <a:r>
                  <a:rPr lang="en-US" dirty="0" smtClean="0">
                    <a:ea typeface="Cambria Math"/>
                  </a:rPr>
                  <a:t> </a:t>
                </a:r>
                <a:r>
                  <a:rPr lang="en-US" dirty="0" err="1" smtClean="0">
                    <a:ea typeface="Cambria Math"/>
                  </a:rPr>
                  <a:t>đương</a:t>
                </a:r>
                <a:endParaRPr lang="en-US" dirty="0" smtClean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∃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 ¬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en-US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¬∃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ea typeface="Cambria Math"/>
                  </a:rPr>
                  <a:t> </a:t>
                </a:r>
                <a:r>
                  <a:rPr lang="en-US" dirty="0" err="1">
                    <a:ea typeface="Cambria Math"/>
                  </a:rPr>
                  <a:t>tương</a:t>
                </a:r>
                <a:r>
                  <a:rPr lang="en-US" dirty="0">
                    <a:ea typeface="Cambria Math"/>
                  </a:rPr>
                  <a:t> </a:t>
                </a:r>
                <a:r>
                  <a:rPr lang="en-US" dirty="0" err="1">
                    <a:ea typeface="Cambria Math"/>
                  </a:rPr>
                  <a:t>đương</a:t>
                </a:r>
                <a:endParaRPr lang="en-US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∀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 ¬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l="-2112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1"/>
          <p:cNvSpPr txBox="1">
            <a:spLocks noGrp="1"/>
          </p:cNvSpPr>
          <p:nvPr>
            <p:ph type="ftr" idx="11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SzPct val="25000"/>
            </a:pP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Nguyen Van </a:t>
            </a:r>
            <a:r>
              <a:rPr lang="en-US" sz="1200" b="1" i="0" u="none" strike="noStrike" cap="none" baseline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Hieu</a:t>
            </a:r>
            <a:r>
              <a:rPr lang="en-US" sz="1200" b="1" i="0" u="none" strike="noStrike" cap="none" baseline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Discrete Mathematics</a:t>
            </a:r>
            <a:endParaRPr lang="en-US" sz="1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359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90600" y="1219200"/>
            <a:ext cx="6858000" cy="3581400"/>
          </a:xfrm>
          <a:noFill/>
          <a:ln>
            <a:solidFill>
              <a:srgbClr val="FF0000"/>
            </a:solidFill>
          </a:ln>
        </p:spPr>
      </p:pic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2057400" y="4191000"/>
            <a:ext cx="4876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THAT’S ALL; 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181600"/>
            <a:ext cx="61722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NEXT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1451</TotalTime>
  <Words>1317</Words>
  <Application>Microsoft Office PowerPoint</Application>
  <PresentationFormat>On-screen Show (4:3)</PresentationFormat>
  <Paragraphs>178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Theme1</vt:lpstr>
      <vt:lpstr>Bài 14</vt:lpstr>
      <vt:lpstr>Nội dung</vt:lpstr>
      <vt:lpstr>Nhược điểm lôgic mênh đề</vt:lpstr>
      <vt:lpstr>Lôgic vị từ</vt:lpstr>
      <vt:lpstr>Lôgic vị từ</vt:lpstr>
      <vt:lpstr>Lôgic vị từ</vt:lpstr>
      <vt:lpstr>Lôgic vị từ</vt:lpstr>
      <vt:lpstr>Lôgic vị từ</vt:lpstr>
      <vt:lpstr>Lôgic vị từ</vt:lpstr>
      <vt:lpstr>Lôgic vị từ</vt:lpstr>
      <vt:lpstr>Tầm vực của lượng từ</vt:lpstr>
      <vt:lpstr>Thứ tự các lượng từ</vt:lpstr>
      <vt:lpstr>Diễn giải  ý nghĩa </vt:lpstr>
      <vt:lpstr>Diễn giải  ý nghĩa </vt:lpstr>
      <vt:lpstr>Hình thức hóa ngôn ngữ</vt:lpstr>
      <vt:lpstr>Hình thức hóa ngôn ngữ</vt:lpstr>
      <vt:lpstr>Tóm tắt ý nghĩa của lượng từ</vt:lpstr>
      <vt:lpstr>Phủ định lượng từ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7</dc:title>
  <dc:creator>mc</dc:creator>
  <cp:lastModifiedBy>mc</cp:lastModifiedBy>
  <cp:revision>122</cp:revision>
  <dcterms:created xsi:type="dcterms:W3CDTF">2012-10-08T14:55:01Z</dcterms:created>
  <dcterms:modified xsi:type="dcterms:W3CDTF">2015-04-23T08:17:02Z</dcterms:modified>
</cp:coreProperties>
</file>