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6" roundtripDataSignature="AMtx7mjqNSR8+FYoxyaYsENO93I+ISdf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462239-0527-4F0C-A388-8CC7B8B6E21C}">
  <a:tblStyle styleId="{23462239-0527-4F0C-A388-8CC7B8B6E21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12" Type="http://schemas.openxmlformats.org/officeDocument/2006/relationships/slide" Target="slides/slide5.xml"/><Relationship Id="rId56" Type="http://customschemas.google.com/relationships/presentationmetadata" Target="meta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21429f3121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121429f3121_0_6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21429f3121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g121429f3121_0_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21429f3121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g121429f3121_0_8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21429f3121_0_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21429f3121_0_1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121429f3121_0_12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21429f3121_0_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21429f3121_0_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121429f3121_0_13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21429f3121_0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21429f3121_0_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g121429f3121_0_14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21429f3121_0_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21429f3121_0_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121429f3121_0_14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21429f3121_0_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21429f3121_0_1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121429f3121_0_15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21429f3121_0_1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21429f3121_0_1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342900" rtl="0" algn="l">
              <a:spcBef>
                <a:spcPts val="480"/>
              </a:spcBef>
              <a:spcAft>
                <a:spcPts val="0"/>
              </a:spcAft>
              <a:buNone/>
            </a:pPr>
            <a:r>
              <a:t/>
            </a:r>
            <a:endParaRPr/>
          </a:p>
        </p:txBody>
      </p:sp>
      <p:sp>
        <p:nvSpPr>
          <p:cNvPr id="179" name="Google Shape;179;g121429f3121_0_15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21429f3121_0_1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21429f3121_0_1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342900" rtl="0" algn="l">
              <a:spcBef>
                <a:spcPts val="480"/>
              </a:spcBef>
              <a:spcAft>
                <a:spcPts val="0"/>
              </a:spcAft>
              <a:buNone/>
            </a:pPr>
            <a:r>
              <a:t/>
            </a:r>
            <a:endParaRPr/>
          </a:p>
        </p:txBody>
      </p:sp>
      <p:sp>
        <p:nvSpPr>
          <p:cNvPr id="186" name="Google Shape;186;g121429f3121_0_16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21429f3121_0_1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21429f3121_0_1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a:t>Chứng minh:</a:t>
            </a:r>
            <a:endParaRPr/>
          </a:p>
          <a:p>
            <a:pPr indent="0" lvl="0" marL="0" rtl="0" algn="l">
              <a:spcBef>
                <a:spcPts val="0"/>
              </a:spcBef>
              <a:spcAft>
                <a:spcPts val="0"/>
              </a:spcAft>
              <a:buClr>
                <a:schemeClr val="dk1"/>
              </a:buClr>
              <a:buFont typeface="Arial"/>
              <a:buNone/>
            </a:pPr>
            <a:r>
              <a:rPr b="1" lang="en-US"/>
              <a:t>6.</a:t>
            </a:r>
            <a:r>
              <a:rPr lang="en-US"/>
              <a:t>	0 = a</a:t>
            </a:r>
            <a:r>
              <a:rPr b="1" lang="en-US"/>
              <a:t>.</a:t>
            </a:r>
            <a:r>
              <a:rPr lang="en-US"/>
              <a:t>a                                  (tiên đề 5a))</a:t>
            </a:r>
            <a:endParaRPr/>
          </a:p>
          <a:p>
            <a:pPr indent="0" lvl="0" marL="0" rtl="0" algn="l">
              <a:spcBef>
                <a:spcPts val="0"/>
              </a:spcBef>
              <a:spcAft>
                <a:spcPts val="0"/>
              </a:spcAft>
              <a:buClr>
                <a:schemeClr val="dk1"/>
              </a:buClr>
              <a:buFont typeface="Arial"/>
              <a:buNone/>
            </a:pPr>
            <a:r>
              <a:rPr lang="en-US"/>
              <a:t>	= a</a:t>
            </a:r>
            <a:r>
              <a:rPr b="1" lang="en-US"/>
              <a:t>.</a:t>
            </a:r>
            <a:r>
              <a:rPr lang="en-US"/>
              <a:t>(a’+0)	(tiên đề 4b))</a:t>
            </a:r>
            <a:endParaRPr/>
          </a:p>
          <a:p>
            <a:pPr indent="0" lvl="0" marL="0" rtl="0" algn="l">
              <a:spcBef>
                <a:spcPts val="0"/>
              </a:spcBef>
              <a:spcAft>
                <a:spcPts val="0"/>
              </a:spcAft>
              <a:buClr>
                <a:schemeClr val="dk1"/>
              </a:buClr>
              <a:buFont typeface="Arial"/>
              <a:buNone/>
            </a:pPr>
            <a:r>
              <a:rPr lang="en-US"/>
              <a:t>	= (a</a:t>
            </a:r>
            <a:r>
              <a:rPr b="1" lang="en-US"/>
              <a:t>.</a:t>
            </a:r>
            <a:r>
              <a:rPr lang="en-US"/>
              <a:t>a’)+(a</a:t>
            </a:r>
            <a:r>
              <a:rPr b="1" lang="en-US"/>
              <a:t>.</a:t>
            </a:r>
            <a:r>
              <a:rPr lang="en-US"/>
              <a:t>0)	(tiên đề 3a))</a:t>
            </a:r>
            <a:endParaRPr/>
          </a:p>
          <a:p>
            <a:pPr indent="0" lvl="0" marL="0" rtl="0" algn="l">
              <a:spcBef>
                <a:spcPts val="0"/>
              </a:spcBef>
              <a:spcAft>
                <a:spcPts val="0"/>
              </a:spcAft>
              <a:buClr>
                <a:schemeClr val="dk1"/>
              </a:buClr>
              <a:buFont typeface="Arial"/>
              <a:buNone/>
            </a:pPr>
            <a:r>
              <a:rPr lang="en-US"/>
              <a:t>	= 0+(a</a:t>
            </a:r>
            <a:r>
              <a:rPr b="1" lang="en-US"/>
              <a:t>.</a:t>
            </a:r>
            <a:r>
              <a:rPr lang="en-US"/>
              <a:t>0)	(tiên đề 5a))</a:t>
            </a:r>
            <a:endParaRPr/>
          </a:p>
          <a:p>
            <a:pPr indent="0" lvl="0" marL="0" rtl="0" algn="l">
              <a:spcBef>
                <a:spcPts val="0"/>
              </a:spcBef>
              <a:spcAft>
                <a:spcPts val="0"/>
              </a:spcAft>
              <a:buClr>
                <a:schemeClr val="dk1"/>
              </a:buClr>
              <a:buFont typeface="Arial"/>
              <a:buNone/>
            </a:pPr>
            <a:r>
              <a:rPr lang="en-US"/>
              <a:t>	= a</a:t>
            </a:r>
            <a:r>
              <a:rPr b="1" lang="en-US"/>
              <a:t>.</a:t>
            </a:r>
            <a:r>
              <a:rPr lang="en-US"/>
              <a:t>0	(tiên đề 4b)).</a:t>
            </a:r>
            <a:endParaRPr/>
          </a:p>
          <a:p>
            <a:pPr indent="0" lvl="0" marL="0" rtl="0" algn="l">
              <a:spcBef>
                <a:spcPts val="0"/>
              </a:spcBef>
              <a:spcAft>
                <a:spcPts val="0"/>
              </a:spcAft>
              <a:buClr>
                <a:schemeClr val="dk1"/>
              </a:buClr>
              <a:buFont typeface="Arial"/>
              <a:buNone/>
            </a:pPr>
            <a:r>
              <a:rPr b="1" lang="en-US"/>
              <a:t>7.        </a:t>
            </a:r>
            <a:r>
              <a:rPr lang="en-US"/>
              <a:t>a</a:t>
            </a:r>
            <a:r>
              <a:rPr b="1" lang="en-US"/>
              <a:t>	</a:t>
            </a:r>
            <a:r>
              <a:rPr lang="en-US"/>
              <a:t>= a</a:t>
            </a:r>
            <a:r>
              <a:rPr b="1" lang="en-US"/>
              <a:t>.</a:t>
            </a:r>
            <a:r>
              <a:rPr lang="en-US"/>
              <a:t>1 	(tiên đề 4a))</a:t>
            </a:r>
            <a:endParaRPr/>
          </a:p>
          <a:p>
            <a:pPr indent="0" lvl="0" marL="0" rtl="0" algn="l">
              <a:spcBef>
                <a:spcPts val="0"/>
              </a:spcBef>
              <a:spcAft>
                <a:spcPts val="0"/>
              </a:spcAft>
              <a:buClr>
                <a:schemeClr val="dk1"/>
              </a:buClr>
              <a:buFont typeface="Arial"/>
              <a:buNone/>
            </a:pPr>
            <a:r>
              <a:rPr lang="en-US"/>
              <a:t>	= a</a:t>
            </a:r>
            <a:r>
              <a:rPr b="1" lang="en-US"/>
              <a:t>.</a:t>
            </a:r>
            <a:r>
              <a:rPr lang="en-US"/>
              <a:t>(a+a’)	(tiên đề 5b))</a:t>
            </a:r>
            <a:endParaRPr/>
          </a:p>
          <a:p>
            <a:pPr indent="0" lvl="0" marL="0" rtl="0" algn="l">
              <a:spcBef>
                <a:spcPts val="0"/>
              </a:spcBef>
              <a:spcAft>
                <a:spcPts val="0"/>
              </a:spcAft>
              <a:buClr>
                <a:schemeClr val="dk1"/>
              </a:buClr>
              <a:buFont typeface="Arial"/>
              <a:buNone/>
            </a:pPr>
            <a:r>
              <a:rPr lang="en-US"/>
              <a:t>	= (a</a:t>
            </a:r>
            <a:r>
              <a:rPr b="1" lang="en-US"/>
              <a:t>.</a:t>
            </a:r>
            <a:r>
              <a:rPr lang="en-US"/>
              <a:t>a)+(a</a:t>
            </a:r>
            <a:r>
              <a:rPr b="1" lang="en-US"/>
              <a:t>.</a:t>
            </a:r>
            <a:r>
              <a:rPr lang="en-US"/>
              <a:t>a’)	(tiên đề 3a))</a:t>
            </a:r>
            <a:endParaRPr/>
          </a:p>
          <a:p>
            <a:pPr indent="0" lvl="0" marL="0" rtl="0" algn="l">
              <a:spcBef>
                <a:spcPts val="0"/>
              </a:spcBef>
              <a:spcAft>
                <a:spcPts val="0"/>
              </a:spcAft>
              <a:buClr>
                <a:schemeClr val="dk1"/>
              </a:buClr>
              <a:buFont typeface="Arial"/>
              <a:buNone/>
            </a:pPr>
            <a:r>
              <a:rPr lang="en-US"/>
              <a:t>	= (a</a:t>
            </a:r>
            <a:r>
              <a:rPr b="1" lang="en-US"/>
              <a:t>.</a:t>
            </a:r>
            <a:r>
              <a:rPr lang="en-US"/>
              <a:t>a)+0	(tiên đề 5a))</a:t>
            </a:r>
            <a:endParaRPr/>
          </a:p>
          <a:p>
            <a:pPr indent="0" lvl="0" marL="0" rtl="0" algn="l">
              <a:spcBef>
                <a:spcPts val="0"/>
              </a:spcBef>
              <a:spcAft>
                <a:spcPts val="0"/>
              </a:spcAft>
              <a:buClr>
                <a:schemeClr val="dk1"/>
              </a:buClr>
              <a:buFont typeface="Arial"/>
              <a:buNone/>
            </a:pPr>
            <a:r>
              <a:rPr lang="en-US"/>
              <a:t>	= a</a:t>
            </a:r>
            <a:r>
              <a:rPr b="1" lang="en-US"/>
              <a:t>.</a:t>
            </a:r>
            <a:r>
              <a:rPr lang="en-US"/>
              <a:t>a	(tiên đề 4b))</a:t>
            </a:r>
            <a:endParaRPr/>
          </a:p>
          <a:p>
            <a:pPr indent="0" lvl="0" marL="0" rtl="0" algn="l">
              <a:spcBef>
                <a:spcPts val="0"/>
              </a:spcBef>
              <a:spcAft>
                <a:spcPts val="0"/>
              </a:spcAft>
              <a:buClr>
                <a:schemeClr val="dk1"/>
              </a:buClr>
              <a:buFont typeface="Arial"/>
              <a:buNone/>
            </a:pPr>
            <a:r>
              <a:rPr b="1" lang="en-US"/>
              <a:t>8.</a:t>
            </a:r>
            <a:r>
              <a:rPr lang="en-US"/>
              <a:t> Ta chứng minh rằng a’+b’ là bù của a</a:t>
            </a:r>
            <a:r>
              <a:rPr b="1" lang="en-US"/>
              <a:t>.</a:t>
            </a:r>
            <a:r>
              <a:rPr lang="en-US"/>
              <a:t>b bằng cách chứng minh rằng:</a:t>
            </a:r>
            <a:endParaRPr/>
          </a:p>
          <a:p>
            <a:pPr indent="0" lvl="0" marL="0" rtl="0" algn="l">
              <a:spcBef>
                <a:spcPts val="0"/>
              </a:spcBef>
              <a:spcAft>
                <a:spcPts val="0"/>
              </a:spcAft>
              <a:buClr>
                <a:schemeClr val="dk1"/>
              </a:buClr>
              <a:buFont typeface="Arial"/>
              <a:buNone/>
            </a:pPr>
            <a:r>
              <a:rPr lang="en-US"/>
              <a:t>	(a</a:t>
            </a:r>
            <a:r>
              <a:rPr b="1" lang="en-US"/>
              <a:t>.</a:t>
            </a:r>
            <a:r>
              <a:rPr lang="en-US"/>
              <a:t>b)</a:t>
            </a:r>
            <a:r>
              <a:rPr b="1" lang="en-US"/>
              <a:t>.</a:t>
            </a:r>
            <a:r>
              <a:rPr lang="en-US"/>
              <a:t>(a’+b’) = 0 (theo 5a)) và (a</a:t>
            </a:r>
            <a:r>
              <a:rPr b="1" lang="en-US"/>
              <a:t>.</a:t>
            </a:r>
            <a:r>
              <a:rPr lang="en-US"/>
              <a:t>b)+(a’+b’) = 1 (theo 5b)).</a:t>
            </a:r>
            <a:endParaRPr/>
          </a:p>
          <a:p>
            <a:pPr indent="0" lvl="0" marL="0" rtl="0" algn="l">
              <a:spcBef>
                <a:spcPts val="0"/>
              </a:spcBef>
              <a:spcAft>
                <a:spcPts val="0"/>
              </a:spcAft>
              <a:buClr>
                <a:schemeClr val="dk1"/>
              </a:buClr>
              <a:buFont typeface="Arial"/>
              <a:buNone/>
            </a:pPr>
            <a:r>
              <a:rPr lang="en-US"/>
              <a:t>Thật vậy, (a</a:t>
            </a:r>
            <a:r>
              <a:rPr b="1" lang="en-US"/>
              <a:t>.</a:t>
            </a:r>
            <a:r>
              <a:rPr lang="en-US"/>
              <a:t>b)</a:t>
            </a:r>
            <a:r>
              <a:rPr b="1" lang="en-US"/>
              <a:t>.</a:t>
            </a:r>
            <a:r>
              <a:rPr lang="en-US"/>
              <a:t>(a’+b’) = (a</a:t>
            </a:r>
            <a:r>
              <a:rPr b="1" lang="en-US"/>
              <a:t>.</a:t>
            </a:r>
            <a:r>
              <a:rPr lang="en-US"/>
              <a:t>b</a:t>
            </a:r>
            <a:r>
              <a:rPr b="1" lang="en-US"/>
              <a:t>.</a:t>
            </a:r>
            <a:r>
              <a:rPr lang="en-US"/>
              <a:t>a’)+(a</a:t>
            </a:r>
            <a:r>
              <a:rPr b="1" lang="en-US"/>
              <a:t>.</a:t>
            </a:r>
            <a:r>
              <a:rPr lang="en-US"/>
              <a:t>b</a:t>
            </a:r>
            <a:r>
              <a:rPr b="1" lang="en-US"/>
              <a:t>.</a:t>
            </a:r>
            <a:r>
              <a:rPr lang="en-US"/>
              <a:t>b’) = (a</a:t>
            </a:r>
            <a:r>
              <a:rPr b="1" lang="en-US"/>
              <a:t>.</a:t>
            </a:r>
            <a:r>
              <a:rPr lang="en-US"/>
              <a:t>a’</a:t>
            </a:r>
            <a:r>
              <a:rPr b="1" lang="en-US"/>
              <a:t>.</a:t>
            </a:r>
            <a:r>
              <a:rPr lang="en-US"/>
              <a:t>b)+(a</a:t>
            </a:r>
            <a:r>
              <a:rPr b="1" lang="en-US"/>
              <a:t>.</a:t>
            </a:r>
            <a:r>
              <a:rPr lang="en-US"/>
              <a:t>b</a:t>
            </a:r>
            <a:r>
              <a:rPr b="1" lang="en-US"/>
              <a:t>.</a:t>
            </a:r>
            <a:r>
              <a:rPr lang="en-US"/>
              <a:t>b’) = (0</a:t>
            </a:r>
            <a:r>
              <a:rPr b="1" lang="en-US"/>
              <a:t>.</a:t>
            </a:r>
            <a:r>
              <a:rPr lang="en-US"/>
              <a:t>b)+(a</a:t>
            </a:r>
            <a:r>
              <a:rPr b="1" lang="en-US"/>
              <a:t>.</a:t>
            </a:r>
            <a:r>
              <a:rPr lang="en-US"/>
              <a:t>0) = 0+0 = 0,</a:t>
            </a:r>
            <a:endParaRPr/>
          </a:p>
          <a:p>
            <a:pPr indent="0" lvl="0" marL="0" rtl="0" algn="l">
              <a:spcBef>
                <a:spcPts val="0"/>
              </a:spcBef>
              <a:spcAft>
                <a:spcPts val="0"/>
              </a:spcAft>
              <a:buClr>
                <a:schemeClr val="dk1"/>
              </a:buClr>
              <a:buFont typeface="Arial"/>
              <a:buNone/>
            </a:pPr>
            <a:r>
              <a:rPr lang="en-US"/>
              <a:t>               (a</a:t>
            </a:r>
            <a:r>
              <a:rPr b="1" lang="en-US"/>
              <a:t>.</a:t>
            </a:r>
            <a:r>
              <a:rPr lang="en-US"/>
              <a:t>b)+(a’+b’) = (a’+b’)+(a</a:t>
            </a:r>
            <a:r>
              <a:rPr b="1" lang="en-US"/>
              <a:t>.</a:t>
            </a:r>
            <a:r>
              <a:rPr lang="en-US"/>
              <a:t>b) = (a’+b’+a)</a:t>
            </a:r>
            <a:r>
              <a:rPr b="1" lang="en-US"/>
              <a:t>.</a:t>
            </a:r>
            <a:r>
              <a:rPr lang="en-US"/>
              <a:t>(a’+b’+b) = (1+b’)</a:t>
            </a:r>
            <a:r>
              <a:rPr b="1" lang="en-US"/>
              <a:t>.</a:t>
            </a:r>
            <a:r>
              <a:rPr lang="en-US"/>
              <a:t>(a’+1) = 1</a:t>
            </a:r>
            <a:r>
              <a:rPr b="1" lang="en-US"/>
              <a:t>.</a:t>
            </a:r>
            <a:r>
              <a:rPr lang="en-US"/>
              <a:t>1 = 1.</a:t>
            </a:r>
            <a:endParaRPr/>
          </a:p>
          <a:p>
            <a:pPr indent="0" lvl="0" marL="0" rtl="0" algn="l">
              <a:spcBef>
                <a:spcPts val="0"/>
              </a:spcBef>
              <a:spcAft>
                <a:spcPts val="0"/>
              </a:spcAft>
              <a:buClr>
                <a:schemeClr val="dk1"/>
              </a:buClr>
              <a:buFont typeface="Arial"/>
              <a:buNone/>
            </a:pPr>
            <a:r>
              <a:rPr lang="en-US"/>
              <a:t>Vì a</a:t>
            </a:r>
            <a:r>
              <a:rPr b="1" lang="en-US"/>
              <a:t>.</a:t>
            </a:r>
            <a:r>
              <a:rPr lang="en-US"/>
              <a:t>b chỉ có một phần tử bù duy nhất nên (a</a:t>
            </a:r>
            <a:r>
              <a:rPr b="1" lang="en-US"/>
              <a:t>.</a:t>
            </a:r>
            <a:r>
              <a:rPr lang="en-US"/>
              <a:t>b)’ = a’+b’.</a:t>
            </a:r>
            <a:endParaRPr/>
          </a:p>
          <a:p>
            <a:pPr indent="0" lvl="0" marL="0" rtl="0" algn="l">
              <a:spcBef>
                <a:spcPts val="0"/>
              </a:spcBef>
              <a:spcAft>
                <a:spcPts val="0"/>
              </a:spcAft>
              <a:buClr>
                <a:schemeClr val="dk1"/>
              </a:buClr>
              <a:buFont typeface="Arial"/>
              <a:buNone/>
            </a:pPr>
            <a:r>
              <a:rPr b="1" lang="en-US"/>
              <a:t>9.</a:t>
            </a:r>
            <a:r>
              <a:rPr lang="en-US"/>
              <a:t> Có ngay từ tiên đề 5.</a:t>
            </a:r>
            <a:endParaRPr/>
          </a:p>
          <a:p>
            <a:pPr indent="0" lvl="0" marL="0" rtl="0" algn="l">
              <a:spcBef>
                <a:spcPts val="0"/>
              </a:spcBef>
              <a:spcAft>
                <a:spcPts val="0"/>
              </a:spcAft>
              <a:buClr>
                <a:schemeClr val="dk1"/>
              </a:buClr>
              <a:buFont typeface="Arial"/>
              <a:buNone/>
            </a:pPr>
            <a:r>
              <a:rPr b="1" lang="en-US"/>
              <a:t>10.</a:t>
            </a:r>
            <a:r>
              <a:rPr lang="en-US"/>
              <a:t> Có từ các hệ thức 1</a:t>
            </a:r>
            <a:r>
              <a:rPr b="1" lang="en-US"/>
              <a:t>.</a:t>
            </a:r>
            <a:r>
              <a:rPr lang="en-US"/>
              <a:t>0 = 0 và 1+0 = 1.</a:t>
            </a:r>
            <a:endParaRPr/>
          </a:p>
          <a:p>
            <a:pPr indent="0" lvl="0" marL="0" rtl="0" algn="l">
              <a:spcBef>
                <a:spcPts val="0"/>
              </a:spcBef>
              <a:spcAft>
                <a:spcPts val="0"/>
              </a:spcAft>
              <a:buClr>
                <a:schemeClr val="dk1"/>
              </a:buClr>
              <a:buFont typeface="Arial"/>
              <a:buNone/>
            </a:pPr>
            <a:r>
              <a:rPr b="1" lang="en-US"/>
              <a:t>11.</a:t>
            </a:r>
            <a:r>
              <a:rPr lang="en-US"/>
              <a:t> a</a:t>
            </a:r>
            <a:r>
              <a:rPr b="1" lang="en-US"/>
              <a:t>.</a:t>
            </a:r>
            <a:r>
              <a:rPr lang="en-US"/>
              <a:t>(a+b) = (a+0)</a:t>
            </a:r>
            <a:r>
              <a:rPr b="1" lang="en-US"/>
              <a:t>.</a:t>
            </a:r>
            <a:r>
              <a:rPr lang="en-US"/>
              <a:t>(a+b) = a+(0</a:t>
            </a:r>
            <a:r>
              <a:rPr b="1" lang="en-US"/>
              <a:t>.</a:t>
            </a:r>
            <a:r>
              <a:rPr lang="en-US"/>
              <a:t>b) = a+0 = a.</a:t>
            </a:r>
            <a:endParaRPr/>
          </a:p>
          <a:p>
            <a:pPr indent="0" lvl="0" marL="0" rtl="0" algn="l">
              <a:spcBef>
                <a:spcPts val="0"/>
              </a:spcBef>
              <a:spcAft>
                <a:spcPts val="0"/>
              </a:spcAft>
              <a:buClr>
                <a:schemeClr val="dk1"/>
              </a:buClr>
              <a:buFont typeface="Arial"/>
              <a:buNone/>
            </a:pPr>
            <a:r>
              <a:t/>
            </a:r>
            <a:endParaRPr/>
          </a:p>
          <a:p>
            <a:pPr indent="0" lvl="0" marL="342900" rtl="0" algn="l">
              <a:spcBef>
                <a:spcPts val="480"/>
              </a:spcBef>
              <a:spcAft>
                <a:spcPts val="0"/>
              </a:spcAft>
              <a:buNone/>
            </a:pPr>
            <a:r>
              <a:t/>
            </a:r>
            <a:endParaRPr/>
          </a:p>
        </p:txBody>
      </p:sp>
      <p:sp>
        <p:nvSpPr>
          <p:cNvPr id="193" name="Google Shape;193;g121429f3121_0_17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21429f3121_0_1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21429f3121_0_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g121429f3121_0_17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21429f3121_0_1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21429f3121_0_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121429f3121_0_18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21429f3121_0_1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21429f3121_0_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121429f3121_0_18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1429f3121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1429f3121_1_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121429f3121_1_8: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21429f3121_1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21429f3121_1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121429f3121_1_1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21429f3121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21429f3121_1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g121429f3121_1_2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21429f3121_1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21429f3121_1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121429f3121_1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06" name="Google Shape;30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Hai mạch lôgic trong hai hình trên thực hiện cùng một hàm Boole, ta nói đó là hai mạch lôgic tương đương,</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nhưng mạch lôgic thứ hai đơn giản hơn.</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Vấn đề tìm mạch lôgic đơn giản thực hiện một hàm Boole F cho trước gắn liền với vấn đề tìm biểu thức đơn giản nhất biểu diễn hàm ấy. </a:t>
            </a:r>
            <a:endParaRPr/>
          </a:p>
        </p:txBody>
      </p:sp>
      <p:sp>
        <p:nvSpPr>
          <p:cNvPr id="355" name="Google Shape;35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21429f3121_1_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21429f3121_1_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121429f3121_1_4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26" name="Google Shape;42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48" name="Google Shape;44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67" name="Google Shape;46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487" name="Google Shape;487;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507" name="Google Shape;507;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5" name="Google Shape;52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2007\Imagebank\JPEGs07-24-06\ch11\jpeg\11_4_05.jpg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33" name="Google Shape;53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2" name="Google Shape;54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121429f3121_1_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121429f3121_1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0" name="Google Shape;550;g121429f3121_1_7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121429f3121_1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121429f3121_1_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g121429f3121_1_7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21429f3121_1_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21429f3121_1_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121429f3121_1_86: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21429f3121_1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21429f3121_1_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4" name="Google Shape;574;g121429f3121_1_9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582" name="Google Shape;582;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2" name="Google Shape;60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3" name="Google Shape;603;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2007\Imagebank\JPEGs07-24-06\ch11\jpeg\11_4_08.jpg</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612" name="Google Shape;612;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7" name="Google Shape;64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Hiệu quả của một mạch tổ hợp phụ thuộc vào số các cổng và sự bố trí các cổng đó. </a:t>
            </a:r>
            <a:endParaRPr/>
          </a:p>
        </p:txBody>
      </p:sp>
      <p:sp>
        <p:nvSpPr>
          <p:cNvPr id="648" name="Google Shape;648;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0" name="Google Shape;67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p:\msoffice\My Projects\Rosen 6e 2007\Imagebank\JPEGs07-24-06\ch11\jpeg\11_4_09.jpg</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8" name="Google Shape;67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7" name="Google Shape;68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6" name="Google Shape;70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707" name="Google Shape;707;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5" name="Google Shape;715;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án Rời Rạc" type="obj">
  <p:cSld name="OBJECT">
    <p:spTree>
      <p:nvGrpSpPr>
        <p:cNvPr id="16" name="Shape 16"/>
        <p:cNvGrpSpPr/>
        <p:nvPr/>
      </p:nvGrpSpPr>
      <p:grpSpPr>
        <a:xfrm>
          <a:off x="0" y="0"/>
          <a:ext cx="0" cy="0"/>
          <a:chOff x="0" y="0"/>
          <a:chExt cx="0" cy="0"/>
        </a:xfrm>
      </p:grpSpPr>
      <p:sp>
        <p:nvSpPr>
          <p:cNvPr id="17" name="Google Shape;17;p46"/>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46"/>
          <p:cNvSpPr txBox="1"/>
          <p:nvPr>
            <p:ph idx="10" type="dt"/>
          </p:nvPr>
        </p:nvSpPr>
        <p:spPr>
          <a:xfrm>
            <a:off x="3810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i="0" sz="1200" u="none" cap="none" strike="noStrike">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 name="Google Shape;24;p4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5" name="Google Shape;25;p4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6" name="Google Shape;26;p4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27" name="Google Shape;27;p4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28" name="Google Shape;2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7"/>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7"/>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8"/>
          <p:cNvSpPr txBox="1"/>
          <p:nvPr>
            <p:ph idx="11" type="ftr"/>
          </p:nvPr>
        </p:nvSpPr>
        <p:spPr>
          <a:xfrm>
            <a:off x="2667000" y="6477000"/>
            <a:ext cx="3352800" cy="381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8"/>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49"/>
          <p:cNvSpPr txBox="1"/>
          <p:nvPr>
            <p:ph idx="1" type="subTitle"/>
          </p:nvPr>
        </p:nvSpPr>
        <p:spPr>
          <a:xfrm>
            <a:off x="1371600" y="39624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9"/>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49"/>
          <p:cNvSpPr txBox="1"/>
          <p:nvPr>
            <p:ph idx="11" type="ftr"/>
          </p:nvPr>
        </p:nvSpPr>
        <p:spPr>
          <a:xfrm>
            <a:off x="2514600" y="6536938"/>
            <a:ext cx="3429000" cy="27699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42" name="Shape 42"/>
        <p:cNvGrpSpPr/>
        <p:nvPr/>
      </p:nvGrpSpPr>
      <p:grpSpPr>
        <a:xfrm>
          <a:off x="0" y="0"/>
          <a:ext cx="0" cy="0"/>
          <a:chOff x="0" y="0"/>
          <a:chExt cx="0" cy="0"/>
        </a:xfrm>
      </p:grpSpPr>
      <p:sp>
        <p:nvSpPr>
          <p:cNvPr id="43" name="Google Shape;43;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0"/>
          <p:cNvSpPr txBox="1"/>
          <p:nvPr>
            <p:ph idx="11" type="ftr"/>
          </p:nvPr>
        </p:nvSpPr>
        <p:spPr>
          <a:xfrm>
            <a:off x="2971800" y="6492875"/>
            <a:ext cx="35052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0"/>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0" name="Google Shape;50;p51"/>
          <p:cNvSpPr txBox="1"/>
          <p:nvPr>
            <p:ph idx="10" type="dt"/>
          </p:nvPr>
        </p:nvSpPr>
        <p:spPr>
          <a:xfrm>
            <a:off x="228600" y="6492875"/>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1"/>
          <p:cNvSpPr txBox="1"/>
          <p:nvPr>
            <p:ph idx="11" type="ftr"/>
          </p:nvPr>
        </p:nvSpPr>
        <p:spPr>
          <a:xfrm>
            <a:off x="27432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2"/>
          <p:cNvSpPr txBox="1"/>
          <p:nvPr>
            <p:ph idx="11" type="ftr"/>
          </p:nvPr>
        </p:nvSpPr>
        <p:spPr>
          <a:xfrm>
            <a:off x="3048000" y="6553200"/>
            <a:ext cx="38100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3"/>
          <p:cNvSpPr txBox="1"/>
          <p:nvPr>
            <p:ph idx="11" type="ftr"/>
          </p:nvPr>
        </p:nvSpPr>
        <p:spPr>
          <a:xfrm>
            <a:off x="2895600" y="6553200"/>
            <a:ext cx="3581400" cy="304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3"/>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7" name="Google Shape;67;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8" name="Google Shape;6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54"/>
          <p:cNvSpPr txBox="1"/>
          <p:nvPr>
            <p:ph idx="11" type="ftr"/>
          </p:nvPr>
        </p:nvSpPr>
        <p:spPr>
          <a:xfrm>
            <a:off x="2819400" y="6492875"/>
            <a:ext cx="3429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55"/>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imes New Roman"/>
                <a:ea typeface="Times New Roman"/>
                <a:cs typeface="Times New Roman"/>
                <a:sym typeface="Times New Roman"/>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imes New Roman"/>
                <a:ea typeface="Times New Roman"/>
                <a:cs typeface="Times New Roman"/>
                <a:sym typeface="Times New Roman"/>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9pPr>
          </a:lstStyle>
          <a:p/>
        </p:txBody>
      </p:sp>
      <p:sp>
        <p:nvSpPr>
          <p:cNvPr id="74" name="Google Shape;74;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5" name="Google Shape;75;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1" type="ftr"/>
          </p:nvPr>
        </p:nvSpPr>
        <p:spPr>
          <a:xfrm>
            <a:off x="2895600" y="6613525"/>
            <a:ext cx="3429000" cy="244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p:cSld name="Title, Text, and 2 Content">
    <p:spTree>
      <p:nvGrpSpPr>
        <p:cNvPr id="78" name="Shape 78"/>
        <p:cNvGrpSpPr/>
        <p:nvPr/>
      </p:nvGrpSpPr>
      <p:grpSpPr>
        <a:xfrm>
          <a:off x="0" y="0"/>
          <a:ext cx="0" cy="0"/>
          <a:chOff x="0" y="0"/>
          <a:chExt cx="0" cy="0"/>
        </a:xfrm>
      </p:grpSpPr>
      <p:sp>
        <p:nvSpPr>
          <p:cNvPr id="79" name="Google Shape;79;p56"/>
          <p:cNvSpPr txBox="1"/>
          <p:nvPr>
            <p:ph idx="1" type="body"/>
          </p:nvPr>
        </p:nvSpPr>
        <p:spPr>
          <a:xfrm>
            <a:off x="304800" y="381000"/>
            <a:ext cx="3962400" cy="5867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56"/>
          <p:cNvSpPr txBox="1"/>
          <p:nvPr>
            <p:ph idx="2" type="body"/>
          </p:nvPr>
        </p:nvSpPr>
        <p:spPr>
          <a:xfrm>
            <a:off x="4419600" y="3810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6"/>
          <p:cNvSpPr txBox="1"/>
          <p:nvPr>
            <p:ph idx="3" type="body"/>
          </p:nvPr>
        </p:nvSpPr>
        <p:spPr>
          <a:xfrm>
            <a:off x="4419600" y="3390900"/>
            <a:ext cx="3962400" cy="28575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2" name="Google Shape;82;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1" type="ftr"/>
          </p:nvPr>
        </p:nvSpPr>
        <p:spPr>
          <a:xfrm>
            <a:off x="2743200" y="6492875"/>
            <a:ext cx="39624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solidFill>
                  <a:srgbClr val="FF000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6"/>
          <p:cNvSpPr txBox="1"/>
          <p:nvPr>
            <p:ph idx="12" type="sldNum"/>
          </p:nvPr>
        </p:nvSpPr>
        <p:spPr>
          <a:xfrm>
            <a:off x="7010400" y="6492875"/>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1" sz="1200">
                <a:solidFill>
                  <a:srgbClr val="FF0000"/>
                </a:solidFill>
                <a:latin typeface="Times New Roman"/>
                <a:ea typeface="Times New Roman"/>
                <a:cs typeface="Times New Roman"/>
                <a:sym typeface="Times New Roman"/>
              </a:defRPr>
            </a:lvl1pPr>
            <a:lvl2pPr indent="0" lvl="1" marL="0" algn="r">
              <a:spcBef>
                <a:spcPts val="0"/>
              </a:spcBef>
              <a:spcAft>
                <a:spcPts val="0"/>
              </a:spcAft>
              <a:buNone/>
              <a:defRPr b="1" sz="1200">
                <a:solidFill>
                  <a:srgbClr val="FF0000"/>
                </a:solidFill>
                <a:latin typeface="Times New Roman"/>
                <a:ea typeface="Times New Roman"/>
                <a:cs typeface="Times New Roman"/>
                <a:sym typeface="Times New Roman"/>
              </a:defRPr>
            </a:lvl2pPr>
            <a:lvl3pPr indent="0" lvl="2" marL="0" algn="r">
              <a:spcBef>
                <a:spcPts val="0"/>
              </a:spcBef>
              <a:spcAft>
                <a:spcPts val="0"/>
              </a:spcAft>
              <a:buNone/>
              <a:defRPr b="1" sz="1200">
                <a:solidFill>
                  <a:srgbClr val="FF0000"/>
                </a:solidFill>
                <a:latin typeface="Times New Roman"/>
                <a:ea typeface="Times New Roman"/>
                <a:cs typeface="Times New Roman"/>
                <a:sym typeface="Times New Roman"/>
              </a:defRPr>
            </a:lvl3pPr>
            <a:lvl4pPr indent="0" lvl="3" marL="0" algn="r">
              <a:spcBef>
                <a:spcPts val="0"/>
              </a:spcBef>
              <a:spcAft>
                <a:spcPts val="0"/>
              </a:spcAft>
              <a:buNone/>
              <a:defRPr b="1" sz="1200">
                <a:solidFill>
                  <a:srgbClr val="FF0000"/>
                </a:solidFill>
                <a:latin typeface="Times New Roman"/>
                <a:ea typeface="Times New Roman"/>
                <a:cs typeface="Times New Roman"/>
                <a:sym typeface="Times New Roman"/>
              </a:defRPr>
            </a:lvl4pPr>
            <a:lvl5pPr indent="0" lvl="4" marL="0" algn="r">
              <a:spcBef>
                <a:spcPts val="0"/>
              </a:spcBef>
              <a:spcAft>
                <a:spcPts val="0"/>
              </a:spcAft>
              <a:buNone/>
              <a:defRPr b="1" sz="1200">
                <a:solidFill>
                  <a:srgbClr val="FF0000"/>
                </a:solidFill>
                <a:latin typeface="Times New Roman"/>
                <a:ea typeface="Times New Roman"/>
                <a:cs typeface="Times New Roman"/>
                <a:sym typeface="Times New Roman"/>
              </a:defRPr>
            </a:lvl5pPr>
            <a:lvl6pPr indent="0" lvl="5" marL="0" algn="r">
              <a:spcBef>
                <a:spcPts val="0"/>
              </a:spcBef>
              <a:spcAft>
                <a:spcPts val="0"/>
              </a:spcAft>
              <a:buNone/>
              <a:defRPr b="1" sz="1200">
                <a:solidFill>
                  <a:srgbClr val="FF0000"/>
                </a:solidFill>
                <a:latin typeface="Times New Roman"/>
                <a:ea typeface="Times New Roman"/>
                <a:cs typeface="Times New Roman"/>
                <a:sym typeface="Times New Roman"/>
              </a:defRPr>
            </a:lvl6pPr>
            <a:lvl7pPr indent="0" lvl="6" marL="0" algn="r">
              <a:spcBef>
                <a:spcPts val="0"/>
              </a:spcBef>
              <a:spcAft>
                <a:spcPts val="0"/>
              </a:spcAft>
              <a:buNone/>
              <a:defRPr b="1" sz="1200">
                <a:solidFill>
                  <a:srgbClr val="FF0000"/>
                </a:solidFill>
                <a:latin typeface="Times New Roman"/>
                <a:ea typeface="Times New Roman"/>
                <a:cs typeface="Times New Roman"/>
                <a:sym typeface="Times New Roman"/>
              </a:defRPr>
            </a:lvl7pPr>
            <a:lvl8pPr indent="0" lvl="7" marL="0" algn="r">
              <a:spcBef>
                <a:spcPts val="0"/>
              </a:spcBef>
              <a:spcAft>
                <a:spcPts val="0"/>
              </a:spcAft>
              <a:buNone/>
              <a:defRPr b="1" sz="1200">
                <a:solidFill>
                  <a:srgbClr val="FF0000"/>
                </a:solidFill>
                <a:latin typeface="Times New Roman"/>
                <a:ea typeface="Times New Roman"/>
                <a:cs typeface="Times New Roman"/>
                <a:sym typeface="Times New Roman"/>
              </a:defRPr>
            </a:lvl8pPr>
            <a:lvl9pPr indent="0" lvl="8" marL="0" algn="r">
              <a:spcBef>
                <a:spcPts val="0"/>
              </a:spcBef>
              <a:spcAft>
                <a:spcPts val="0"/>
              </a:spcAft>
              <a:buNone/>
              <a:defRPr b="1" sz="1200">
                <a:solidFill>
                  <a:srgbClr val="FF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blipFill>
          <a:blip r:embed="rId2">
            <a:alphaModFix/>
          </a:blip>
          <a:stretch>
            <a:fillRect/>
          </a:stretch>
        </a:blipFill>
      </p:bgPr>
    </p:bg>
    <p:spTree>
      <p:nvGrpSpPr>
        <p:cNvPr id="93" name="Shape 93"/>
        <p:cNvGrpSpPr/>
        <p:nvPr/>
      </p:nvGrpSpPr>
      <p:grpSpPr>
        <a:xfrm>
          <a:off x="0" y="0"/>
          <a:ext cx="0" cy="0"/>
          <a:chOff x="0" y="0"/>
          <a:chExt cx="0" cy="0"/>
        </a:xfrm>
      </p:grpSpPr>
      <p:sp>
        <p:nvSpPr>
          <p:cNvPr id="94" name="Google Shape;94;g121429f3121_0_94"/>
          <p:cNvSpPr txBox="1"/>
          <p:nvPr>
            <p:ph idx="1" type="body"/>
          </p:nvPr>
        </p:nvSpPr>
        <p:spPr>
          <a:xfrm>
            <a:off x="493776" y="3968497"/>
            <a:ext cx="4978800" cy="1650300"/>
          </a:xfrm>
          <a:prstGeom prst="rect">
            <a:avLst/>
          </a:prstGeom>
          <a:noFill/>
          <a:ln>
            <a:noFill/>
          </a:ln>
        </p:spPr>
        <p:txBody>
          <a:bodyPr anchorCtr="0" anchor="t" bIns="45700" lIns="0" spcFirstLastPara="1" rIns="91425" wrap="square" tIns="45700">
            <a:noAutofit/>
          </a:bodyPr>
          <a:lstStyle>
            <a:lvl1pPr indent="-228600" lvl="0" marL="457200" rtl="0" algn="l">
              <a:lnSpc>
                <a:spcPct val="130000"/>
              </a:lnSpc>
              <a:spcBef>
                <a:spcPts val="600"/>
              </a:spcBef>
              <a:spcAft>
                <a:spcPts val="0"/>
              </a:spcAft>
              <a:buSzPts val="3360"/>
              <a:buNone/>
              <a:defRPr b="0" i="0" sz="2800">
                <a:solidFill>
                  <a:schemeClr val="lt1"/>
                </a:solidFill>
                <a:latin typeface="Georgia"/>
                <a:ea typeface="Georgia"/>
                <a:cs typeface="Georgia"/>
                <a:sym typeface="Georgia"/>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95" name="Google Shape;95;g121429f3121_0_94"/>
          <p:cNvSpPr txBox="1"/>
          <p:nvPr>
            <p:ph type="ctrTitle"/>
          </p:nvPr>
        </p:nvSpPr>
        <p:spPr>
          <a:xfrm>
            <a:off x="493776" y="1239123"/>
            <a:ext cx="4978800" cy="2386500"/>
          </a:xfrm>
          <a:prstGeom prst="rect">
            <a:avLst/>
          </a:prstGeom>
          <a:noFill/>
          <a:ln>
            <a:noFill/>
          </a:ln>
        </p:spPr>
        <p:txBody>
          <a:bodyPr anchorCtr="0" anchor="b" bIns="45700" lIns="0" spcFirstLastPara="1" rIns="91425" wrap="square" tIns="45700">
            <a:noAutofit/>
          </a:bodyPr>
          <a:lstStyle>
            <a:lvl1pPr lvl="0" rtl="0" algn="l">
              <a:lnSpc>
                <a:spcPct val="161111"/>
              </a:lnSpc>
              <a:spcBef>
                <a:spcPts val="0"/>
              </a:spcBef>
              <a:spcAft>
                <a:spcPts val="0"/>
              </a:spcAft>
              <a:buClr>
                <a:schemeClr val="lt1"/>
              </a:buClr>
              <a:buSzPts val="3600"/>
              <a:buFont typeface="Arial"/>
              <a:buNone/>
              <a:defRPr b="1" i="0" sz="3600" cap="none">
                <a:solidFill>
                  <a:schemeClr val="lt1"/>
                </a:solidFill>
                <a:latin typeface="Arial"/>
                <a:ea typeface="Arial"/>
                <a:cs typeface="Arial"/>
                <a:sym typeface="Aria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cxnSp>
        <p:nvCxnSpPr>
          <p:cNvPr id="96" name="Google Shape;96;g121429f3121_0_94"/>
          <p:cNvCxnSpPr/>
          <p:nvPr/>
        </p:nvCxnSpPr>
        <p:spPr>
          <a:xfrm>
            <a:off x="276359" y="2216727"/>
            <a:ext cx="0" cy="3402300"/>
          </a:xfrm>
          <a:prstGeom prst="straightConnector1">
            <a:avLst/>
          </a:prstGeom>
          <a:noFill/>
          <a:ln cap="flat" cmpd="sng" w="28575">
            <a:solidFill>
              <a:schemeClr val="lt1"/>
            </a:solidFill>
            <a:prstDash val="dash"/>
            <a:miter lim="800000"/>
            <a:headEnd len="sm" w="sm" type="none"/>
            <a:tailEnd len="sm" w="sm" type="none"/>
          </a:ln>
        </p:spPr>
      </p:cxnSp>
      <p:pic>
        <p:nvPicPr>
          <p:cNvPr id="97" name="Google Shape;97;g121429f3121_0_94"/>
          <p:cNvPicPr preferRelativeResize="0"/>
          <p:nvPr/>
        </p:nvPicPr>
        <p:blipFill rotWithShape="1">
          <a:blip r:embed="rId3">
            <a:alphaModFix/>
          </a:blip>
          <a:srcRect b="0" l="0" r="0" t="0"/>
          <a:stretch/>
        </p:blipFill>
        <p:spPr>
          <a:xfrm>
            <a:off x="137569" y="129505"/>
            <a:ext cx="5210288" cy="110961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p:cSld name="Divider Slide">
    <p:bg>
      <p:bgPr>
        <a:blipFill>
          <a:blip r:embed="rId2">
            <a:alphaModFix/>
          </a:blip>
          <a:stretch>
            <a:fillRect/>
          </a:stretch>
        </a:blipFill>
      </p:bgPr>
    </p:bg>
    <p:spTree>
      <p:nvGrpSpPr>
        <p:cNvPr id="98" name="Shape 98"/>
        <p:cNvGrpSpPr/>
        <p:nvPr/>
      </p:nvGrpSpPr>
      <p:grpSpPr>
        <a:xfrm>
          <a:off x="0" y="0"/>
          <a:ext cx="0" cy="0"/>
          <a:chOff x="0" y="0"/>
          <a:chExt cx="0" cy="0"/>
        </a:xfrm>
      </p:grpSpPr>
      <p:sp>
        <p:nvSpPr>
          <p:cNvPr id="99" name="Google Shape;99;g121429f3121_0_99"/>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lvl1pPr lvl="0" rtl="0" algn="l">
              <a:lnSpc>
                <a:spcPct val="107407"/>
              </a:lnSpc>
              <a:spcBef>
                <a:spcPts val="0"/>
              </a:spcBef>
              <a:spcAft>
                <a:spcPts val="0"/>
              </a:spcAft>
              <a:buClr>
                <a:schemeClr val="lt1"/>
              </a:buClr>
              <a:buSzPts val="5400"/>
              <a:buFont typeface="Arial"/>
              <a:buNone/>
              <a:defRPr b="1" i="0" sz="3600" cap="none">
                <a:solidFill>
                  <a:schemeClr val="lt1"/>
                </a:solidFill>
                <a:latin typeface="Georgia"/>
                <a:ea typeface="Georgia"/>
                <a:cs typeface="Georgia"/>
                <a:sym typeface="Georgia"/>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0" name="Google Shape;100;g121429f3121_0_99"/>
          <p:cNvSpPr txBox="1"/>
          <p:nvPr>
            <p:ph idx="1" type="subTitle"/>
          </p:nvPr>
        </p:nvSpPr>
        <p:spPr>
          <a:xfrm>
            <a:off x="493776" y="3970337"/>
            <a:ext cx="4978800" cy="2213100"/>
          </a:xfrm>
          <a:prstGeom prst="rect">
            <a:avLst/>
          </a:prstGeom>
          <a:noFill/>
          <a:ln>
            <a:noFill/>
          </a:ln>
        </p:spPr>
        <p:txBody>
          <a:bodyPr anchorCtr="0" anchor="t" bIns="45700" lIns="0" spcFirstLastPara="1" rIns="91425" wrap="square" tIns="45700">
            <a:noAutofit/>
          </a:bodyPr>
          <a:lstStyle>
            <a:lvl1pPr lvl="0" rtl="0" algn="l">
              <a:lnSpc>
                <a:spcPct val="130000"/>
              </a:lnSpc>
              <a:spcBef>
                <a:spcPts val="600"/>
              </a:spcBef>
              <a:spcAft>
                <a:spcPts val="0"/>
              </a:spcAft>
              <a:buSzPts val="3360"/>
              <a:buNone/>
              <a:defRPr b="0" sz="2800">
                <a:solidFill>
                  <a:schemeClr val="lt1"/>
                </a:solidFill>
                <a:latin typeface="Georgia"/>
                <a:ea typeface="Georgia"/>
                <a:cs typeface="Georgia"/>
                <a:sym typeface="Georgia"/>
              </a:defRPr>
            </a:lvl1pPr>
            <a:lvl2pPr lvl="1" rtl="0" algn="ctr">
              <a:lnSpc>
                <a:spcPct val="130000"/>
              </a:lnSpc>
              <a:spcBef>
                <a:spcPts val="600"/>
              </a:spcBef>
              <a:spcAft>
                <a:spcPts val="0"/>
              </a:spcAft>
              <a:buSzPts val="2400"/>
              <a:buNone/>
              <a:defRPr sz="2000"/>
            </a:lvl2pPr>
            <a:lvl3pPr lvl="2" rtl="0" algn="ctr">
              <a:lnSpc>
                <a:spcPct val="130000"/>
              </a:lnSpc>
              <a:spcBef>
                <a:spcPts val="600"/>
              </a:spcBef>
              <a:spcAft>
                <a:spcPts val="0"/>
              </a:spcAft>
              <a:buSzPts val="2160"/>
              <a:buNone/>
              <a:defRPr sz="1800"/>
            </a:lvl3pPr>
            <a:lvl4pPr lvl="3" rtl="0" algn="ctr">
              <a:lnSpc>
                <a:spcPct val="130000"/>
              </a:lnSpc>
              <a:spcBef>
                <a:spcPts val="600"/>
              </a:spcBef>
              <a:spcAft>
                <a:spcPts val="0"/>
              </a:spcAft>
              <a:buSzPts val="1920"/>
              <a:buNone/>
              <a:defRPr sz="1600"/>
            </a:lvl4pPr>
            <a:lvl5pPr lvl="4" rtl="0" algn="ctr">
              <a:lnSpc>
                <a:spcPct val="130000"/>
              </a:lnSpc>
              <a:spcBef>
                <a:spcPts val="600"/>
              </a:spcBef>
              <a:spcAft>
                <a:spcPts val="0"/>
              </a:spcAft>
              <a:buSzPts val="192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blipFill>
          <a:blip r:embed="rId2">
            <a:alphaModFix/>
          </a:blip>
          <a:stretch>
            <a:fillRect/>
          </a:stretch>
        </a:blipFill>
      </p:bgPr>
    </p:bg>
    <p:spTree>
      <p:nvGrpSpPr>
        <p:cNvPr id="101" name="Shape 101"/>
        <p:cNvGrpSpPr/>
        <p:nvPr/>
      </p:nvGrpSpPr>
      <p:grpSpPr>
        <a:xfrm>
          <a:off x="0" y="0"/>
          <a:ext cx="0" cy="0"/>
          <a:chOff x="0" y="0"/>
          <a:chExt cx="0" cy="0"/>
        </a:xfrm>
      </p:grpSpPr>
      <p:sp>
        <p:nvSpPr>
          <p:cNvPr id="102" name="Google Shape;102;g121429f3121_0_102"/>
          <p:cNvSpPr txBox="1"/>
          <p:nvPr>
            <p:ph type="title"/>
          </p:nvPr>
        </p:nvSpPr>
        <p:spPr>
          <a:xfrm>
            <a:off x="425196" y="1001018"/>
            <a:ext cx="7850100" cy="10896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g121429f3121_0_102"/>
          <p:cNvSpPr txBox="1"/>
          <p:nvPr>
            <p:ph idx="1" type="body"/>
          </p:nvPr>
        </p:nvSpPr>
        <p:spPr>
          <a:xfrm>
            <a:off x="425196" y="2185417"/>
            <a:ext cx="7770000" cy="3968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latin typeface="Times New Roman"/>
                <a:ea typeface="Times New Roman"/>
                <a:cs typeface="Times New Roman"/>
                <a:sym typeface="Times New Roman"/>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04" name="Google Shape;104;g121429f3121_0_102"/>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5" name="Shape 105"/>
        <p:cNvGrpSpPr/>
        <p:nvPr/>
      </p:nvGrpSpPr>
      <p:grpSpPr>
        <a:xfrm>
          <a:off x="0" y="0"/>
          <a:ext cx="0" cy="0"/>
          <a:chOff x="0" y="0"/>
          <a:chExt cx="0" cy="0"/>
        </a:xfrm>
      </p:grpSpPr>
      <p:sp>
        <p:nvSpPr>
          <p:cNvPr id="106" name="Google Shape;106;g121429f3121_0_106"/>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36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7" name="Google Shape;107;g121429f3121_0_10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ble Content" type="twoObj">
  <p:cSld name="TWO_OBJECTS">
    <p:bg>
      <p:bgPr>
        <a:blipFill>
          <a:blip r:embed="rId2">
            <a:alphaModFix/>
          </a:blip>
          <a:stretch>
            <a:fillRect/>
          </a:stretch>
        </a:blipFill>
      </p:bgPr>
    </p:bg>
    <p:spTree>
      <p:nvGrpSpPr>
        <p:cNvPr id="108" name="Shape 108"/>
        <p:cNvGrpSpPr/>
        <p:nvPr/>
      </p:nvGrpSpPr>
      <p:grpSpPr>
        <a:xfrm>
          <a:off x="0" y="0"/>
          <a:ext cx="0" cy="0"/>
          <a:chOff x="0" y="0"/>
          <a:chExt cx="0" cy="0"/>
        </a:xfrm>
      </p:grpSpPr>
      <p:sp>
        <p:nvSpPr>
          <p:cNvPr id="109" name="Google Shape;109;g121429f3121_0_109"/>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0" name="Google Shape;110;g121429f3121_0_109"/>
          <p:cNvSpPr txBox="1"/>
          <p:nvPr>
            <p:ph idx="1" type="body"/>
          </p:nvPr>
        </p:nvSpPr>
        <p:spPr>
          <a:xfrm>
            <a:off x="425196" y="2185416"/>
            <a:ext cx="3792600" cy="39486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1" name="Google Shape;111;g121429f3121_0_109"/>
          <p:cNvSpPr txBox="1"/>
          <p:nvPr>
            <p:ph idx="2" type="body"/>
          </p:nvPr>
        </p:nvSpPr>
        <p:spPr>
          <a:xfrm>
            <a:off x="4389120" y="2185416"/>
            <a:ext cx="3922800" cy="39501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SzPts val="2160"/>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2" name="Google Shape;112;g121429f3121_0_109"/>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g121429f3121_0_114"/>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Clr>
                <a:schemeClr val="dk2"/>
              </a:buClr>
              <a:buSzPts val="18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5" name="Google Shape;115;g121429f3121_0_114"/>
          <p:cNvSpPr txBox="1"/>
          <p:nvPr>
            <p:ph idx="1" type="body"/>
          </p:nvPr>
        </p:nvSpPr>
        <p:spPr>
          <a:xfrm>
            <a:off x="425196" y="2185416"/>
            <a:ext cx="3854100" cy="3933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6" name="Google Shape;116;g121429f3121_0_114"/>
          <p:cNvSpPr txBox="1"/>
          <p:nvPr>
            <p:ph idx="2" type="body"/>
          </p:nvPr>
        </p:nvSpPr>
        <p:spPr>
          <a:xfrm>
            <a:off x="425197" y="2593340"/>
            <a:ext cx="3855300" cy="3535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7" name="Google Shape;117;g121429f3121_0_114"/>
          <p:cNvSpPr txBox="1"/>
          <p:nvPr>
            <p:ph idx="3" type="body"/>
          </p:nvPr>
        </p:nvSpPr>
        <p:spPr>
          <a:xfrm>
            <a:off x="4629150" y="2185416"/>
            <a:ext cx="3854100" cy="379200"/>
          </a:xfrm>
          <a:prstGeom prst="rect">
            <a:avLst/>
          </a:prstGeom>
          <a:noFill/>
          <a:ln>
            <a:noFill/>
          </a:ln>
        </p:spPr>
        <p:txBody>
          <a:bodyPr anchorCtr="0" anchor="t" bIns="45700" lIns="91425" spcFirstLastPara="1" rIns="91425" wrap="square" tIns="45700">
            <a:noAutofit/>
          </a:bodyPr>
          <a:lstStyle>
            <a:lvl1pPr indent="-228600" lvl="0" marL="457200" rtl="0" algn="l">
              <a:lnSpc>
                <a:spcPct val="130000"/>
              </a:lnSpc>
              <a:spcBef>
                <a:spcPts val="600"/>
              </a:spcBef>
              <a:spcAft>
                <a:spcPts val="0"/>
              </a:spcAft>
              <a:buSzPts val="1920"/>
              <a:buNone/>
              <a:defRPr b="1" sz="1600" cap="none">
                <a:solidFill>
                  <a:schemeClr val="dk2"/>
                </a:solidFill>
              </a:defRPr>
            </a:lvl1pPr>
            <a:lvl2pPr indent="-228600" lvl="1" marL="914400" rtl="0" algn="l">
              <a:lnSpc>
                <a:spcPct val="130000"/>
              </a:lnSpc>
              <a:spcBef>
                <a:spcPts val="600"/>
              </a:spcBef>
              <a:spcAft>
                <a:spcPts val="0"/>
              </a:spcAft>
              <a:buSzPts val="2400"/>
              <a:buNone/>
              <a:defRPr b="1" sz="2000"/>
            </a:lvl2pPr>
            <a:lvl3pPr indent="-228600" lvl="2" marL="1371600" rtl="0" algn="l">
              <a:lnSpc>
                <a:spcPct val="130000"/>
              </a:lnSpc>
              <a:spcBef>
                <a:spcPts val="600"/>
              </a:spcBef>
              <a:spcAft>
                <a:spcPts val="0"/>
              </a:spcAft>
              <a:buSzPts val="2160"/>
              <a:buNone/>
              <a:defRPr b="1" sz="1800"/>
            </a:lvl3pPr>
            <a:lvl4pPr indent="-228600" lvl="3" marL="1828800" rtl="0" algn="l">
              <a:lnSpc>
                <a:spcPct val="130000"/>
              </a:lnSpc>
              <a:spcBef>
                <a:spcPts val="600"/>
              </a:spcBef>
              <a:spcAft>
                <a:spcPts val="0"/>
              </a:spcAft>
              <a:buSzPts val="1920"/>
              <a:buNone/>
              <a:defRPr b="1" sz="1600"/>
            </a:lvl4pPr>
            <a:lvl5pPr indent="-228600" lvl="4" marL="2286000" rtl="0" algn="l">
              <a:lnSpc>
                <a:spcPct val="130000"/>
              </a:lnSpc>
              <a:spcBef>
                <a:spcPts val="600"/>
              </a:spcBef>
              <a:spcAft>
                <a:spcPts val="0"/>
              </a:spcAft>
              <a:buSzPts val="192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118" name="Google Shape;118;g121429f3121_0_114"/>
          <p:cNvSpPr txBox="1"/>
          <p:nvPr>
            <p:ph idx="4" type="body"/>
          </p:nvPr>
        </p:nvSpPr>
        <p:spPr>
          <a:xfrm>
            <a:off x="4629150" y="2590800"/>
            <a:ext cx="3854100" cy="3538800"/>
          </a:xfrm>
          <a:prstGeom prst="rect">
            <a:avLst/>
          </a:prstGeom>
          <a:noFill/>
          <a:ln>
            <a:noFill/>
          </a:ln>
        </p:spPr>
        <p:txBody>
          <a:bodyPr anchorCtr="0" anchor="t" bIns="45700" lIns="91425" spcFirstLastPara="1" rIns="91425" wrap="square" tIns="45700">
            <a:noAutofit/>
          </a:bodyPr>
          <a:lstStyle>
            <a:lvl1pPr indent="-365760" lvl="0" marL="457200" rtl="0" algn="l">
              <a:lnSpc>
                <a:spcPct val="130000"/>
              </a:lnSpc>
              <a:spcBef>
                <a:spcPts val="600"/>
              </a:spcBef>
              <a:spcAft>
                <a:spcPts val="0"/>
              </a:spcAft>
              <a:buClr>
                <a:schemeClr val="dk2"/>
              </a:buClr>
              <a:buSzPts val="2160"/>
              <a:buFont typeface="Arial"/>
              <a:buChar char="•"/>
              <a:defRPr>
                <a:solidFill>
                  <a:srgbClr val="333333"/>
                </a:solidFill>
              </a:defRPr>
            </a:lvl1pPr>
            <a:lvl2pPr indent="-365760" lvl="1" marL="914400" rtl="0" algn="l">
              <a:lnSpc>
                <a:spcPct val="130000"/>
              </a:lnSpc>
              <a:spcBef>
                <a:spcPts val="600"/>
              </a:spcBef>
              <a:spcAft>
                <a:spcPts val="0"/>
              </a:spcAft>
              <a:buSzPts val="2160"/>
              <a:buChar char="-"/>
              <a:defRPr/>
            </a:lvl2pPr>
            <a:lvl3pPr indent="-365760" lvl="2" marL="1371600" rtl="0" algn="l">
              <a:lnSpc>
                <a:spcPct val="130000"/>
              </a:lnSpc>
              <a:spcBef>
                <a:spcPts val="600"/>
              </a:spcBef>
              <a:spcAft>
                <a:spcPts val="0"/>
              </a:spcAft>
              <a:buSzPts val="2160"/>
              <a:buChar char="-"/>
              <a:defRPr/>
            </a:lvl3pPr>
            <a:lvl4pPr indent="-365760" lvl="3" marL="1828800" rtl="0" algn="l">
              <a:lnSpc>
                <a:spcPct val="130000"/>
              </a:lnSpc>
              <a:spcBef>
                <a:spcPts val="600"/>
              </a:spcBef>
              <a:spcAft>
                <a:spcPts val="0"/>
              </a:spcAft>
              <a:buSzPts val="2160"/>
              <a:buChar char="-"/>
              <a:defRPr/>
            </a:lvl4pPr>
            <a:lvl5pPr indent="-365760" lvl="4" marL="2286000" rtl="0" algn="l">
              <a:lnSpc>
                <a:spcPct val="130000"/>
              </a:lnSpc>
              <a:spcBef>
                <a:spcPts val="600"/>
              </a:spcBef>
              <a:spcAft>
                <a:spcPts val="0"/>
              </a:spcAft>
              <a:buSzPts val="216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19" name="Google Shape;119;g121429f3121_0_114"/>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rtl="0" algn="r">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0" Type="http://schemas.openxmlformats.org/officeDocument/2006/relationships/theme" Target="../theme/theme3.xml"/><Relationship Id="rId1" Type="http://schemas.openxmlformats.org/officeDocument/2006/relationships/image" Target="../media/image3.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1"/>
                </a:solidFill>
                <a:latin typeface="Times New Roman"/>
                <a:ea typeface="Times New Roman"/>
                <a:cs typeface="Times New Roman"/>
                <a:sym typeface="Times New Roman"/>
              </a:defRPr>
            </a:lvl9pPr>
          </a:lstStyle>
          <a:p/>
        </p:txBody>
      </p:sp>
      <p:sp>
        <p:nvSpPr>
          <p:cNvPr id="11" name="Google Shape;11;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1800" u="none" cap="none" strike="noStrike">
                <a:solidFill>
                  <a:schemeClr val="dk1"/>
                </a:solidFill>
                <a:latin typeface="Times New Roman"/>
                <a:ea typeface="Times New Roman"/>
                <a:cs typeface="Times New Roman"/>
                <a:sym typeface="Times New Roman"/>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888888"/>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Picture1.png" id="15" name="Google Shape;15;p45"/>
          <p:cNvPicPr preferRelativeResize="0"/>
          <p:nvPr/>
        </p:nvPicPr>
        <p:blipFill rotWithShape="1">
          <a:blip r:embed="rId1">
            <a:alphaModFix/>
          </a:blip>
          <a:srcRect b="0" l="0" r="0" t="0"/>
          <a:stretch/>
        </p:blipFill>
        <p:spPr>
          <a:xfrm>
            <a:off x="3175" y="0"/>
            <a:ext cx="913765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5" name="Shape 85"/>
        <p:cNvGrpSpPr/>
        <p:nvPr/>
      </p:nvGrpSpPr>
      <p:grpSpPr>
        <a:xfrm>
          <a:off x="0" y="0"/>
          <a:ext cx="0" cy="0"/>
          <a:chOff x="0" y="0"/>
          <a:chExt cx="0" cy="0"/>
        </a:xfrm>
      </p:grpSpPr>
      <p:sp>
        <p:nvSpPr>
          <p:cNvPr id="86" name="Google Shape;86;g121429f3121_0_86"/>
          <p:cNvSpPr txBox="1"/>
          <p:nvPr>
            <p:ph type="title"/>
          </p:nvPr>
        </p:nvSpPr>
        <p:spPr>
          <a:xfrm>
            <a:off x="425196" y="1499616"/>
            <a:ext cx="7886700" cy="5910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600"/>
              <a:buFont typeface="Georgia"/>
              <a:buNone/>
              <a:defRPr b="0" i="0" sz="3600" u="none" cap="none" strike="noStrike">
                <a:solidFill>
                  <a:schemeClr val="dk2"/>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g121429f3121_0_86"/>
          <p:cNvSpPr txBox="1"/>
          <p:nvPr>
            <p:ph idx="1" type="body"/>
          </p:nvPr>
        </p:nvSpPr>
        <p:spPr>
          <a:xfrm>
            <a:off x="425196" y="2185417"/>
            <a:ext cx="7886700" cy="3968100"/>
          </a:xfrm>
          <a:prstGeom prst="rect">
            <a:avLst/>
          </a:prstGeom>
          <a:noFill/>
          <a:ln>
            <a:noFill/>
          </a:ln>
        </p:spPr>
        <p:txBody>
          <a:bodyPr anchorCtr="0" anchor="t" bIns="45700" lIns="91425" spcFirstLastPara="1" rIns="91425" wrap="square" tIns="45700">
            <a:noAutofit/>
          </a:bodyPr>
          <a:lstStyle>
            <a:lvl1pPr indent="-365760" lvl="0" marL="457200" marR="0" rtl="0" algn="l">
              <a:lnSpc>
                <a:spcPct val="130000"/>
              </a:lnSpc>
              <a:spcBef>
                <a:spcPts val="600"/>
              </a:spcBef>
              <a:spcAft>
                <a:spcPts val="0"/>
              </a:spcAft>
              <a:buClr>
                <a:schemeClr val="dk2"/>
              </a:buClr>
              <a:buSzPts val="2160"/>
              <a:buFont typeface="Arial"/>
              <a:buChar char="•"/>
              <a:defRPr b="0" i="0" sz="1800" u="none" cap="none" strike="noStrike">
                <a:solidFill>
                  <a:schemeClr val="dk1"/>
                </a:solidFill>
                <a:latin typeface="Arial"/>
                <a:ea typeface="Arial"/>
                <a:cs typeface="Arial"/>
                <a:sym typeface="Arial"/>
              </a:defRPr>
            </a:lvl1pPr>
            <a:lvl2pPr indent="-365760" lvl="1" marL="9144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2pPr>
            <a:lvl3pPr indent="-365760" lvl="2" marL="13716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3pPr>
            <a:lvl4pPr indent="-365760" lvl="3" marL="18288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4pPr>
            <a:lvl5pPr indent="-365760" lvl="4" marL="2286000" marR="0" rtl="0" algn="l">
              <a:lnSpc>
                <a:spcPct val="130000"/>
              </a:lnSpc>
              <a:spcBef>
                <a:spcPts val="600"/>
              </a:spcBef>
              <a:spcAft>
                <a:spcPts val="0"/>
              </a:spcAft>
              <a:buClr>
                <a:schemeClr val="dk2"/>
              </a:buClr>
              <a:buSzPts val="2160"/>
              <a:buFont typeface="NTR"/>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8" name="Google Shape;88;g121429f3121_0_86"/>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1" i="0" sz="1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9" name="Google Shape;89;g121429f3121_0_86"/>
          <p:cNvSpPr txBox="1"/>
          <p:nvPr/>
        </p:nvSpPr>
        <p:spPr>
          <a:xfrm>
            <a:off x="5542161" y="217021"/>
            <a:ext cx="2769300" cy="48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Khoa Công Nghệ Thông Tin</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200"/>
              </a:spcBef>
              <a:spcAft>
                <a:spcPts val="0"/>
              </a:spcAft>
              <a:buClr>
                <a:srgbClr val="000000"/>
              </a:buClr>
              <a:buSzPts val="1200"/>
              <a:buFont typeface="Arial"/>
              <a:buNone/>
            </a:pPr>
            <a:r>
              <a:rPr b="1" i="0" lang="en-US" sz="1200" u="none" cap="none" strike="noStrike">
                <a:solidFill>
                  <a:schemeClr val="lt1"/>
                </a:solidFill>
                <a:latin typeface="Arial"/>
                <a:ea typeface="Arial"/>
                <a:cs typeface="Arial"/>
                <a:sym typeface="Arial"/>
              </a:rPr>
              <a:t>TS. Nguyễn Văn Hiệu</a:t>
            </a:r>
            <a:endParaRPr b="1" i="0" sz="1200" u="none" cap="none" strike="noStrike">
              <a:solidFill>
                <a:schemeClr val="lt1"/>
              </a:solidFill>
              <a:latin typeface="Arial"/>
              <a:ea typeface="Arial"/>
              <a:cs typeface="Arial"/>
              <a:sym typeface="Arial"/>
            </a:endParaRPr>
          </a:p>
        </p:txBody>
      </p:sp>
      <p:sp>
        <p:nvSpPr>
          <p:cNvPr id="90" name="Google Shape;90;g121429f3121_0_86"/>
          <p:cNvSpPr/>
          <p:nvPr/>
        </p:nvSpPr>
        <p:spPr>
          <a:xfrm>
            <a:off x="8311897" y="134971"/>
            <a:ext cx="645300" cy="5958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91" name="Google Shape;91;g121429f3121_0_86"/>
          <p:cNvPicPr preferRelativeResize="0"/>
          <p:nvPr/>
        </p:nvPicPr>
        <p:blipFill rotWithShape="1">
          <a:blip r:embed="rId2">
            <a:alphaModFix/>
          </a:blip>
          <a:srcRect b="0" l="0" r="0" t="0"/>
          <a:stretch/>
        </p:blipFill>
        <p:spPr>
          <a:xfrm>
            <a:off x="-102631" y="-33229"/>
            <a:ext cx="4323646" cy="920794"/>
          </a:xfrm>
          <a:prstGeom prst="rect">
            <a:avLst/>
          </a:prstGeom>
          <a:noFill/>
          <a:ln>
            <a:noFill/>
          </a:ln>
        </p:spPr>
      </p:pic>
      <p:pic>
        <p:nvPicPr>
          <p:cNvPr descr="A close up of a sign&#10;&#10;Description automatically generated" id="92" name="Google Shape;92;g121429f3121_0_86"/>
          <p:cNvPicPr preferRelativeResize="0"/>
          <p:nvPr/>
        </p:nvPicPr>
        <p:blipFill rotWithShape="1">
          <a:blip r:embed="rId3">
            <a:alphaModFix/>
          </a:blip>
          <a:srcRect b="0" l="0" r="0" t="0"/>
          <a:stretch/>
        </p:blipFill>
        <p:spPr>
          <a:xfrm>
            <a:off x="8311555" y="140531"/>
            <a:ext cx="702733" cy="6223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4"/>
    <p:sldLayoutId id="2147483662" r:id="rId5"/>
    <p:sldLayoutId id="2147483663" r:id="rId6"/>
    <p:sldLayoutId id="2147483664" r:id="rId7"/>
    <p:sldLayoutId id="2147483665" r:id="rId8"/>
    <p:sldLayoutId id="214748366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26.png"/><Relationship Id="rId6"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4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6.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0.png"/><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21429f3121_0_68"/>
          <p:cNvSpPr txBox="1"/>
          <p:nvPr>
            <p:ph type="ctrTitle"/>
          </p:nvPr>
        </p:nvSpPr>
        <p:spPr>
          <a:xfrm>
            <a:off x="510473" y="1804112"/>
            <a:ext cx="5619900" cy="2020500"/>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chemeClr val="lt1"/>
              </a:buClr>
              <a:buSzPts val="3600"/>
              <a:buFont typeface="Arial"/>
              <a:buNone/>
            </a:pPr>
            <a:r>
              <a:rPr lang="en-US"/>
              <a:t>TOÁN RỜI RẠC</a:t>
            </a:r>
            <a:endParaRPr/>
          </a:p>
        </p:txBody>
      </p:sp>
      <p:sp>
        <p:nvSpPr>
          <p:cNvPr id="125" name="Google Shape;125;g121429f3121_0_68"/>
          <p:cNvSpPr txBox="1"/>
          <p:nvPr/>
        </p:nvSpPr>
        <p:spPr>
          <a:xfrm>
            <a:off x="1309143" y="4828745"/>
            <a:ext cx="4944000" cy="61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00"/>
                </a:solidFill>
                <a:latin typeface="Arial"/>
                <a:ea typeface="Arial"/>
                <a:cs typeface="Arial"/>
                <a:sym typeface="Arial"/>
              </a:rPr>
              <a:t>Khoa Công Nghệ Thông Tin</a:t>
            </a:r>
            <a:endParaRPr b="1" i="0" sz="1600" u="none" cap="none" strike="noStrike">
              <a:solidFill>
                <a:srgbClr val="FFFF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600"/>
              <a:buFont typeface="Arial"/>
              <a:buNone/>
            </a:pPr>
            <a:r>
              <a:rPr b="1" i="0" lang="en-US" sz="1600" u="none" cap="none" strike="noStrike">
                <a:solidFill>
                  <a:schemeClr val="lt1"/>
                </a:solidFill>
                <a:latin typeface="Arial"/>
                <a:ea typeface="Arial"/>
                <a:cs typeface="Arial"/>
                <a:sym typeface="Arial"/>
              </a:rPr>
              <a:t>TS. Nguyễn Văn Hiệu</a:t>
            </a:r>
            <a:endParaRPr b="0" i="0" sz="1400" u="none" cap="none" strike="noStrike">
              <a:solidFill>
                <a:srgbClr val="000000"/>
              </a:solidFill>
              <a:latin typeface="Arial"/>
              <a:ea typeface="Arial"/>
              <a:cs typeface="Arial"/>
              <a:sym typeface="Arial"/>
            </a:endParaRPr>
          </a:p>
        </p:txBody>
      </p:sp>
      <p:sp>
        <p:nvSpPr>
          <p:cNvPr id="126" name="Google Shape;126;g121429f3121_0_68"/>
          <p:cNvSpPr/>
          <p:nvPr/>
        </p:nvSpPr>
        <p:spPr>
          <a:xfrm>
            <a:off x="437871" y="4735071"/>
            <a:ext cx="797700" cy="797700"/>
          </a:xfrm>
          <a:prstGeom prst="roundRect">
            <a:avLst>
              <a:gd fmla="val 16667" name="adj"/>
            </a:avLst>
          </a:prstGeom>
          <a:solidFill>
            <a:schemeClr val="lt1"/>
          </a:solid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LOGO KHOA</a:t>
            </a:r>
            <a:endParaRPr b="0" i="0" sz="1400" u="none" cap="none" strike="noStrike">
              <a:solidFill>
                <a:srgbClr val="000000"/>
              </a:solidFill>
              <a:latin typeface="Arial"/>
              <a:ea typeface="Arial"/>
              <a:cs typeface="Arial"/>
              <a:sym typeface="Arial"/>
            </a:endParaRPr>
          </a:p>
        </p:txBody>
      </p:sp>
      <p:pic>
        <p:nvPicPr>
          <p:cNvPr id="127" name="Google Shape;127;g121429f3121_0_68"/>
          <p:cNvPicPr preferRelativeResize="0"/>
          <p:nvPr/>
        </p:nvPicPr>
        <p:blipFill rotWithShape="1">
          <a:blip r:embed="rId3">
            <a:alphaModFix/>
          </a:blip>
          <a:srcRect b="0" l="0" r="0" t="0"/>
          <a:stretch/>
        </p:blipFill>
        <p:spPr>
          <a:xfrm>
            <a:off x="476464" y="4764626"/>
            <a:ext cx="743275" cy="728410"/>
          </a:xfrm>
          <a:prstGeom prst="rect">
            <a:avLst/>
          </a:prstGeom>
          <a:noFill/>
          <a:ln cap="flat" cmpd="sng" w="28575">
            <a:solidFill>
              <a:schemeClr val="accent1"/>
            </a:solidFill>
            <a:prstDash val="solid"/>
            <a:miter lim="8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121429f3121_0_75"/>
          <p:cNvSpPr txBox="1"/>
          <p:nvPr>
            <p:ph type="ctrTitle"/>
          </p:nvPr>
        </p:nvSpPr>
        <p:spPr>
          <a:xfrm>
            <a:off x="493776" y="1490663"/>
            <a:ext cx="4978800" cy="2387700"/>
          </a:xfrm>
          <a:prstGeom prst="rect">
            <a:avLst/>
          </a:prstGeom>
          <a:noFill/>
          <a:ln>
            <a:noFill/>
          </a:ln>
        </p:spPr>
        <p:txBody>
          <a:bodyPr anchorCtr="0" anchor="b" bIns="45700" lIns="0" spcFirstLastPara="1" rIns="91425" wrap="square" tIns="45700">
            <a:noAutofit/>
          </a:bodyPr>
          <a:lstStyle/>
          <a:p>
            <a:pPr indent="0" lvl="0" marL="0" rtl="0" algn="l">
              <a:lnSpc>
                <a:spcPct val="207142"/>
              </a:lnSpc>
              <a:spcBef>
                <a:spcPts val="0"/>
              </a:spcBef>
              <a:spcAft>
                <a:spcPts val="0"/>
              </a:spcAft>
              <a:buClr>
                <a:schemeClr val="lt1"/>
              </a:buClr>
              <a:buSzPts val="2800"/>
              <a:buFont typeface="Arial"/>
              <a:buNone/>
            </a:pPr>
            <a:r>
              <a:rPr lang="en-US" sz="2800"/>
              <a:t>TOÁN RỜI RẠC</a:t>
            </a:r>
            <a:endParaRPr/>
          </a:p>
        </p:txBody>
      </p:sp>
      <p:sp>
        <p:nvSpPr>
          <p:cNvPr id="133" name="Google Shape;133;g121429f3121_0_75"/>
          <p:cNvSpPr txBox="1"/>
          <p:nvPr>
            <p:ph idx="1" type="subTitle"/>
          </p:nvPr>
        </p:nvSpPr>
        <p:spPr>
          <a:xfrm>
            <a:off x="493776" y="3793356"/>
            <a:ext cx="4978800" cy="2213100"/>
          </a:xfrm>
          <a:prstGeom prst="rect">
            <a:avLst/>
          </a:prstGeom>
          <a:noFill/>
          <a:ln>
            <a:noFill/>
          </a:ln>
        </p:spPr>
        <p:txBody>
          <a:bodyPr anchorCtr="0" anchor="t" bIns="45700" lIns="0" spcFirstLastPara="1" rIns="91425" wrap="square" tIns="45700">
            <a:noAutofit/>
          </a:bodyPr>
          <a:lstStyle/>
          <a:p>
            <a:pPr indent="0" lvl="0" marL="0" rtl="0" algn="l">
              <a:lnSpc>
                <a:spcPct val="130000"/>
              </a:lnSpc>
              <a:spcBef>
                <a:spcPts val="0"/>
              </a:spcBef>
              <a:spcAft>
                <a:spcPts val="0"/>
              </a:spcAft>
              <a:buSzPts val="3360"/>
              <a:buNone/>
            </a:pPr>
            <a:r>
              <a:rPr lang="en-US"/>
              <a:t>Bài 12: </a:t>
            </a:r>
            <a:r>
              <a:rPr lang="en-US"/>
              <a:t>ĐẠI SỐ BOOLE</a:t>
            </a:r>
            <a:endParaRPr/>
          </a:p>
          <a:p>
            <a:pPr indent="0" lvl="0" marL="0" rtl="0" algn="l">
              <a:lnSpc>
                <a:spcPct val="130000"/>
              </a:lnSpc>
              <a:spcBef>
                <a:spcPts val="0"/>
              </a:spcBef>
              <a:spcAft>
                <a:spcPts val="0"/>
              </a:spcAft>
              <a:buSzPts val="3360"/>
              <a:buNone/>
            </a:pPr>
            <a:r>
              <a:rPr lang="en-US"/>
              <a:t>              (Boolean Algebra)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g121429f3121_0_80"/>
          <p:cNvSpPr txBox="1"/>
          <p:nvPr>
            <p:ph type="title"/>
          </p:nvPr>
        </p:nvSpPr>
        <p:spPr>
          <a:xfrm>
            <a:off x="425196" y="1499616"/>
            <a:ext cx="5213700" cy="5910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2"/>
              </a:buClr>
              <a:buSzPts val="3600"/>
              <a:buFont typeface="Georgia"/>
              <a:buNone/>
            </a:pPr>
            <a:r>
              <a:rPr lang="en-US"/>
              <a:t>Nội dung</a:t>
            </a:r>
            <a:endParaRPr/>
          </a:p>
        </p:txBody>
      </p:sp>
      <p:sp>
        <p:nvSpPr>
          <p:cNvPr id="139" name="Google Shape;139;g121429f3121_0_80"/>
          <p:cNvSpPr txBox="1"/>
          <p:nvPr>
            <p:ph idx="1" type="body"/>
          </p:nvPr>
        </p:nvSpPr>
        <p:spPr>
          <a:xfrm>
            <a:off x="425200" y="2185425"/>
            <a:ext cx="8504400" cy="3968100"/>
          </a:xfrm>
          <a:prstGeom prst="rect">
            <a:avLst/>
          </a:prstGeom>
          <a:noFill/>
          <a:ln>
            <a:noFill/>
          </a:ln>
        </p:spPr>
        <p:txBody>
          <a:bodyPr anchorCtr="0" anchor="t" bIns="45700" lIns="91425" spcFirstLastPara="1" rIns="91425" wrap="square" tIns="45700">
            <a:noAutofit/>
          </a:bodyPr>
          <a:lstStyle/>
          <a:p>
            <a:pPr indent="-342900" lvl="0" marL="342900" rtl="0" algn="l">
              <a:lnSpc>
                <a:spcPct val="130000"/>
              </a:lnSpc>
              <a:spcBef>
                <a:spcPts val="0"/>
              </a:spcBef>
              <a:spcAft>
                <a:spcPts val="0"/>
              </a:spcAft>
              <a:buSzPts val="2160"/>
              <a:buFont typeface="Noto Sans Symbols"/>
              <a:buChar char="▪"/>
            </a:pPr>
            <a:r>
              <a:rPr lang="en-US" sz="2400"/>
              <a:t>ĐẠI SỐ BOOLE</a:t>
            </a:r>
            <a:endParaRPr sz="2400"/>
          </a:p>
          <a:p>
            <a:pPr indent="-342900" lvl="0" marL="342900" rtl="0" algn="l">
              <a:lnSpc>
                <a:spcPct val="130000"/>
              </a:lnSpc>
              <a:spcBef>
                <a:spcPts val="0"/>
              </a:spcBef>
              <a:spcAft>
                <a:spcPts val="0"/>
              </a:spcAft>
              <a:buSzPts val="2160"/>
              <a:buFont typeface="Noto Sans Symbols"/>
              <a:buChar char="▪"/>
            </a:pPr>
            <a:r>
              <a:rPr lang="en-US" sz="2400"/>
              <a:t>HÀM BOOLE</a:t>
            </a:r>
            <a:endParaRPr sz="2400"/>
          </a:p>
          <a:p>
            <a:pPr indent="-342900" lvl="0" marL="342900" rtl="0" algn="l">
              <a:lnSpc>
                <a:spcPct val="130000"/>
              </a:lnSpc>
              <a:spcBef>
                <a:spcPts val="0"/>
              </a:spcBef>
              <a:spcAft>
                <a:spcPts val="0"/>
              </a:spcAft>
              <a:buSzPts val="2160"/>
              <a:buFont typeface="Noto Sans Symbols"/>
              <a:buChar char="▪"/>
            </a:pPr>
            <a:r>
              <a:rPr lang="en-US" sz="2400"/>
              <a:t>MẠCH </a:t>
            </a:r>
            <a:r>
              <a:rPr lang="en-US" sz="2400"/>
              <a:t>LOGIC</a:t>
            </a:r>
            <a:endParaRPr sz="2400"/>
          </a:p>
          <a:p>
            <a:pPr indent="-342900" lvl="0" marL="342900" rtl="0" algn="l">
              <a:lnSpc>
                <a:spcPct val="130000"/>
              </a:lnSpc>
              <a:spcBef>
                <a:spcPts val="0"/>
              </a:spcBef>
              <a:spcAft>
                <a:spcPts val="0"/>
              </a:spcAft>
              <a:buSzPts val="2160"/>
              <a:buFont typeface="Noto Sans Symbols"/>
              <a:buChar char="▪"/>
            </a:pPr>
            <a:r>
              <a:rPr lang="en-US" sz="2400"/>
              <a:t>TỐI GIẢN MẠCH </a:t>
            </a:r>
            <a:r>
              <a:rPr lang="en-US" sz="2400"/>
              <a:t>LOGIC</a:t>
            </a:r>
            <a:endParaRPr sz="2400"/>
          </a:p>
          <a:p>
            <a:pPr indent="-358140" lvl="0" marL="342900" rtl="0" algn="l">
              <a:lnSpc>
                <a:spcPct val="130000"/>
              </a:lnSpc>
              <a:spcBef>
                <a:spcPts val="0"/>
              </a:spcBef>
              <a:spcAft>
                <a:spcPts val="0"/>
              </a:spcAft>
              <a:buSzPts val="2400"/>
              <a:buChar char="▪"/>
            </a:pPr>
            <a:r>
              <a:rPr lang="en-US" sz="2400"/>
              <a:t>BÀI TẬP</a:t>
            </a:r>
            <a:endParaRPr sz="2400"/>
          </a:p>
        </p:txBody>
      </p:sp>
      <p:sp>
        <p:nvSpPr>
          <p:cNvPr id="140" name="Google Shape;140;g121429f3121_0_80"/>
          <p:cNvSpPr txBox="1"/>
          <p:nvPr>
            <p:ph idx="11" type="ftr"/>
          </p:nvPr>
        </p:nvSpPr>
        <p:spPr>
          <a:xfrm>
            <a:off x="5680710" y="6319775"/>
            <a:ext cx="30861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121429f3121_0_128"/>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47" name="Google Shape;147;g121429f3121_0_128"/>
          <p:cNvSpPr txBox="1"/>
          <p:nvPr>
            <p:ph idx="1" type="body"/>
          </p:nvPr>
        </p:nvSpPr>
        <p:spPr>
          <a:xfrm>
            <a:off x="465250" y="1909800"/>
            <a:ext cx="84519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sz="2400">
                <a:solidFill>
                  <a:srgbClr val="0000FF"/>
                </a:solidFill>
              </a:rPr>
              <a:t>Tập B, phép toán hai ngôi “Nhân”, “Tổng” và phép toán một ngôi “Phủ định” thỏa mãn các tính </a:t>
            </a:r>
            <a:r>
              <a:rPr lang="en-US" sz="2400">
                <a:solidFill>
                  <a:srgbClr val="0000FF"/>
                </a:solidFill>
              </a:rPr>
              <a:t>chất</a:t>
            </a:r>
            <a:r>
              <a:rPr lang="en-US" sz="2400">
                <a:solidFill>
                  <a:srgbClr val="0000FF"/>
                </a:solidFill>
              </a:rPr>
              <a:t>:</a:t>
            </a:r>
            <a:endParaRPr sz="2400">
              <a:solidFill>
                <a:srgbClr val="0000FF"/>
              </a:solidFill>
            </a:endParaRPr>
          </a:p>
          <a:p>
            <a:pPr indent="-381000" lvl="0" marL="914400" rtl="0" algn="l">
              <a:spcBef>
                <a:spcPts val="600"/>
              </a:spcBef>
              <a:spcAft>
                <a:spcPts val="0"/>
              </a:spcAft>
              <a:buClr>
                <a:srgbClr val="0000FF"/>
              </a:buClr>
              <a:buSzPts val="2400"/>
              <a:buAutoNum type="arabicPeriod"/>
            </a:pPr>
            <a:r>
              <a:rPr b="1" lang="en-US" sz="2400">
                <a:solidFill>
                  <a:srgbClr val="0000FF"/>
                </a:solidFill>
              </a:rPr>
              <a:t>Tính giao hoán ( nhân và tổng);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Tính kết hợp ( nhân  và tổng);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Tính phân phối;</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Tồn tại phần tử trung hòa ( phép nhân và phép cộng);</a:t>
            </a:r>
            <a:endParaRPr b="1" sz="2400">
              <a:solidFill>
                <a:srgbClr val="0000FF"/>
              </a:solidFill>
            </a:endParaRPr>
          </a:p>
          <a:p>
            <a:pPr indent="-381000" lvl="0" marL="914400" rtl="0" algn="l">
              <a:spcBef>
                <a:spcPts val="0"/>
              </a:spcBef>
              <a:spcAft>
                <a:spcPts val="0"/>
              </a:spcAft>
              <a:buClr>
                <a:srgbClr val="0000FF"/>
              </a:buClr>
              <a:buSzPts val="2400"/>
              <a:buAutoNum type="arabicPeriod"/>
            </a:pPr>
            <a:r>
              <a:rPr b="1" lang="en-US" sz="2400">
                <a:solidFill>
                  <a:srgbClr val="0000FF"/>
                </a:solidFill>
              </a:rPr>
              <a:t>Tồn tại phần tử bù.</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121429f3121_0_134"/>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54" name="Google Shape;154;g121429f3121_0_134"/>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Tập </a:t>
            </a:r>
            <a:r>
              <a:rPr lang="en-US" sz="2400">
                <a:solidFill>
                  <a:srgbClr val="0000FF"/>
                </a:solidFill>
              </a:rPr>
              <a:t>B; </a:t>
            </a:r>
            <a:r>
              <a:rPr lang="en-US" sz="2400">
                <a:solidFill>
                  <a:srgbClr val="0000FF"/>
                </a:solidFill>
              </a:rPr>
              <a:t>phép nhân: ‘.’ ; phép tổng:  “+ ”; </a:t>
            </a:r>
            <a:r>
              <a:rPr lang="en-US" sz="2400">
                <a:solidFill>
                  <a:srgbClr val="0000FF"/>
                </a:solidFill>
              </a:rPr>
              <a:t>phép </a:t>
            </a:r>
            <a:r>
              <a:rPr lang="en-US" sz="2400">
                <a:solidFill>
                  <a:srgbClr val="0000FF"/>
                </a:solidFill>
              </a:rPr>
              <a:t>phủ định: “~”</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Bộ  </a:t>
            </a:r>
            <a:r>
              <a:rPr b="1" lang="en-US" sz="2400">
                <a:solidFill>
                  <a:srgbClr val="0000FF"/>
                </a:solidFill>
              </a:rPr>
              <a:t>&lt;B, ., + , ~ &gt; </a:t>
            </a:r>
            <a:r>
              <a:rPr lang="en-US" sz="2400">
                <a:solidFill>
                  <a:srgbClr val="0000FF"/>
                </a:solidFill>
              </a:rPr>
              <a:t>đại số boole</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Mọi x, y và x thuộc B:</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 = y.x ;  x+y = y+x</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(x.y).z = x. (y.z); (x+y) +z = x + (y+z)</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x.(y+z) = x.y + x.z; x + (y.z) = (x+y).(x+z)</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 </a:t>
            </a:r>
            <a:r>
              <a:rPr b="1" lang="en-US" sz="2400">
                <a:solidFill>
                  <a:srgbClr val="0000FF"/>
                </a:solidFill>
              </a:rPr>
              <a:t>1</a:t>
            </a:r>
            <a:r>
              <a:rPr lang="en-US" sz="2400">
                <a:solidFill>
                  <a:srgbClr val="0000FF"/>
                </a:solidFill>
              </a:rPr>
              <a:t> = x;   x + </a:t>
            </a:r>
            <a:r>
              <a:rPr b="1" lang="en-US" sz="2400">
                <a:solidFill>
                  <a:srgbClr val="0000FF"/>
                </a:solidFill>
              </a:rPr>
              <a:t>0</a:t>
            </a:r>
            <a:r>
              <a:rPr lang="en-US" sz="2400">
                <a:solidFill>
                  <a:srgbClr val="0000FF"/>
                </a:solidFill>
              </a:rPr>
              <a:t> = x</a:t>
            </a:r>
            <a:endParaRPr sz="2400">
              <a:solidFill>
                <a:srgbClr val="0000FF"/>
              </a:solidFill>
            </a:endParaRPr>
          </a:p>
          <a:p>
            <a:pPr indent="-381000" lvl="0" marL="914400" rtl="0" algn="l">
              <a:spcBef>
                <a:spcPts val="0"/>
              </a:spcBef>
              <a:spcAft>
                <a:spcPts val="0"/>
              </a:spcAft>
              <a:buClr>
                <a:srgbClr val="0000FF"/>
              </a:buClr>
              <a:buSzPts val="2400"/>
              <a:buAutoNum type="arabicPeriod"/>
            </a:pPr>
            <a:r>
              <a:rPr lang="en-US" sz="2400">
                <a:solidFill>
                  <a:srgbClr val="0000FF"/>
                </a:solidFill>
              </a:rPr>
              <a:t>x . </a:t>
            </a:r>
            <a:r>
              <a:rPr b="1" lang="en-US" sz="2400">
                <a:solidFill>
                  <a:srgbClr val="0000FF"/>
                </a:solidFill>
              </a:rPr>
              <a:t>~x</a:t>
            </a:r>
            <a:r>
              <a:rPr lang="en-US" sz="2400">
                <a:solidFill>
                  <a:srgbClr val="0000FF"/>
                </a:solidFill>
              </a:rPr>
              <a:t> = 0; x + </a:t>
            </a:r>
            <a:r>
              <a:rPr b="1" lang="en-US" sz="2400">
                <a:solidFill>
                  <a:srgbClr val="0000FF"/>
                </a:solidFill>
              </a:rPr>
              <a:t>~x</a:t>
            </a:r>
            <a:r>
              <a:rPr lang="en-US" sz="2400">
                <a:solidFill>
                  <a:srgbClr val="0000FF"/>
                </a:solidFill>
              </a:rPr>
              <a:t> = 1</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21429f3121_0_140"/>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61" name="Google Shape;161;g121429f3121_0_140"/>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1</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các mệnh đề </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trên mệnh đề: “And”, “OR” ,  “~”, “True”; “False”</a:t>
            </a:r>
            <a:endParaRPr sz="2400">
              <a:solidFill>
                <a:srgbClr val="0000FF"/>
              </a:solidFill>
            </a:endParaRPr>
          </a:p>
          <a:p>
            <a:pPr indent="0" lvl="0" marL="0" rtl="0" algn="l">
              <a:spcBef>
                <a:spcPts val="600"/>
              </a:spcBef>
              <a:spcAft>
                <a:spcPts val="0"/>
              </a:spcAft>
              <a:buNone/>
            </a:pPr>
            <a:r>
              <a:rPr b="1" lang="en-US" sz="2400">
                <a:solidFill>
                  <a:srgbClr val="0000FF"/>
                </a:solidFill>
              </a:rPr>
              <a:t>Đại số </a:t>
            </a:r>
            <a:r>
              <a:rPr b="1" lang="en-US" sz="2400">
                <a:solidFill>
                  <a:srgbClr val="0000FF"/>
                </a:solidFill>
              </a:rPr>
              <a:t>logic có phải đại số boole ?</a:t>
            </a:r>
            <a:r>
              <a:rPr b="1" lang="en-US" sz="2400">
                <a:solidFill>
                  <a:srgbClr val="0000FF"/>
                </a:solidFill>
              </a:rPr>
              <a:t> </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121429f3121_0_146"/>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68" name="Google Shape;168;g121429f3121_0_146"/>
          <p:cNvSpPr txBox="1"/>
          <p:nvPr>
            <p:ph idx="1" type="body"/>
          </p:nvPr>
        </p:nvSpPr>
        <p:spPr>
          <a:xfrm>
            <a:off x="465250" y="1909800"/>
            <a:ext cx="8419500" cy="39681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2</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a:t>
            </a:r>
            <a:r>
              <a:rPr lang="en-US" sz="2400">
                <a:solidFill>
                  <a:srgbClr val="0000FF"/>
                </a:solidFill>
              </a:rPr>
              <a:t>tất cả các tập con của tập X</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r>
              <a:rPr lang="en-US" sz="2400">
                <a:solidFill>
                  <a:srgbClr val="0000FF"/>
                </a:solidFill>
              </a:rPr>
              <a:t>Giao</a:t>
            </a:r>
            <a:r>
              <a:rPr lang="en-US" sz="2400">
                <a:solidFill>
                  <a:srgbClr val="0000FF"/>
                </a:solidFill>
              </a:rPr>
              <a:t>”, “</a:t>
            </a:r>
            <a:r>
              <a:rPr lang="en-US" sz="2400">
                <a:solidFill>
                  <a:srgbClr val="0000FF"/>
                </a:solidFill>
              </a:rPr>
              <a:t>Hợp</a:t>
            </a:r>
            <a:r>
              <a:rPr lang="en-US" sz="2400">
                <a:solidFill>
                  <a:srgbClr val="0000FF"/>
                </a:solidFill>
              </a:rPr>
              <a:t>” ,  “</a:t>
            </a:r>
            <a:r>
              <a:rPr lang="en-US" sz="2400">
                <a:solidFill>
                  <a:srgbClr val="0000FF"/>
                </a:solidFill>
              </a:rPr>
              <a:t>Phần bù</a:t>
            </a:r>
            <a:r>
              <a:rPr lang="en-US" sz="2400">
                <a:solidFill>
                  <a:srgbClr val="0000FF"/>
                </a:solidFill>
              </a:rPr>
              <a:t>”,  “</a:t>
            </a:r>
            <a:r>
              <a:rPr lang="en-US" sz="2400">
                <a:solidFill>
                  <a:srgbClr val="0000FF"/>
                </a:solidFill>
              </a:rPr>
              <a:t>Tập X” và “Tập rỗng”</a:t>
            </a:r>
            <a:endParaRPr sz="2400">
              <a:solidFill>
                <a:srgbClr val="0000FF"/>
              </a:solidFill>
            </a:endParaRPr>
          </a:p>
          <a:p>
            <a:pPr indent="0" lvl="0" marL="0" rtl="0" algn="l">
              <a:spcBef>
                <a:spcPts val="600"/>
              </a:spcBef>
              <a:spcAft>
                <a:spcPts val="0"/>
              </a:spcAft>
              <a:buNone/>
            </a:pPr>
            <a:r>
              <a:rPr b="1" lang="en-US" sz="2400">
                <a:solidFill>
                  <a:srgbClr val="0000FF"/>
                </a:solidFill>
              </a:rPr>
              <a:t>Đại số </a:t>
            </a:r>
            <a:r>
              <a:rPr b="1" lang="en-US" sz="2400">
                <a:solidFill>
                  <a:srgbClr val="0000FF"/>
                </a:solidFill>
              </a:rPr>
              <a:t>tập hợp </a:t>
            </a:r>
            <a:r>
              <a:rPr b="1" lang="en-US" sz="2400">
                <a:solidFill>
                  <a:srgbClr val="0000FF"/>
                </a:solidFill>
              </a:rPr>
              <a:t>có phải đại số boole ? </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121429f3121_0_152"/>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75" name="Google Shape;175;g121429f3121_0_152"/>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3</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tập hợp tất cả các </a:t>
            </a:r>
            <a:r>
              <a:rPr lang="en-US" sz="2400">
                <a:solidFill>
                  <a:srgbClr val="0000FF"/>
                </a:solidFill>
              </a:rPr>
              <a:t>số thực có cận trên p và cận dưới q và tâm đối xứng O.</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endParaRPr sz="2400">
              <a:solidFill>
                <a:srgbClr val="0000FF"/>
              </a:solidFill>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a:t>
            </a:r>
            <a:r>
              <a:rPr b="1" lang="en-US" sz="2000">
                <a:solidFill>
                  <a:srgbClr val="0000FF"/>
                </a:solidFill>
                <a:latin typeface="Times New Roman"/>
                <a:ea typeface="Times New Roman"/>
                <a:cs typeface="Times New Roman"/>
                <a:sym typeface="Times New Roman"/>
              </a:rPr>
              <a:t>.</a:t>
            </a:r>
            <a:r>
              <a:rPr lang="en-US" sz="2000">
                <a:solidFill>
                  <a:srgbClr val="0000FF"/>
                </a:solidFill>
                <a:latin typeface="Times New Roman"/>
                <a:ea typeface="Times New Roman"/>
                <a:cs typeface="Times New Roman"/>
                <a:sym typeface="Times New Roman"/>
              </a:rPr>
              <a:t>b = min(a, b), </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a+b = max(a, b),  </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a’ là điểm đối xứng của a qua O.</a:t>
            </a:r>
            <a:endParaRPr sz="2000">
              <a:solidFill>
                <a:srgbClr val="0000FF"/>
              </a:solidFill>
              <a:latin typeface="Times New Roman"/>
              <a:ea typeface="Times New Roman"/>
              <a:cs typeface="Times New Roman"/>
              <a:sym typeface="Times New Roman"/>
            </a:endParaRPr>
          </a:p>
          <a:p>
            <a:pPr indent="-285750" lvl="1" marL="742950" rtl="0" algn="l">
              <a:lnSpc>
                <a:spcPct val="100000"/>
              </a:lnSpc>
              <a:spcBef>
                <a:spcPts val="400"/>
              </a:spcBef>
              <a:spcAft>
                <a:spcPts val="0"/>
              </a:spcAft>
              <a:buClr>
                <a:srgbClr val="0000FF"/>
              </a:buClr>
              <a:buSzPts val="2000"/>
              <a:buFont typeface="Noto Sans Symbols"/>
              <a:buChar char="▪"/>
            </a:pPr>
            <a:r>
              <a:rPr lang="en-US" sz="2000">
                <a:solidFill>
                  <a:srgbClr val="0000FF"/>
                </a:solidFill>
                <a:latin typeface="Times New Roman"/>
                <a:ea typeface="Times New Roman"/>
                <a:cs typeface="Times New Roman"/>
                <a:sym typeface="Times New Roman"/>
              </a:rPr>
              <a:t>q, p tương tương ưng 1, 0.</a:t>
            </a:r>
            <a:endParaRPr sz="2400">
              <a:solidFill>
                <a:srgbClr val="0000FF"/>
              </a:solidFill>
            </a:endParaRPr>
          </a:p>
          <a:p>
            <a:pPr indent="0" lvl="0" marL="0" rtl="0" algn="l">
              <a:spcBef>
                <a:spcPts val="600"/>
              </a:spcBef>
              <a:spcAft>
                <a:spcPts val="0"/>
              </a:spcAft>
              <a:buNone/>
            </a:pPr>
            <a:r>
              <a:rPr b="1" lang="en-US" sz="2400">
                <a:solidFill>
                  <a:srgbClr val="0000FF"/>
                </a:solidFill>
              </a:rPr>
              <a:t>Đại số tập hợp </a:t>
            </a:r>
            <a:r>
              <a:rPr b="1" lang="en-US" sz="2400">
                <a:solidFill>
                  <a:srgbClr val="0000FF"/>
                </a:solidFill>
              </a:rPr>
              <a:t>với các phép toán định nghĩa là đại số 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121429f3121_0_158"/>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82" name="Google Shape;182;g121429f3121_0_158"/>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3</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 = </a:t>
            </a:r>
            <a:r>
              <a:rPr lang="en-US" sz="2400">
                <a:solidFill>
                  <a:srgbClr val="0000FF"/>
                </a:solidFill>
              </a:rPr>
              <a:t>{1, 0}</a:t>
            </a:r>
            <a:r>
              <a:rPr lang="en-US" sz="2400">
                <a:solidFill>
                  <a:srgbClr val="0000FF"/>
                </a:solidFill>
              </a:rPr>
              <a:t>.</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 +, ~): </a:t>
            </a:r>
            <a:endParaRPr sz="2400">
              <a:solidFill>
                <a:srgbClr val="0000FF"/>
              </a:solidFill>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1.1 = 1,    1+1 = 1,  ~1 = 0,</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1.0 = 0,    1+0 = 1,  ~0 = 1</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0.1 = 0,    0+1 = 1,	</a:t>
            </a:r>
            <a:endParaRPr sz="2100">
              <a:solidFill>
                <a:srgbClr val="0000FF"/>
              </a:solidFill>
              <a:latin typeface="Times New Roman"/>
              <a:ea typeface="Times New Roman"/>
              <a:cs typeface="Times New Roman"/>
              <a:sym typeface="Times New Roman"/>
            </a:endParaRPr>
          </a:p>
          <a:p>
            <a:pPr indent="-361950" lvl="1" marL="914400" marR="0" rtl="0" algn="l">
              <a:lnSpc>
                <a:spcPct val="130000"/>
              </a:lnSpc>
              <a:spcBef>
                <a:spcPts val="0"/>
              </a:spcBef>
              <a:spcAft>
                <a:spcPts val="0"/>
              </a:spcAft>
              <a:buClr>
                <a:srgbClr val="0000FF"/>
              </a:buClr>
              <a:buSzPts val="2100"/>
              <a:buChar char="-"/>
            </a:pPr>
            <a:r>
              <a:rPr lang="en-US" sz="2100">
                <a:solidFill>
                  <a:srgbClr val="0000FF"/>
                </a:solidFill>
                <a:latin typeface="Times New Roman"/>
                <a:ea typeface="Times New Roman"/>
                <a:cs typeface="Times New Roman"/>
                <a:sym typeface="Times New Roman"/>
              </a:rPr>
              <a:t>0.0 = 0,    0+0 = 0,</a:t>
            </a:r>
            <a:endParaRPr b="1" sz="2400">
              <a:solidFill>
                <a:srgbClr val="0000FF"/>
              </a:solidFill>
            </a:endParaRPr>
          </a:p>
          <a:p>
            <a:pPr indent="0" lvl="0" marL="0" rtl="0" algn="l">
              <a:spcBef>
                <a:spcPts val="600"/>
              </a:spcBef>
              <a:spcAft>
                <a:spcPts val="0"/>
              </a:spcAft>
              <a:buNone/>
            </a:pPr>
            <a:r>
              <a:rPr b="1" lang="en-US" sz="2400">
                <a:solidFill>
                  <a:srgbClr val="0000FF"/>
                </a:solidFill>
              </a:rPr>
              <a:t>  B và các phép toán là đại số </a:t>
            </a:r>
            <a:r>
              <a:rPr b="1" lang="en-US" sz="2400">
                <a:solidFill>
                  <a:srgbClr val="0000FF"/>
                </a:solidFill>
              </a:rPr>
              <a:t>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121429f3121_0_164"/>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89" name="Google Shape;189;g121429f3121_0_164"/>
          <p:cNvSpPr txBox="1"/>
          <p:nvPr>
            <p:ph idx="1" type="body"/>
          </p:nvPr>
        </p:nvSpPr>
        <p:spPr>
          <a:xfrm>
            <a:off x="465250" y="1909800"/>
            <a:ext cx="8565600" cy="44625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b="1" lang="en-US" sz="2400">
                <a:solidFill>
                  <a:srgbClr val="0000FF"/>
                </a:solidFill>
              </a:rPr>
              <a:t>Minh họa 4</a:t>
            </a:r>
            <a:endParaRPr b="1" sz="2400">
              <a:solidFill>
                <a:srgbClr val="0000FF"/>
              </a:solidFill>
            </a:endParaRPr>
          </a:p>
          <a:p>
            <a:pPr indent="-381000" lvl="0" marL="457200" rtl="0" algn="l">
              <a:spcBef>
                <a:spcPts val="600"/>
              </a:spcBef>
              <a:spcAft>
                <a:spcPts val="0"/>
              </a:spcAft>
              <a:buClr>
                <a:srgbClr val="0000FF"/>
              </a:buClr>
              <a:buSzPts val="2400"/>
              <a:buChar char="•"/>
            </a:pPr>
            <a:r>
              <a:rPr lang="en-US" sz="2400">
                <a:solidFill>
                  <a:srgbClr val="0000FF"/>
                </a:solidFill>
              </a:rPr>
              <a:t>B</a:t>
            </a:r>
            <a:r>
              <a:rPr baseline="30000" lang="en-US" sz="2400">
                <a:solidFill>
                  <a:srgbClr val="0000FF"/>
                </a:solidFill>
              </a:rPr>
              <a:t>n</a:t>
            </a:r>
            <a:r>
              <a:rPr lang="en-US" sz="2400">
                <a:solidFill>
                  <a:srgbClr val="0000FF"/>
                </a:solidFill>
              </a:rPr>
              <a:t> - </a:t>
            </a:r>
            <a:r>
              <a:rPr lang="en-US" sz="2400">
                <a:solidFill>
                  <a:srgbClr val="0000FF"/>
                </a:solidFill>
              </a:rPr>
              <a:t>tập hợp các chuỗi nhị phân có độ dài bằng n</a:t>
            </a:r>
            <a:endParaRPr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Các phép toán </a:t>
            </a:r>
            <a:r>
              <a:rPr lang="en-US" sz="2400">
                <a:solidFill>
                  <a:srgbClr val="0000FF"/>
                </a:solidFill>
              </a:rPr>
              <a:t>trên bit</a:t>
            </a:r>
            <a:r>
              <a:rPr lang="en-US" sz="2400">
                <a:solidFill>
                  <a:srgbClr val="0000FF"/>
                </a:solidFill>
              </a:rPr>
              <a:t>: “&amp;”, “|”,”~”</a:t>
            </a:r>
            <a:endParaRPr sz="2400">
              <a:solidFill>
                <a:srgbClr val="0000FF"/>
              </a:solidFill>
            </a:endParaRPr>
          </a:p>
          <a:p>
            <a:pPr indent="0" lvl="0" marL="0" marR="0" rtl="0" algn="l">
              <a:lnSpc>
                <a:spcPct val="130000"/>
              </a:lnSpc>
              <a:spcBef>
                <a:spcPts val="600"/>
              </a:spcBef>
              <a:spcAft>
                <a:spcPts val="0"/>
              </a:spcAft>
              <a:buNone/>
            </a:pPr>
            <a:r>
              <a:t/>
            </a:r>
            <a:endParaRPr b="1" sz="2400">
              <a:solidFill>
                <a:srgbClr val="0000FF"/>
              </a:solidFill>
            </a:endParaRPr>
          </a:p>
          <a:p>
            <a:pPr indent="0" lvl="0" marL="0" rtl="0" algn="l">
              <a:spcBef>
                <a:spcPts val="600"/>
              </a:spcBef>
              <a:spcAft>
                <a:spcPts val="0"/>
              </a:spcAft>
              <a:buNone/>
            </a:pPr>
            <a:r>
              <a:rPr b="1" lang="en-US" sz="2400">
                <a:solidFill>
                  <a:srgbClr val="0000FF"/>
                </a:solidFill>
              </a:rPr>
              <a:t>  B</a:t>
            </a:r>
            <a:r>
              <a:rPr b="1" baseline="30000" lang="en-US" sz="2400">
                <a:solidFill>
                  <a:srgbClr val="0000FF"/>
                </a:solidFill>
              </a:rPr>
              <a:t>n</a:t>
            </a:r>
            <a:r>
              <a:rPr b="1" lang="en-US" sz="2400">
                <a:solidFill>
                  <a:srgbClr val="0000FF"/>
                </a:solidFill>
              </a:rPr>
              <a:t> và các phép toán là đại số boole.</a:t>
            </a:r>
            <a:endParaRPr b="1"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121429f3121_0_170"/>
          <p:cNvSpPr txBox="1"/>
          <p:nvPr>
            <p:ph type="title"/>
          </p:nvPr>
        </p:nvSpPr>
        <p:spPr>
          <a:xfrm>
            <a:off x="425200" y="1001023"/>
            <a:ext cx="7850100" cy="766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ĐẠI SỐ BOOLE</a:t>
            </a:r>
            <a:endParaRPr/>
          </a:p>
        </p:txBody>
      </p:sp>
      <p:sp>
        <p:nvSpPr>
          <p:cNvPr id="196" name="Google Shape;196;g121429f3121_0_170"/>
          <p:cNvSpPr txBox="1"/>
          <p:nvPr>
            <p:ph idx="1" type="body"/>
          </p:nvPr>
        </p:nvSpPr>
        <p:spPr>
          <a:xfrm>
            <a:off x="465250" y="1909800"/>
            <a:ext cx="8565600" cy="49482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Ký hiệu: 1 - phần tử trung hòa với phép .; 0- phần tử trung hòa với phép + ; ‘`’ - phép toán phủ định.</a:t>
            </a:r>
            <a:endParaRPr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B- Đại </a:t>
            </a:r>
            <a:r>
              <a:rPr lang="en-US" sz="2400">
                <a:solidFill>
                  <a:srgbClr val="0000FF"/>
                </a:solidFill>
              </a:rPr>
              <a:t>số</a:t>
            </a:r>
            <a:r>
              <a:rPr lang="en-US" sz="2400">
                <a:solidFill>
                  <a:srgbClr val="0000FF"/>
                </a:solidFill>
              </a:rPr>
              <a:t> boole có các tính chất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6. Tính nuốt:</a:t>
            </a:r>
            <a:r>
              <a:rPr lang="en-US" sz="2400">
                <a:solidFill>
                  <a:srgbClr val="0000FF"/>
                </a:solidFill>
              </a:rPr>
              <a:t>    </a:t>
            </a:r>
            <a:r>
              <a:rPr lang="en-US" sz="2400">
                <a:solidFill>
                  <a:srgbClr val="0000FF"/>
                </a:solidFill>
                <a:latin typeface="Times New Roman"/>
                <a:ea typeface="Times New Roman"/>
                <a:cs typeface="Times New Roman"/>
                <a:sym typeface="Times New Roman"/>
              </a:rPr>
              <a:t> </a:t>
            </a:r>
            <a:r>
              <a:rPr lang="en-US" sz="2400">
                <a:solidFill>
                  <a:srgbClr val="0000FF"/>
                </a:solidFill>
              </a:rPr>
              <a:t>x</a:t>
            </a:r>
            <a:r>
              <a:rPr lang="en-US" sz="2400">
                <a:solidFill>
                  <a:srgbClr val="0000FF"/>
                </a:solidFill>
                <a:latin typeface="Times New Roman"/>
                <a:ea typeface="Times New Roman"/>
                <a:cs typeface="Times New Roman"/>
                <a:sym typeface="Times New Roman"/>
              </a:rPr>
              <a:t>.0 = 0</a:t>
            </a:r>
            <a:r>
              <a:rPr lang="en-US" sz="2400">
                <a:solidFill>
                  <a:srgbClr val="0000FF"/>
                </a:solidFill>
              </a:rPr>
              <a:t>;  x</a:t>
            </a:r>
            <a:r>
              <a:rPr lang="en-US" sz="2400">
                <a:solidFill>
                  <a:srgbClr val="0000FF"/>
                </a:solidFill>
                <a:latin typeface="Times New Roman"/>
                <a:ea typeface="Times New Roman"/>
                <a:cs typeface="Times New Roman"/>
                <a:sym typeface="Times New Roman"/>
              </a:rPr>
              <a:t>+1 = 1</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7. Tính lũy đẳng</a:t>
            </a:r>
            <a:r>
              <a:rPr lang="en-US" sz="2400">
                <a:solidFill>
                  <a:srgbClr val="0000FF"/>
                </a:solidFill>
              </a:rPr>
              <a:t>: </a:t>
            </a:r>
            <a:r>
              <a:rPr lang="en-US" sz="2400">
                <a:solidFill>
                  <a:srgbClr val="0000FF"/>
                </a:solidFill>
                <a:latin typeface="Times New Roman"/>
                <a:ea typeface="Times New Roman"/>
                <a:cs typeface="Times New Roman"/>
                <a:sym typeface="Times New Roman"/>
              </a:rPr>
              <a:t>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8. Hệ thức De Morgan</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9. Hệ thức bù kép</a:t>
            </a:r>
            <a:r>
              <a:rPr lang="en-US" sz="2400">
                <a:solidFill>
                  <a:srgbClr val="0000FF"/>
                </a:solidFill>
              </a:rPr>
              <a:t>: </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 = </a:t>
            </a:r>
            <a:r>
              <a:rPr lang="en-US" sz="2400">
                <a:solidFill>
                  <a:srgbClr val="0000FF"/>
                </a:solidFill>
              </a:rPr>
              <a:t>x; </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10. </a:t>
            </a:r>
            <a:r>
              <a:rPr lang="en-US" sz="2400">
                <a:solidFill>
                  <a:srgbClr val="0000FF"/>
                </a:solidFill>
              </a:rPr>
              <a:t>  </a:t>
            </a:r>
            <a:r>
              <a:rPr lang="en-US" sz="2400">
                <a:solidFill>
                  <a:srgbClr val="0000FF"/>
                </a:solidFill>
                <a:latin typeface="Times New Roman"/>
                <a:ea typeface="Times New Roman"/>
                <a:cs typeface="Times New Roman"/>
                <a:sym typeface="Times New Roman"/>
              </a:rPr>
              <a:t>1’ = 0</a:t>
            </a:r>
            <a:r>
              <a:rPr lang="en-US" sz="2400">
                <a:solidFill>
                  <a:srgbClr val="0000FF"/>
                </a:solidFill>
              </a:rPr>
              <a:t>;   </a:t>
            </a:r>
            <a:r>
              <a:rPr lang="en-US" sz="2400">
                <a:solidFill>
                  <a:srgbClr val="0000FF"/>
                </a:solidFill>
                <a:latin typeface="Times New Roman"/>
                <a:ea typeface="Times New Roman"/>
                <a:cs typeface="Times New Roman"/>
                <a:sym typeface="Times New Roman"/>
              </a:rPr>
              <a:t>0’ = 1.</a:t>
            </a:r>
            <a:endParaRPr sz="2400">
              <a:solidFill>
                <a:srgbClr val="0000FF"/>
              </a:solidFill>
              <a:latin typeface="Times New Roman"/>
              <a:ea typeface="Times New Roman"/>
              <a:cs typeface="Times New Roman"/>
              <a:sym typeface="Times New Roman"/>
            </a:endParaRPr>
          </a:p>
          <a:p>
            <a:pPr indent="0" lvl="0" marL="457200" marR="0" rtl="0" algn="l">
              <a:lnSpc>
                <a:spcPct val="130000"/>
              </a:lnSpc>
              <a:spcBef>
                <a:spcPts val="600"/>
              </a:spcBef>
              <a:spcAft>
                <a:spcPts val="0"/>
              </a:spcAft>
              <a:buNone/>
            </a:pPr>
            <a:r>
              <a:rPr b="1" lang="en-US" sz="2400">
                <a:solidFill>
                  <a:srgbClr val="0000FF"/>
                </a:solidFill>
              </a:rPr>
              <a:t>11. Tính hút</a:t>
            </a:r>
            <a:r>
              <a:rPr lang="en-US" sz="2400">
                <a:solidFill>
                  <a:srgbClr val="0000FF"/>
                </a:solidFill>
              </a:rPr>
              <a:t>: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 x</a:t>
            </a:r>
            <a:r>
              <a:rPr lang="en-US" sz="2400">
                <a:solidFill>
                  <a:srgbClr val="0000FF"/>
                </a:solidFill>
                <a:latin typeface="Times New Roman"/>
                <a:ea typeface="Times New Roman"/>
                <a:cs typeface="Times New Roman"/>
                <a:sym typeface="Times New Roman"/>
              </a:rPr>
              <a:t>+(</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r>
              <a:rPr lang="en-US" sz="2400">
                <a:solidFill>
                  <a:srgbClr val="0000FF"/>
                </a:solidFill>
              </a:rPr>
              <a:t>y</a:t>
            </a:r>
            <a:r>
              <a:rPr lang="en-US" sz="2400">
                <a:solidFill>
                  <a:srgbClr val="0000FF"/>
                </a:solidFill>
                <a:latin typeface="Times New Roman"/>
                <a:ea typeface="Times New Roman"/>
                <a:cs typeface="Times New Roman"/>
                <a:sym typeface="Times New Roman"/>
              </a:rPr>
              <a:t>) = </a:t>
            </a:r>
            <a:r>
              <a:rPr lang="en-US" sz="2400">
                <a:solidFill>
                  <a:srgbClr val="0000FF"/>
                </a:solidFill>
              </a:rPr>
              <a:t>x</a:t>
            </a:r>
            <a:r>
              <a:rPr lang="en-US" sz="2400">
                <a:solidFill>
                  <a:srgbClr val="0000FF"/>
                </a:solidFill>
                <a:latin typeface="Times New Roman"/>
                <a:ea typeface="Times New Roman"/>
                <a:cs typeface="Times New Roman"/>
                <a:sym typeface="Times New Roman"/>
              </a:rPr>
              <a:t>.</a:t>
            </a:r>
            <a:endParaRPr sz="2400">
              <a:solidFill>
                <a:srgbClr val="0000FF"/>
              </a:solidFill>
              <a:latin typeface="Times New Roman"/>
              <a:ea typeface="Times New Roman"/>
              <a:cs typeface="Times New Roman"/>
              <a:sym typeface="Times New Roman"/>
            </a:endParaRPr>
          </a:p>
          <a:p>
            <a:pPr indent="0" lvl="0" marL="0" marR="0" rtl="0" algn="l">
              <a:lnSpc>
                <a:spcPct val="130000"/>
              </a:lnSpc>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91440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a:p>
            <a:pPr indent="0" lvl="0" marL="0" rtl="0" algn="l">
              <a:spcBef>
                <a:spcPts val="600"/>
              </a:spcBef>
              <a:spcAft>
                <a:spcPts val="0"/>
              </a:spcAft>
              <a:buNone/>
            </a:pPr>
            <a:r>
              <a:t/>
            </a:r>
            <a:endParaRPr sz="2400">
              <a:solidFill>
                <a:srgbClr val="0000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121429f3121_0_176"/>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03" name="Google Shape;203;g121429f3121_0_176"/>
          <p:cNvSpPr txBox="1"/>
          <p:nvPr>
            <p:ph idx="1" type="body"/>
          </p:nvPr>
        </p:nvSpPr>
        <p:spPr>
          <a:xfrm>
            <a:off x="425200" y="1751675"/>
            <a:ext cx="85245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B = {0,1}; x thuộc B</a:t>
            </a:r>
            <a:r>
              <a:rPr baseline="30000" lang="en-US" sz="2400">
                <a:solidFill>
                  <a:srgbClr val="0000FF"/>
                </a:solidFill>
              </a:rPr>
              <a:t>n</a:t>
            </a:r>
            <a:r>
              <a:rPr lang="en-US" sz="2400">
                <a:solidFill>
                  <a:srgbClr val="0000FF"/>
                </a:solidFill>
              </a:rPr>
              <a:t>, thì x là </a:t>
            </a:r>
            <a:r>
              <a:rPr b="1" lang="en-US" sz="2400">
                <a:solidFill>
                  <a:srgbClr val="0000FF"/>
                </a:solidFill>
              </a:rPr>
              <a:t>biến Boole</a:t>
            </a:r>
            <a:endParaRPr b="1" sz="2400">
              <a:solidFill>
                <a:srgbClr val="0000FF"/>
              </a:solidFill>
            </a:endParaRPr>
          </a:p>
          <a:p>
            <a:pPr indent="-381000" lvl="0" marL="457200" rtl="0" algn="l">
              <a:spcBef>
                <a:spcPts val="0"/>
              </a:spcBef>
              <a:spcAft>
                <a:spcPts val="0"/>
              </a:spcAft>
              <a:buClr>
                <a:srgbClr val="0000FF"/>
              </a:buClr>
              <a:buSzPts val="2400"/>
              <a:buChar char="•"/>
            </a:pPr>
            <a:r>
              <a:rPr lang="en-US" sz="2400">
                <a:solidFill>
                  <a:srgbClr val="0000FF"/>
                </a:solidFill>
              </a:rPr>
              <a:t>Hàm f:</a:t>
            </a:r>
            <a:r>
              <a:rPr b="1" lang="en-US" sz="2400">
                <a:solidFill>
                  <a:srgbClr val="0000FF"/>
                </a:solidFill>
              </a:rPr>
              <a:t> </a:t>
            </a:r>
            <a:r>
              <a:rPr lang="en-US" sz="2400">
                <a:solidFill>
                  <a:srgbClr val="0000FF"/>
                </a:solidFill>
              </a:rPr>
              <a:t>B</a:t>
            </a:r>
            <a:r>
              <a:rPr baseline="30000" lang="en-US" sz="2400">
                <a:solidFill>
                  <a:srgbClr val="0000FF"/>
                </a:solidFill>
              </a:rPr>
              <a:t>n</a:t>
            </a:r>
            <a:r>
              <a:rPr lang="en-US" sz="2400">
                <a:solidFill>
                  <a:srgbClr val="0000FF"/>
                </a:solidFill>
              </a:rPr>
              <a:t> → B, f - </a:t>
            </a:r>
            <a:r>
              <a:rPr b="1" lang="en-US" sz="2400">
                <a:solidFill>
                  <a:srgbClr val="0000FF"/>
                </a:solidFill>
              </a:rPr>
              <a:t>hàm Boole bậc n</a:t>
            </a:r>
            <a:r>
              <a:rPr lang="en-US" sz="2400">
                <a:solidFill>
                  <a:srgbClr val="0000FF"/>
                </a:solidFill>
              </a:rPr>
              <a:t> nếu:</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f(x) thuộc B;</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 hàm boole, thì hàm phủ định của f cũng là hàm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f và g là các hàm boole, thì f &amp; g và f | g cũng là hàm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Mọi hàm tạo ra từ hữu hạn quy tắc trên đều là hàm boole</a:t>
            </a:r>
            <a:endParaRPr sz="2400">
              <a:solidFill>
                <a:srgbClr val="0000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121429f3121_0_188"/>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10" name="Google Shape;210;g121429f3121_0_188"/>
          <p:cNvSpPr txBox="1"/>
          <p:nvPr>
            <p:ph idx="1" type="body"/>
          </p:nvPr>
        </p:nvSpPr>
        <p:spPr>
          <a:xfrm>
            <a:off x="425200" y="1751675"/>
            <a:ext cx="85245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Biểu thức Boole được định nghĩa:</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x là biến Boole, thì x là biểu thức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0, 1 là biểu thức Boole</a:t>
            </a:r>
            <a:endParaRPr sz="2400">
              <a:solidFill>
                <a:srgbClr val="0000FF"/>
              </a:solidFill>
            </a:endParaRPr>
          </a:p>
          <a:p>
            <a:pPr indent="-381000" lvl="1" marL="914400" rtl="0" algn="l">
              <a:spcBef>
                <a:spcPts val="0"/>
              </a:spcBef>
              <a:spcAft>
                <a:spcPts val="0"/>
              </a:spcAft>
              <a:buClr>
                <a:srgbClr val="0000FF"/>
              </a:buClr>
              <a:buSzPts val="2400"/>
              <a:buChar char="-"/>
            </a:pPr>
            <a:r>
              <a:rPr lang="en-US" sz="2400">
                <a:solidFill>
                  <a:srgbClr val="0000FF"/>
                </a:solidFill>
              </a:rPr>
              <a:t>E, F là biểu thức Boole, thì hữu hạn các </a:t>
            </a:r>
            <a:r>
              <a:rPr lang="en-US" sz="2400">
                <a:solidFill>
                  <a:srgbClr val="0000FF"/>
                </a:solidFill>
              </a:rPr>
              <a:t>các</a:t>
            </a:r>
            <a:r>
              <a:rPr lang="en-US" sz="2400">
                <a:solidFill>
                  <a:srgbClr val="0000FF"/>
                </a:solidFill>
              </a:rPr>
              <a:t> phép toán toán “.” và ‘+’ cũng là biểu thức Boole</a:t>
            </a:r>
            <a:endParaRPr sz="2400">
              <a:solidFill>
                <a:srgbClr val="0000FF"/>
              </a:solidFill>
            </a:endParaRPr>
          </a:p>
          <a:p>
            <a:pPr indent="-381000" lvl="0" marL="457200" rtl="0" algn="l">
              <a:spcBef>
                <a:spcPts val="0"/>
              </a:spcBef>
              <a:spcAft>
                <a:spcPts val="0"/>
              </a:spcAft>
              <a:buClr>
                <a:srgbClr val="0000FF"/>
              </a:buClr>
              <a:buSzPts val="2400"/>
              <a:buChar char="•"/>
            </a:pPr>
            <a:r>
              <a:rPr b="1" lang="en-US" sz="2400">
                <a:solidFill>
                  <a:srgbClr val="0000FF"/>
                </a:solidFill>
              </a:rPr>
              <a:t>Hàm Boole f </a:t>
            </a:r>
            <a:r>
              <a:rPr lang="en-US" sz="2400">
                <a:solidFill>
                  <a:srgbClr val="0000FF"/>
                </a:solidFill>
              </a:rPr>
              <a:t>có thể được biểu diễn bởi biểu thức </a:t>
            </a:r>
            <a:r>
              <a:rPr b="1" lang="en-US" sz="2400">
                <a:solidFill>
                  <a:srgbClr val="0000FF"/>
                </a:solidFill>
              </a:rPr>
              <a:t>Boole E</a:t>
            </a:r>
            <a:endParaRPr b="1" sz="2400">
              <a:solidFill>
                <a:srgbClr val="0000FF"/>
              </a:solidFill>
            </a:endParaRPr>
          </a:p>
          <a:p>
            <a:pPr indent="0" lvl="0" marL="457200" rtl="0" algn="l">
              <a:spcBef>
                <a:spcPts val="600"/>
              </a:spcBef>
              <a:spcAft>
                <a:spcPts val="0"/>
              </a:spcAft>
              <a:buNone/>
            </a:pPr>
            <a:r>
              <a:t/>
            </a:r>
            <a:endParaRPr sz="2400">
              <a:solidFill>
                <a:srgbClr val="0000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21429f3121_0_182"/>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17" name="Google Shape;217;g121429f3121_0_182"/>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rPr lang="en-US" sz="2400">
                <a:solidFill>
                  <a:srgbClr val="0000FF"/>
                </a:solidFill>
              </a:rPr>
              <a:t>Các hàm Boole đặc biệt</a:t>
            </a:r>
            <a:endParaRPr sz="2400">
              <a:solidFill>
                <a:srgbClr val="0000FF"/>
              </a:solidFill>
            </a:endParaRPr>
          </a:p>
        </p:txBody>
      </p:sp>
      <p:pic>
        <p:nvPicPr>
          <p:cNvPr id="218" name="Google Shape;218;g121429f3121_0_182"/>
          <p:cNvPicPr preferRelativeResize="0"/>
          <p:nvPr/>
        </p:nvPicPr>
        <p:blipFill rotWithShape="1">
          <a:blip r:embed="rId3">
            <a:alphaModFix/>
          </a:blip>
          <a:srcRect b="0" l="0" r="0" t="0"/>
          <a:stretch/>
        </p:blipFill>
        <p:spPr>
          <a:xfrm>
            <a:off x="768850" y="2384175"/>
            <a:ext cx="7162801" cy="1752600"/>
          </a:xfrm>
          <a:prstGeom prst="rect">
            <a:avLst/>
          </a:prstGeom>
          <a:noFill/>
          <a:ln>
            <a:noFill/>
          </a:ln>
        </p:spPr>
      </p:pic>
      <p:sp>
        <p:nvSpPr>
          <p:cNvPr id="219" name="Google Shape;219;g121429f3121_0_182"/>
          <p:cNvSpPr txBox="1"/>
          <p:nvPr>
            <p:ph idx="4294967295" type="body"/>
          </p:nvPr>
        </p:nvSpPr>
        <p:spPr>
          <a:xfrm>
            <a:off x="1107975" y="4365950"/>
            <a:ext cx="3033300" cy="2059800"/>
          </a:xfrm>
          <a:prstGeom prst="rect">
            <a:avLst/>
          </a:prstGeom>
          <a:blipFill rotWithShape="1">
            <a:blip r:embed="rId4">
              <a:alphaModFix/>
            </a:blip>
            <a:stretch>
              <a:fillRect b="0" l="-1470" r="0" t="-1000"/>
            </a:stretch>
          </a:blipFill>
          <a:ln>
            <a:noFill/>
          </a:ln>
        </p:spPr>
        <p:txBody>
          <a:bodyPr anchorCtr="0" anchor="t" bIns="45700" lIns="91425" spcFirstLastPara="1" rIns="91425" wrap="square" tIns="45700">
            <a:noAutofit/>
          </a:bodyPr>
          <a:lstStyle/>
          <a:p>
            <a:pPr indent="-336550" lvl="0" marL="342900" rtl="0" algn="l">
              <a:spcBef>
                <a:spcPts val="0"/>
              </a:spcBef>
              <a:spcAft>
                <a:spcPts val="0"/>
              </a:spcAft>
              <a:buSzPts val="2300"/>
              <a:buChar char="•"/>
            </a:pPr>
            <a:r>
              <a:rPr lang="en-US" sz="1700"/>
              <a:t> </a:t>
            </a:r>
            <a:endParaRPr sz="1700"/>
          </a:p>
        </p:txBody>
      </p:sp>
      <p:sp>
        <p:nvSpPr>
          <p:cNvPr id="220" name="Google Shape;220;g121429f3121_0_182"/>
          <p:cNvSpPr txBox="1"/>
          <p:nvPr>
            <p:ph idx="4294967295" type="body"/>
          </p:nvPr>
        </p:nvSpPr>
        <p:spPr>
          <a:xfrm>
            <a:off x="4774375" y="4474775"/>
            <a:ext cx="2943900" cy="1950900"/>
          </a:xfrm>
          <a:prstGeom prst="rect">
            <a:avLst/>
          </a:prstGeom>
          <a:blipFill rotWithShape="1">
            <a:blip r:embed="rId5">
              <a:alphaModFix/>
            </a:blip>
            <a:stretch>
              <a:fillRect b="0" l="-2310" r="0" t="-80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121429f3121_1_8"/>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27" name="Google Shape;227;g121429f3121_1_8"/>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381000" lvl="0" marL="457200" rtl="0" algn="l">
              <a:spcBef>
                <a:spcPts val="600"/>
              </a:spcBef>
              <a:spcAft>
                <a:spcPts val="0"/>
              </a:spcAft>
              <a:buClr>
                <a:srgbClr val="0000FF"/>
              </a:buClr>
              <a:buSzPts val="2400"/>
              <a:buChar char="•"/>
            </a:pPr>
            <a:r>
              <a:rPr lang="en-US" sz="2400">
                <a:solidFill>
                  <a:srgbClr val="0000FF"/>
                </a:solidFill>
              </a:rPr>
              <a:t>F hàm Boole bậc n, T</a:t>
            </a:r>
            <a:r>
              <a:rPr baseline="-25000" lang="en-US" sz="2400">
                <a:solidFill>
                  <a:srgbClr val="0000FF"/>
                </a:solidFill>
              </a:rPr>
              <a:t>F</a:t>
            </a:r>
            <a:r>
              <a:rPr lang="en-US" sz="2400">
                <a:solidFill>
                  <a:srgbClr val="0000FF"/>
                </a:solidFill>
              </a:rPr>
              <a:t> = {x thuộc B</a:t>
            </a:r>
            <a:r>
              <a:rPr baseline="30000" lang="en-US" sz="2400">
                <a:solidFill>
                  <a:srgbClr val="0000FF"/>
                </a:solidFill>
              </a:rPr>
              <a:t>n</a:t>
            </a:r>
            <a:r>
              <a:rPr lang="en-US" sz="2400">
                <a:solidFill>
                  <a:srgbClr val="0000FF"/>
                </a:solidFill>
              </a:rPr>
              <a:t>: F(x) = 1}, thì </a:t>
            </a:r>
            <a:r>
              <a:rPr b="1" lang="en-US" sz="2400">
                <a:solidFill>
                  <a:srgbClr val="0000FF"/>
                </a:solidFill>
              </a:rPr>
              <a:t>T</a:t>
            </a:r>
            <a:r>
              <a:rPr b="1" baseline="-25000" lang="en-US" sz="2400">
                <a:solidFill>
                  <a:srgbClr val="0000FF"/>
                </a:solidFill>
              </a:rPr>
              <a:t>F</a:t>
            </a:r>
            <a:r>
              <a:rPr b="1" lang="en-US" sz="2400">
                <a:solidFill>
                  <a:srgbClr val="0000FF"/>
                </a:solidFill>
              </a:rPr>
              <a:t> - tập đặc trưng của hàm F. </a:t>
            </a:r>
            <a:endParaRPr b="1"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x là biến  Boole, x</a:t>
            </a:r>
            <a:r>
              <a:rPr baseline="30000" lang="en-US" sz="2400">
                <a:solidFill>
                  <a:srgbClr val="0000FF"/>
                </a:solidFill>
              </a:rPr>
              <a:t>Belta</a:t>
            </a:r>
            <a:r>
              <a:rPr lang="en-US" sz="2400">
                <a:solidFill>
                  <a:srgbClr val="0000FF"/>
                </a:solidFill>
              </a:rPr>
              <a:t> = x, nếu Belta = 1 hoặc x</a:t>
            </a:r>
            <a:r>
              <a:rPr baseline="30000" lang="en-US" sz="2400">
                <a:solidFill>
                  <a:srgbClr val="0000FF"/>
                </a:solidFill>
              </a:rPr>
              <a:t>Belta</a:t>
            </a:r>
            <a:r>
              <a:rPr lang="en-US" sz="2400">
                <a:solidFill>
                  <a:srgbClr val="0000FF"/>
                </a:solidFill>
              </a:rPr>
              <a:t> = ~x, nếu Belta = 0, thì </a:t>
            </a:r>
            <a:r>
              <a:rPr b="1" lang="en-US" sz="2400">
                <a:solidFill>
                  <a:srgbClr val="0000FF"/>
                </a:solidFill>
              </a:rPr>
              <a:t>x</a:t>
            </a:r>
            <a:r>
              <a:rPr b="1" baseline="30000" lang="en-US" sz="2400">
                <a:solidFill>
                  <a:srgbClr val="0000FF"/>
                </a:solidFill>
              </a:rPr>
              <a:t>Belta  </a:t>
            </a:r>
            <a:r>
              <a:rPr b="1" lang="en-US" sz="2400">
                <a:solidFill>
                  <a:srgbClr val="0000FF"/>
                </a:solidFill>
              </a:rPr>
              <a:t> - tục biến .</a:t>
            </a:r>
            <a:endParaRPr b="1"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lang="en-US" sz="2400">
                <a:solidFill>
                  <a:srgbClr val="0000FF"/>
                </a:solidFill>
              </a:rPr>
              <a:t>Cho x</a:t>
            </a:r>
            <a:r>
              <a:rPr baseline="-25000" lang="en-US" sz="2400">
                <a:solidFill>
                  <a:srgbClr val="0000FF"/>
                </a:solidFill>
              </a:rPr>
              <a:t>1</a:t>
            </a:r>
            <a:r>
              <a:rPr lang="en-US" sz="2400">
                <a:solidFill>
                  <a:srgbClr val="0000FF"/>
                </a:solidFill>
              </a:rPr>
              <a:t>, x</a:t>
            </a:r>
            <a:r>
              <a:rPr baseline="-25000" lang="en-US" sz="2400">
                <a:solidFill>
                  <a:srgbClr val="0000FF"/>
                </a:solidFill>
              </a:rPr>
              <a:t>2</a:t>
            </a:r>
            <a:r>
              <a:rPr lang="en-US" sz="2400">
                <a:solidFill>
                  <a:srgbClr val="0000FF"/>
                </a:solidFill>
              </a:rPr>
              <a:t>,..., x</a:t>
            </a:r>
            <a:r>
              <a:rPr baseline="-25000" lang="en-US" sz="2400">
                <a:solidFill>
                  <a:srgbClr val="0000FF"/>
                </a:solidFill>
              </a:rPr>
              <a:t>n</a:t>
            </a:r>
            <a:r>
              <a:rPr lang="en-US" sz="2400">
                <a:solidFill>
                  <a:srgbClr val="0000FF"/>
                </a:solidFill>
              </a:rPr>
              <a:t>  -  n biến Boole,</a:t>
            </a:r>
            <a:r>
              <a:rPr b="1" lang="en-US" sz="2400">
                <a:solidFill>
                  <a:srgbClr val="0000FF"/>
                </a:solidFill>
              </a:rPr>
              <a:t> </a:t>
            </a:r>
            <a:r>
              <a:rPr lang="en-US" sz="2400">
                <a:solidFill>
                  <a:srgbClr val="0000FF"/>
                </a:solidFill>
              </a:rPr>
              <a:t>thì biểu thức</a:t>
            </a:r>
            <a:endParaRPr sz="2400">
              <a:solidFill>
                <a:srgbClr val="0000FF"/>
              </a:solidFill>
            </a:endParaRPr>
          </a:p>
          <a:p>
            <a:pPr indent="0" lvl="0" marL="457200" marR="0" rtl="0" algn="l">
              <a:lnSpc>
                <a:spcPct val="130000"/>
              </a:lnSpc>
              <a:spcBef>
                <a:spcPts val="600"/>
              </a:spcBef>
              <a:spcAft>
                <a:spcPts val="0"/>
              </a:spcAft>
              <a:buNone/>
            </a:pPr>
            <a:r>
              <a:rPr b="1" lang="en-US" sz="2400">
                <a:solidFill>
                  <a:srgbClr val="0000FF"/>
                </a:solidFill>
              </a:rPr>
              <a:t>x</a:t>
            </a:r>
            <a:r>
              <a:rPr b="1" baseline="30000" lang="en-US" sz="2400">
                <a:solidFill>
                  <a:srgbClr val="0000FF"/>
                </a:solidFill>
              </a:rPr>
              <a:t>B1</a:t>
            </a:r>
            <a:r>
              <a:rPr b="1" baseline="-25000" lang="en-US" sz="2400">
                <a:solidFill>
                  <a:srgbClr val="0000FF"/>
                </a:solidFill>
              </a:rPr>
              <a:t>i1</a:t>
            </a:r>
            <a:r>
              <a:rPr b="1" lang="en-US" sz="2400">
                <a:solidFill>
                  <a:srgbClr val="0000FF"/>
                </a:solidFill>
              </a:rPr>
              <a:t>.x</a:t>
            </a:r>
            <a:r>
              <a:rPr b="1" baseline="30000" lang="en-US" sz="2400">
                <a:solidFill>
                  <a:srgbClr val="0000FF"/>
                </a:solidFill>
              </a:rPr>
              <a:t>B2</a:t>
            </a:r>
            <a:r>
              <a:rPr b="1" baseline="-25000" lang="en-US" sz="2400">
                <a:solidFill>
                  <a:srgbClr val="0000FF"/>
                </a:solidFill>
              </a:rPr>
              <a:t>i2</a:t>
            </a:r>
            <a:r>
              <a:rPr b="1" lang="en-US" sz="2400">
                <a:solidFill>
                  <a:srgbClr val="0000FF"/>
                </a:solidFill>
              </a:rPr>
              <a:t>..... x</a:t>
            </a:r>
            <a:r>
              <a:rPr b="1" baseline="30000" lang="en-US" sz="2400">
                <a:solidFill>
                  <a:srgbClr val="0000FF"/>
                </a:solidFill>
              </a:rPr>
              <a:t>Bk</a:t>
            </a:r>
            <a:r>
              <a:rPr b="1" baseline="-25000" lang="en-US" sz="2400">
                <a:solidFill>
                  <a:srgbClr val="0000FF"/>
                </a:solidFill>
              </a:rPr>
              <a:t>ik </a:t>
            </a:r>
            <a:r>
              <a:rPr baseline="-25000" lang="en-US" sz="2400">
                <a:solidFill>
                  <a:srgbClr val="0000FF"/>
                </a:solidFill>
              </a:rPr>
              <a:t>  </a:t>
            </a:r>
            <a:r>
              <a:rPr lang="en-US" sz="2400">
                <a:solidFill>
                  <a:srgbClr val="0000FF"/>
                </a:solidFill>
              </a:rPr>
              <a:t> với Bi thuộc B, 1&lt;=i1&lt;i2&lt;....&lt;ik&lt;=n,</a:t>
            </a:r>
            <a:r>
              <a:rPr b="1" lang="en-US" sz="2400">
                <a:solidFill>
                  <a:srgbClr val="0000FF"/>
                </a:solidFill>
              </a:rPr>
              <a:t> </a:t>
            </a:r>
            <a:r>
              <a:rPr lang="en-US" sz="2400">
                <a:solidFill>
                  <a:srgbClr val="0000FF"/>
                </a:solidFill>
              </a:rPr>
              <a:t>gọi là</a:t>
            </a:r>
            <a:r>
              <a:rPr b="1" lang="en-US" sz="2400">
                <a:solidFill>
                  <a:srgbClr val="0000FF"/>
                </a:solidFill>
              </a:rPr>
              <a:t> Hội sơ cấp của n biến </a:t>
            </a:r>
            <a:r>
              <a:rPr lang="en-US" sz="2400">
                <a:solidFill>
                  <a:srgbClr val="0000FF"/>
                </a:solidFill>
              </a:rPr>
              <a:t>x</a:t>
            </a:r>
            <a:r>
              <a:rPr baseline="-25000" lang="en-US" sz="2400">
                <a:solidFill>
                  <a:srgbClr val="0000FF"/>
                </a:solidFill>
              </a:rPr>
              <a:t>1</a:t>
            </a:r>
            <a:r>
              <a:rPr lang="en-US" sz="2400">
                <a:solidFill>
                  <a:srgbClr val="0000FF"/>
                </a:solidFill>
              </a:rPr>
              <a:t>, x</a:t>
            </a:r>
            <a:r>
              <a:rPr baseline="-25000" lang="en-US" sz="2400">
                <a:solidFill>
                  <a:srgbClr val="0000FF"/>
                </a:solidFill>
              </a:rPr>
              <a:t>2</a:t>
            </a:r>
            <a:r>
              <a:rPr lang="en-US" sz="2400">
                <a:solidFill>
                  <a:srgbClr val="0000FF"/>
                </a:solidFill>
              </a:rPr>
              <a:t>,..., x</a:t>
            </a:r>
            <a:r>
              <a:rPr baseline="-25000" lang="en-US" sz="2400">
                <a:solidFill>
                  <a:srgbClr val="0000FF"/>
                </a:solidFill>
              </a:rPr>
              <a:t>n</a:t>
            </a:r>
            <a:r>
              <a:rPr lang="en-US" sz="2400">
                <a:solidFill>
                  <a:srgbClr val="0000FF"/>
                </a:solidFill>
              </a:rPr>
              <a:t>.</a:t>
            </a:r>
            <a:endParaRPr sz="2400">
              <a:solidFill>
                <a:srgbClr val="0000FF"/>
              </a:solidFill>
            </a:endParaRPr>
          </a:p>
          <a:p>
            <a:pPr indent="-381000" lvl="0" marL="457200" marR="0" rtl="0" algn="l">
              <a:lnSpc>
                <a:spcPct val="130000"/>
              </a:lnSpc>
              <a:spcBef>
                <a:spcPts val="600"/>
              </a:spcBef>
              <a:spcAft>
                <a:spcPts val="0"/>
              </a:spcAft>
              <a:buClr>
                <a:srgbClr val="0000FF"/>
              </a:buClr>
              <a:buSzPts val="2400"/>
              <a:buChar char="•"/>
            </a:pPr>
            <a:r>
              <a:rPr lang="en-US" sz="2400">
                <a:solidFill>
                  <a:srgbClr val="0000FF"/>
                </a:solidFill>
              </a:rPr>
              <a:t>Số biến xuất hiện trong hội sơ cấp gọi là </a:t>
            </a:r>
            <a:r>
              <a:rPr b="1" lang="en-US" sz="2400">
                <a:solidFill>
                  <a:srgbClr val="0000FF"/>
                </a:solidFill>
              </a:rPr>
              <a:t>hạng của hội sơ cấp</a:t>
            </a:r>
            <a:r>
              <a:rPr lang="en-US" sz="2400">
                <a:solidFill>
                  <a:srgbClr val="0000FF"/>
                </a:solidFill>
              </a:rPr>
              <a:t>.</a:t>
            </a:r>
            <a:endParaRPr sz="2400">
              <a:solidFill>
                <a:srgbClr val="0000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121429f3121_1_17"/>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34" name="Google Shape;234;g121429f3121_1_17"/>
          <p:cNvSpPr txBox="1"/>
          <p:nvPr>
            <p:ph idx="1" type="body"/>
          </p:nvPr>
        </p:nvSpPr>
        <p:spPr>
          <a:xfrm>
            <a:off x="425200" y="1751675"/>
            <a:ext cx="8216400" cy="4782900"/>
          </a:xfrm>
          <a:prstGeom prst="rect">
            <a:avLst/>
          </a:prstGeom>
        </p:spPr>
        <p:txBody>
          <a:bodyPr anchorCtr="0" anchor="t" bIns="45700" lIns="91425" spcFirstLastPara="1" rIns="91425" wrap="square" tIns="45700">
            <a:noAutofit/>
          </a:bodyPr>
          <a:lstStyle/>
          <a:p>
            <a:pPr indent="-381000" lvl="0" marL="457200" marR="0" rtl="0" algn="l">
              <a:lnSpc>
                <a:spcPct val="130000"/>
              </a:lnSpc>
              <a:spcBef>
                <a:spcPts val="600"/>
              </a:spcBef>
              <a:spcAft>
                <a:spcPts val="0"/>
              </a:spcAft>
              <a:buClr>
                <a:srgbClr val="0000FF"/>
              </a:buClr>
              <a:buSzPts val="2400"/>
              <a:buChar char="•"/>
            </a:pPr>
            <a:r>
              <a:rPr b="1" lang="en-US" sz="2400">
                <a:solidFill>
                  <a:srgbClr val="0000FF"/>
                </a:solidFill>
              </a:rPr>
              <a:t>Dạng tuyển chuẩn tắc</a:t>
            </a:r>
            <a:r>
              <a:rPr lang="en-US" sz="2400">
                <a:solidFill>
                  <a:srgbClr val="0000FF"/>
                </a:solidFill>
              </a:rPr>
              <a:t> của một hàm boole F bậc n là một  biểu diễn biểu thức dưới dạng tổng của một số hội sơ cấp khác nhau của n biến.</a:t>
            </a:r>
            <a:endParaRPr sz="2400">
              <a:solidFill>
                <a:srgbClr val="0000FF"/>
              </a:solidFill>
            </a:endParaRPr>
          </a:p>
          <a:p>
            <a:pPr indent="-381000" lvl="0" marL="457200" marR="0" rtl="0" algn="l">
              <a:lnSpc>
                <a:spcPct val="130000"/>
              </a:lnSpc>
              <a:spcBef>
                <a:spcPts val="0"/>
              </a:spcBef>
              <a:spcAft>
                <a:spcPts val="0"/>
              </a:spcAft>
              <a:buClr>
                <a:srgbClr val="0000FF"/>
              </a:buClr>
              <a:buSzPts val="2400"/>
              <a:buChar char="•"/>
            </a:pPr>
            <a:r>
              <a:rPr b="1" lang="en-US" sz="2400">
                <a:solidFill>
                  <a:srgbClr val="0000FF"/>
                </a:solidFill>
              </a:rPr>
              <a:t>Dạng tuyển chuẩn tắc hoàn toàn</a:t>
            </a:r>
            <a:r>
              <a:rPr lang="en-US" sz="2400">
                <a:solidFill>
                  <a:srgbClr val="0000FF"/>
                </a:solidFill>
              </a:rPr>
              <a:t> là dạng chuẩn tắc duy nhất của F mà trong đó các hội sơ cấp đều có hạng n.</a:t>
            </a:r>
            <a:endParaRPr sz="2400">
              <a:solidFill>
                <a:srgbClr val="0000FF"/>
              </a:solidFill>
            </a:endParaRPr>
          </a:p>
          <a:p>
            <a:pPr indent="-381000" lvl="0" marL="457200" rtl="0" algn="l">
              <a:lnSpc>
                <a:spcPct val="100000"/>
              </a:lnSpc>
              <a:spcBef>
                <a:spcPts val="0"/>
              </a:spcBef>
              <a:spcAft>
                <a:spcPts val="0"/>
              </a:spcAft>
              <a:buClr>
                <a:srgbClr val="000000"/>
              </a:buClr>
              <a:buSzPts val="2400"/>
              <a:buChar char="•"/>
            </a:pPr>
            <a:r>
              <a:rPr lang="en-US" sz="2400">
                <a:solidFill>
                  <a:srgbClr val="0000FF"/>
                </a:solidFill>
              </a:rPr>
              <a:t>Minh họa dạng tổng chuẩn tắc hoàn toàn của hàm F</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0" lvl="0" marL="1524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190500" lvl="0" marL="342900" rtl="0" algn="l">
              <a:lnSpc>
                <a:spcPct val="100000"/>
              </a:lnSpc>
              <a:spcBef>
                <a:spcPts val="480"/>
              </a:spcBef>
              <a:spcAft>
                <a:spcPts val="0"/>
              </a:spcAft>
              <a:buClr>
                <a:srgbClr val="000000"/>
              </a:buClr>
              <a:buSzPts val="2400"/>
              <a:buFont typeface="Arial"/>
              <a:buNone/>
            </a:pPr>
            <a:r>
              <a:t/>
            </a:r>
            <a:endParaRPr sz="2400">
              <a:solidFill>
                <a:srgbClr val="000000"/>
              </a:solidFill>
            </a:endParaRPr>
          </a:p>
          <a:p>
            <a:pPr indent="0" lvl="0" marL="0" marR="0" rtl="0" algn="l">
              <a:lnSpc>
                <a:spcPct val="130000"/>
              </a:lnSpc>
              <a:spcBef>
                <a:spcPts val="600"/>
              </a:spcBef>
              <a:spcAft>
                <a:spcPts val="0"/>
              </a:spcAft>
              <a:buNone/>
            </a:pPr>
            <a:r>
              <a:t/>
            </a:r>
            <a:endParaRPr sz="2400">
              <a:solidFill>
                <a:srgbClr val="0000FF"/>
              </a:solidFill>
            </a:endParaRPr>
          </a:p>
        </p:txBody>
      </p:sp>
      <p:pic>
        <p:nvPicPr>
          <p:cNvPr id="235" name="Google Shape;235;g121429f3121_1_17"/>
          <p:cNvPicPr preferRelativeResize="0"/>
          <p:nvPr/>
        </p:nvPicPr>
        <p:blipFill rotWithShape="1">
          <a:blip r:embed="rId3">
            <a:alphaModFix/>
          </a:blip>
          <a:srcRect b="0" l="0" r="0" t="0"/>
          <a:stretch/>
        </p:blipFill>
        <p:spPr>
          <a:xfrm>
            <a:off x="2457450" y="4878250"/>
            <a:ext cx="3581402" cy="381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121429f3121_1_24"/>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42" name="Google Shape;242;g121429f3121_1_24"/>
          <p:cNvSpPr txBox="1"/>
          <p:nvPr>
            <p:ph idx="1" type="body"/>
          </p:nvPr>
        </p:nvSpPr>
        <p:spPr>
          <a:xfrm>
            <a:off x="425200" y="1654425"/>
            <a:ext cx="8216400" cy="4880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0000"/>
              </a:buClr>
              <a:buSzPts val="2400"/>
              <a:buChar char="•"/>
            </a:pPr>
            <a:r>
              <a:rPr b="1" lang="en-US" sz="2400">
                <a:solidFill>
                  <a:srgbClr val="0000FF"/>
                </a:solidFill>
              </a:rPr>
              <a:t>Xây dựng hàm tuyển chuẩn tắc</a:t>
            </a:r>
            <a:endParaRPr sz="2400">
              <a:solidFill>
                <a:srgbClr val="000000"/>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1:  Sử dụng luật De Morgan và luật bù kép để đưa tất cả các phép bù vào trong các cặp ngoặc đơn cho đến khi phép bù chỉ dùng cho các biến. </a:t>
            </a:r>
            <a:endParaRPr>
              <a:solidFill>
                <a:srgbClr val="0000FF"/>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2:  Sử dụng luật phân phối để biến đổi tiếp thành tổng các tích.</a:t>
            </a:r>
            <a:endParaRPr>
              <a:solidFill>
                <a:srgbClr val="0000FF"/>
              </a:solidFill>
            </a:endParaRPr>
          </a:p>
          <a:p>
            <a:pPr indent="-342900" lvl="1" marL="914400" marR="0" rtl="0" algn="l">
              <a:lnSpc>
                <a:spcPct val="130000"/>
              </a:lnSpc>
              <a:spcBef>
                <a:spcPts val="0"/>
              </a:spcBef>
              <a:spcAft>
                <a:spcPts val="0"/>
              </a:spcAft>
              <a:buClr>
                <a:srgbClr val="0000FF"/>
              </a:buClr>
              <a:buSzPts val="1800"/>
              <a:buChar char="-"/>
            </a:pPr>
            <a:r>
              <a:rPr lang="en-US">
                <a:solidFill>
                  <a:srgbClr val="0000FF"/>
                </a:solidFill>
              </a:rPr>
              <a:t>Bước 3:  Sử dụng luật giao hoán, luật lũy đẳng, luật bù để biến đổi mỗi tích thành 0 hoặc hội sơ cấp.</a:t>
            </a:r>
            <a:endParaRPr>
              <a:solidFill>
                <a:srgbClr val="0000FF"/>
              </a:solidFill>
            </a:endParaRPr>
          </a:p>
          <a:p>
            <a:pPr indent="-342900" lvl="1" marL="914400" marR="0" rtl="0" algn="l">
              <a:lnSpc>
                <a:spcPct val="130000"/>
              </a:lnSpc>
              <a:spcBef>
                <a:spcPts val="0"/>
              </a:spcBef>
              <a:spcAft>
                <a:spcPts val="0"/>
              </a:spcAft>
              <a:buClr>
                <a:srgbClr val="0000FF"/>
              </a:buClr>
              <a:buSzPts val="1800"/>
              <a:buChar char="-"/>
            </a:pPr>
            <a:r>
              <a:rPr lang="en-US">
                <a:solidFill>
                  <a:srgbClr val="0000FF"/>
                </a:solidFill>
              </a:rPr>
              <a:t>Bước 4:  Sử dụng luật hấp thụ và luật đồng nhất để biến đổi thành tuyển chuẩn tắc.</a:t>
            </a:r>
            <a:endParaRPr sz="1400">
              <a:solidFill>
                <a:srgbClr val="000000"/>
              </a:solidFill>
            </a:endParaRPr>
          </a:p>
          <a:p>
            <a:pPr indent="-190500" lvl="0" marL="342900" rtl="0" algn="l">
              <a:lnSpc>
                <a:spcPct val="100000"/>
              </a:lnSpc>
              <a:spcBef>
                <a:spcPts val="480"/>
              </a:spcBef>
              <a:spcAft>
                <a:spcPts val="0"/>
              </a:spcAft>
              <a:buNone/>
            </a:pPr>
            <a:r>
              <a:t/>
            </a:r>
            <a:endParaRPr sz="2400">
              <a:solidFill>
                <a:srgbClr val="000000"/>
              </a:solidFill>
            </a:endParaRPr>
          </a:p>
          <a:p>
            <a:pPr indent="0" lvl="0" marL="152400" rtl="0" algn="l">
              <a:lnSpc>
                <a:spcPct val="100000"/>
              </a:lnSpc>
              <a:spcBef>
                <a:spcPts val="480"/>
              </a:spcBef>
              <a:spcAft>
                <a:spcPts val="0"/>
              </a:spcAft>
              <a:buNone/>
            </a:pPr>
            <a:r>
              <a:t/>
            </a:r>
            <a:endParaRPr sz="2400">
              <a:solidFill>
                <a:srgbClr val="000000"/>
              </a:solidFill>
            </a:endParaRPr>
          </a:p>
          <a:p>
            <a:pPr indent="-190500" lvl="0" marL="342900" rtl="0" algn="l">
              <a:lnSpc>
                <a:spcPct val="100000"/>
              </a:lnSpc>
              <a:spcBef>
                <a:spcPts val="480"/>
              </a:spcBef>
              <a:spcAft>
                <a:spcPts val="0"/>
              </a:spcAft>
              <a:buNone/>
            </a:pPr>
            <a:r>
              <a:t/>
            </a:r>
            <a:endParaRPr sz="2400">
              <a:solidFill>
                <a:srgbClr val="000000"/>
              </a:solidFill>
            </a:endParaRPr>
          </a:p>
          <a:p>
            <a:pPr indent="0" lvl="0" marL="0" marR="0" rtl="0" algn="l">
              <a:lnSpc>
                <a:spcPct val="130000"/>
              </a:lnSpc>
              <a:spcBef>
                <a:spcPts val="600"/>
              </a:spcBef>
              <a:spcAft>
                <a:spcPts val="0"/>
              </a:spcAft>
              <a:buNone/>
            </a:pPr>
            <a:r>
              <a:t/>
            </a:r>
            <a:endParaRPr sz="2400">
              <a:solidFill>
                <a:srgbClr val="0000FF"/>
              </a:solidFill>
            </a:endParaRPr>
          </a:p>
        </p:txBody>
      </p:sp>
      <p:pic>
        <p:nvPicPr>
          <p:cNvPr id="243" name="Google Shape;243;g121429f3121_1_24"/>
          <p:cNvPicPr preferRelativeResize="0"/>
          <p:nvPr/>
        </p:nvPicPr>
        <p:blipFill rotWithShape="1">
          <a:blip r:embed="rId3">
            <a:alphaModFix/>
          </a:blip>
          <a:srcRect b="0" l="0" r="0" t="0"/>
          <a:stretch/>
        </p:blipFill>
        <p:spPr>
          <a:xfrm>
            <a:off x="1965250" y="4814375"/>
            <a:ext cx="5354500" cy="1951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121429f3121_1_32"/>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HÀM BOOLE</a:t>
            </a:r>
            <a:endParaRPr/>
          </a:p>
        </p:txBody>
      </p:sp>
      <p:sp>
        <p:nvSpPr>
          <p:cNvPr id="250" name="Google Shape;250;g121429f3121_1_32"/>
          <p:cNvSpPr txBox="1"/>
          <p:nvPr>
            <p:ph idx="1" type="body"/>
          </p:nvPr>
        </p:nvSpPr>
        <p:spPr>
          <a:xfrm>
            <a:off x="425200" y="1654425"/>
            <a:ext cx="8216400" cy="4880100"/>
          </a:xfrm>
          <a:prstGeom prst="rect">
            <a:avLst/>
          </a:prstGeom>
        </p:spPr>
        <p:txBody>
          <a:bodyPr anchorCtr="0" anchor="t" bIns="45700" lIns="91425" spcFirstLastPara="1" rIns="91425" wrap="square" tIns="45700">
            <a:noAutofit/>
          </a:bodyPr>
          <a:lstStyle/>
          <a:p>
            <a:pPr indent="-381000" lvl="0" marL="457200" rtl="0" algn="l">
              <a:lnSpc>
                <a:spcPct val="115000"/>
              </a:lnSpc>
              <a:spcBef>
                <a:spcPts val="0"/>
              </a:spcBef>
              <a:spcAft>
                <a:spcPts val="0"/>
              </a:spcAft>
              <a:buClr>
                <a:srgbClr val="000000"/>
              </a:buClr>
              <a:buSzPts val="2400"/>
              <a:buChar char="•"/>
            </a:pPr>
            <a:r>
              <a:rPr b="1" lang="en-US" sz="2400">
                <a:solidFill>
                  <a:srgbClr val="0000FF"/>
                </a:solidFill>
              </a:rPr>
              <a:t>Xây dựng hàm tuyển chuẩn tắc </a:t>
            </a:r>
            <a:r>
              <a:rPr b="1" lang="en-US" sz="2400">
                <a:solidFill>
                  <a:srgbClr val="0000FF"/>
                </a:solidFill>
              </a:rPr>
              <a:t>hoàn toàn</a:t>
            </a:r>
            <a:endParaRPr sz="2400">
              <a:solidFill>
                <a:srgbClr val="000000"/>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1:  </a:t>
            </a:r>
            <a:r>
              <a:rPr lang="en-US">
                <a:solidFill>
                  <a:srgbClr val="0000FF"/>
                </a:solidFill>
              </a:rPr>
              <a:t>Tìm hội sơ cấp P trong E không chứa biến xi, nhân hội sơ cấp P với x</a:t>
            </a:r>
            <a:r>
              <a:rPr baseline="-25000" lang="en-US">
                <a:solidFill>
                  <a:srgbClr val="0000FF"/>
                </a:solidFill>
              </a:rPr>
              <a:t>i</a:t>
            </a:r>
            <a:r>
              <a:rPr lang="en-US">
                <a:solidFill>
                  <a:srgbClr val="0000FF"/>
                </a:solidFill>
              </a:rPr>
              <a:t> + ‘x</a:t>
            </a:r>
            <a:r>
              <a:rPr baseline="-25000" lang="en-US">
                <a:solidFill>
                  <a:srgbClr val="0000FF"/>
                </a:solidFill>
              </a:rPr>
              <a:t>i</a:t>
            </a:r>
            <a:r>
              <a:rPr lang="en-US">
                <a:solidFill>
                  <a:srgbClr val="0000FF"/>
                </a:solidFill>
              </a:rPr>
              <a:t>, xóa hội sơ cấp lặp.</a:t>
            </a:r>
            <a:endParaRPr>
              <a:solidFill>
                <a:srgbClr val="0000FF"/>
              </a:solidFill>
            </a:endParaRPr>
          </a:p>
          <a:p>
            <a:pPr indent="-342900" lvl="1" marL="914400" marR="0" rtl="0" algn="l">
              <a:lnSpc>
                <a:spcPct val="115000"/>
              </a:lnSpc>
              <a:spcBef>
                <a:spcPts val="0"/>
              </a:spcBef>
              <a:spcAft>
                <a:spcPts val="0"/>
              </a:spcAft>
              <a:buClr>
                <a:srgbClr val="0000FF"/>
              </a:buClr>
              <a:buSzPts val="1800"/>
              <a:buChar char="-"/>
            </a:pPr>
            <a:r>
              <a:rPr lang="en-US">
                <a:solidFill>
                  <a:srgbClr val="0000FF"/>
                </a:solidFill>
              </a:rPr>
              <a:t>Bước 2:  </a:t>
            </a:r>
            <a:r>
              <a:rPr lang="en-US">
                <a:solidFill>
                  <a:srgbClr val="0000FF"/>
                </a:solidFill>
              </a:rPr>
              <a:t>Lặp lại bước 1, cho đến khi các hội sơ cấp P trong E đều có hạng n.</a:t>
            </a:r>
            <a:endParaRPr sz="2500">
              <a:solidFill>
                <a:srgbClr val="000000"/>
              </a:solidFill>
            </a:endParaRPr>
          </a:p>
          <a:p>
            <a:pPr indent="0" lvl="0" marL="152400" rtl="0" algn="l">
              <a:lnSpc>
                <a:spcPct val="100000"/>
              </a:lnSpc>
              <a:spcBef>
                <a:spcPts val="480"/>
              </a:spcBef>
              <a:spcAft>
                <a:spcPts val="0"/>
              </a:spcAft>
              <a:buNone/>
            </a:pPr>
            <a:r>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251" name="Google Shape;251;g121429f3121_1_32"/>
          <p:cNvPicPr preferRelativeResize="0"/>
          <p:nvPr/>
        </p:nvPicPr>
        <p:blipFill rotWithShape="1">
          <a:blip r:embed="rId3">
            <a:alphaModFix/>
          </a:blip>
          <a:srcRect b="0" l="0" r="0" t="0"/>
          <a:stretch/>
        </p:blipFill>
        <p:spPr>
          <a:xfrm>
            <a:off x="2351950" y="3785100"/>
            <a:ext cx="3429000" cy="1524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MẠCH LOGIC</a:t>
            </a:r>
            <a:endParaRPr>
              <a:solidFill>
                <a:srgbClr val="0000FF"/>
              </a:solidFill>
            </a:endParaRPr>
          </a:p>
        </p:txBody>
      </p:sp>
      <p:sp>
        <p:nvSpPr>
          <p:cNvPr id="257" name="Google Shape;257;p16"/>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a:t>
            </a:r>
            <a:r>
              <a:rPr lang="en-US"/>
              <a:t>logic</a:t>
            </a:r>
            <a:endParaRPr/>
          </a:p>
        </p:txBody>
      </p:sp>
      <p:sp>
        <p:nvSpPr>
          <p:cNvPr id="258" name="Google Shape;258;p16"/>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190500" lvl="0" marL="342900" rtl="0" algn="l">
              <a:spcBef>
                <a:spcPts val="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a:p>
            <a:pPr indent="-342900" lvl="0" marL="342900" rtl="0" algn="l">
              <a:spcBef>
                <a:spcPts val="400"/>
              </a:spcBef>
              <a:spcAft>
                <a:spcPts val="0"/>
              </a:spcAft>
              <a:buClr>
                <a:srgbClr val="0000FF"/>
              </a:buClr>
              <a:buSzPts val="2000"/>
              <a:buFont typeface="Noto Sans Symbols"/>
              <a:buChar char="▪"/>
            </a:pPr>
            <a:r>
              <a:rPr lang="en-US" sz="2000">
                <a:solidFill>
                  <a:srgbClr val="0000FF"/>
                </a:solidFill>
              </a:rPr>
              <a:t>Input:</a:t>
            </a:r>
            <a:endParaRPr>
              <a:solidFill>
                <a:srgbClr val="0000FF"/>
              </a:solidFill>
            </a:endParaRPr>
          </a:p>
          <a:p>
            <a:pPr indent="-285750" lvl="1" marL="742950" rtl="0" algn="l">
              <a:spcBef>
                <a:spcPts val="400"/>
              </a:spcBef>
              <a:spcAft>
                <a:spcPts val="0"/>
              </a:spcAft>
              <a:buClr>
                <a:srgbClr val="0000FF"/>
              </a:buClr>
              <a:buSzPts val="2000"/>
              <a:buFont typeface="Noto Sans Symbols"/>
              <a:buChar char="▪"/>
            </a:pPr>
            <a:r>
              <a:rPr lang="en-US">
                <a:solidFill>
                  <a:srgbClr val="0000FF"/>
                </a:solidFill>
              </a:rPr>
              <a:t>Các tín hiệu vào x­</a:t>
            </a:r>
            <a:r>
              <a:rPr baseline="-25000" lang="en-US">
                <a:solidFill>
                  <a:srgbClr val="0000FF"/>
                </a:solidFill>
              </a:rPr>
              <a:t>1</a:t>
            </a:r>
            <a:r>
              <a:rPr lang="en-US">
                <a:solidFill>
                  <a:srgbClr val="0000FF"/>
                </a:solidFill>
              </a:rPr>
              <a:t>,…, x</a:t>
            </a:r>
            <a:r>
              <a:rPr baseline="-25000" lang="en-US">
                <a:solidFill>
                  <a:srgbClr val="0000FF"/>
                </a:solidFill>
              </a:rPr>
              <a:t>n</a:t>
            </a:r>
            <a:r>
              <a:rPr lang="en-US">
                <a:solidFill>
                  <a:srgbClr val="0000FF"/>
                </a:solidFill>
              </a:rPr>
              <a:t> </a:t>
            </a:r>
            <a:endParaRPr>
              <a:solidFill>
                <a:srgbClr val="0000FF"/>
              </a:solidFill>
            </a:endParaRPr>
          </a:p>
          <a:p>
            <a:pPr indent="-342900" lvl="0" marL="342900" rtl="0" algn="l">
              <a:spcBef>
                <a:spcPts val="400"/>
              </a:spcBef>
              <a:spcAft>
                <a:spcPts val="0"/>
              </a:spcAft>
              <a:buClr>
                <a:srgbClr val="0000FF"/>
              </a:buClr>
              <a:buSzPts val="2000"/>
              <a:buFont typeface="Noto Sans Symbols"/>
              <a:buChar char="▪"/>
            </a:pPr>
            <a:r>
              <a:rPr lang="en-US" sz="2000">
                <a:solidFill>
                  <a:srgbClr val="0000FF"/>
                </a:solidFill>
              </a:rPr>
              <a:t>Output:</a:t>
            </a:r>
            <a:endParaRPr>
              <a:solidFill>
                <a:srgbClr val="0000FF"/>
              </a:solidFill>
            </a:endParaRPr>
          </a:p>
          <a:p>
            <a:pPr indent="-285750" lvl="1" marL="742950" rtl="0" algn="l">
              <a:spcBef>
                <a:spcPts val="400"/>
              </a:spcBef>
              <a:spcAft>
                <a:spcPts val="0"/>
              </a:spcAft>
              <a:buClr>
                <a:srgbClr val="0000FF"/>
              </a:buClr>
              <a:buSzPts val="2000"/>
              <a:buFont typeface="Noto Sans Symbols"/>
              <a:buChar char="▪"/>
            </a:pPr>
            <a:r>
              <a:rPr lang="en-US">
                <a:solidFill>
                  <a:srgbClr val="0000FF"/>
                </a:solidFill>
              </a:rPr>
              <a:t>Tín hiệu ra có hai trạng thái khác nhau kh là 0 và 1)</a:t>
            </a:r>
            <a:endParaRPr>
              <a:solidFill>
                <a:srgbClr val="0000FF"/>
              </a:solidFill>
            </a:endParaRPr>
          </a:p>
          <a:p>
            <a:pPr indent="-190500" lvl="0" marL="342900" rtl="0" algn="l">
              <a:spcBef>
                <a:spcPts val="480"/>
              </a:spcBef>
              <a:spcAft>
                <a:spcPts val="0"/>
              </a:spcAft>
              <a:buClr>
                <a:schemeClr val="dk1"/>
              </a:buClr>
              <a:buSzPts val="2400"/>
              <a:buNone/>
            </a:pPr>
            <a:r>
              <a:t/>
            </a:r>
            <a:endParaRPr/>
          </a:p>
        </p:txBody>
      </p:sp>
      <p:sp>
        <p:nvSpPr>
          <p:cNvPr id="259" name="Google Shape;259;p16"/>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a:t>
            </a:r>
            <a:r>
              <a:rPr lang="en-US"/>
              <a:t>logic</a:t>
            </a:r>
            <a:endParaRPr/>
          </a:p>
        </p:txBody>
      </p:sp>
      <p:sp>
        <p:nvSpPr>
          <p:cNvPr id="260" name="Google Shape;260;p16"/>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Char char="•"/>
            </a:pPr>
            <a:r>
              <a:rPr b="1" lang="en-US">
                <a:solidFill>
                  <a:srgbClr val="0000FF"/>
                </a:solidFill>
              </a:rPr>
              <a:t>Một mạch </a:t>
            </a:r>
            <a:r>
              <a:rPr b="1" lang="en-US">
                <a:solidFill>
                  <a:srgbClr val="0000FF"/>
                </a:solidFill>
              </a:rPr>
              <a:t>logic</a:t>
            </a:r>
            <a:r>
              <a:rPr lang="en-US">
                <a:solidFill>
                  <a:srgbClr val="0000FF"/>
                </a:solidFill>
              </a:rPr>
              <a:t>: một thiết bị với các đầu vào và đầu ra mang giá trị 0, 1.</a:t>
            </a:r>
            <a:endParaRPr>
              <a:solidFill>
                <a:srgbClr val="0000FF"/>
              </a:solidFill>
            </a:endParaRPr>
          </a:p>
          <a:p>
            <a:pPr indent="-342900" lvl="0" marL="342900" rtl="0" algn="l">
              <a:spcBef>
                <a:spcPts val="480"/>
              </a:spcBef>
              <a:spcAft>
                <a:spcPts val="0"/>
              </a:spcAft>
              <a:buClr>
                <a:srgbClr val="0000FF"/>
              </a:buClr>
              <a:buSzPts val="2400"/>
              <a:buChar char="•"/>
            </a:pPr>
            <a:r>
              <a:rPr lang="en-US">
                <a:solidFill>
                  <a:srgbClr val="0000FF"/>
                </a:solidFill>
              </a:rPr>
              <a:t>Đầu ra của một mạch </a:t>
            </a:r>
            <a:r>
              <a:rPr lang="en-US">
                <a:solidFill>
                  <a:srgbClr val="0000FF"/>
                </a:solidFill>
              </a:rPr>
              <a:t>logic</a:t>
            </a:r>
            <a:r>
              <a:rPr lang="en-US">
                <a:solidFill>
                  <a:srgbClr val="0000FF"/>
                </a:solidFill>
              </a:rPr>
              <a:t> là một hàm Boole F của các đầu vào x­</a:t>
            </a:r>
            <a:r>
              <a:rPr baseline="-25000" lang="en-US">
                <a:solidFill>
                  <a:srgbClr val="0000FF"/>
                </a:solidFill>
              </a:rPr>
              <a:t>1</a:t>
            </a:r>
            <a:r>
              <a:rPr lang="en-US">
                <a:solidFill>
                  <a:srgbClr val="0000FF"/>
                </a:solidFill>
              </a:rPr>
              <a:t>, x</a:t>
            </a:r>
            <a:r>
              <a:rPr baseline="-25000" lang="en-US">
                <a:solidFill>
                  <a:srgbClr val="0000FF"/>
                </a:solidFill>
              </a:rPr>
              <a:t>2</a:t>
            </a:r>
            <a:r>
              <a:rPr lang="en-US">
                <a:solidFill>
                  <a:srgbClr val="0000FF"/>
                </a:solidFill>
              </a:rPr>
              <a:t>, …, x</a:t>
            </a:r>
            <a:r>
              <a:rPr baseline="-25000" lang="en-US">
                <a:solidFill>
                  <a:srgbClr val="0000FF"/>
                </a:solidFill>
              </a:rPr>
              <a:t>n</a:t>
            </a:r>
            <a:r>
              <a:rPr lang="en-US">
                <a:solidFill>
                  <a:srgbClr val="0000FF"/>
                </a:solidFill>
              </a:rPr>
              <a:t>. </a:t>
            </a:r>
            <a:endParaRPr>
              <a:solidFill>
                <a:srgbClr val="0000FF"/>
              </a:solidFill>
            </a:endParaRPr>
          </a:p>
          <a:p>
            <a:pPr indent="-342900" lvl="0" marL="342900" rtl="0" algn="l">
              <a:spcBef>
                <a:spcPts val="480"/>
              </a:spcBef>
              <a:spcAft>
                <a:spcPts val="0"/>
              </a:spcAft>
              <a:buClr>
                <a:srgbClr val="0000FF"/>
              </a:buClr>
              <a:buSzPts val="2400"/>
              <a:buChar char="•"/>
            </a:pPr>
            <a:r>
              <a:rPr lang="en-US">
                <a:solidFill>
                  <a:srgbClr val="0000FF"/>
                </a:solidFill>
              </a:rPr>
              <a:t>Các mạch </a:t>
            </a:r>
            <a:r>
              <a:rPr lang="en-US">
                <a:solidFill>
                  <a:srgbClr val="0000FF"/>
                </a:solidFill>
              </a:rPr>
              <a:t>logic</a:t>
            </a:r>
            <a:r>
              <a:rPr lang="en-US">
                <a:solidFill>
                  <a:srgbClr val="0000FF"/>
                </a:solidFill>
              </a:rPr>
              <a:t> được tạo thành từ một số mạch cơ sở (cổng </a:t>
            </a:r>
            <a:r>
              <a:rPr lang="en-US">
                <a:solidFill>
                  <a:srgbClr val="0000FF"/>
                </a:solidFill>
              </a:rPr>
              <a:t>logic</a:t>
            </a:r>
            <a:r>
              <a:rPr lang="en-US">
                <a:solidFill>
                  <a:srgbClr val="0000FF"/>
                </a:solidFill>
              </a:rPr>
              <a:t>) </a:t>
            </a:r>
            <a:endParaRPr>
              <a:solidFill>
                <a:srgbClr val="0000FF"/>
              </a:solidFill>
            </a:endParaRPr>
          </a:p>
        </p:txBody>
      </p:sp>
      <p:sp>
        <p:nvSpPr>
          <p:cNvPr id="261" name="Google Shape;261;p16"/>
          <p:cNvSpPr txBox="1"/>
          <p:nvPr>
            <p:ph idx="11" type="ftr"/>
          </p:nvPr>
        </p:nvSpPr>
        <p:spPr>
          <a:xfrm>
            <a:off x="3048000" y="6492875"/>
            <a:ext cx="3733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pic>
        <p:nvPicPr>
          <p:cNvPr id="262" name="Google Shape;262;p16"/>
          <p:cNvPicPr preferRelativeResize="0"/>
          <p:nvPr/>
        </p:nvPicPr>
        <p:blipFill rotWithShape="1">
          <a:blip r:embed="rId3">
            <a:alphaModFix/>
          </a:blip>
          <a:srcRect b="0" l="0" r="0" t="0"/>
          <a:stretch/>
        </p:blipFill>
        <p:spPr>
          <a:xfrm>
            <a:off x="533400" y="2286000"/>
            <a:ext cx="3962400" cy="1828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268" name="Google Shape;268;p1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Font typeface="Times New Roman"/>
              <a:buNone/>
            </a:pPr>
            <a:r>
              <a:rPr lang="en-US"/>
              <a:t>Cổng cơ bản</a:t>
            </a:r>
            <a:endParaRPr/>
          </a:p>
        </p:txBody>
      </p:sp>
      <p:sp>
        <p:nvSpPr>
          <p:cNvPr id="269" name="Google Shape;269;p17"/>
          <p:cNvSpPr txBox="1"/>
          <p:nvPr>
            <p:ph idx="2" type="body"/>
          </p:nvPr>
        </p:nvSpPr>
        <p:spPr>
          <a:xfrm>
            <a:off x="457200" y="2174875"/>
            <a:ext cx="4040188" cy="3951288"/>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NOT</a:t>
            </a:r>
            <a:r>
              <a:rPr lang="en-US">
                <a:solidFill>
                  <a:srgbClr val="0000FF"/>
                </a:solidFill>
              </a:rPr>
              <a:t> hay bộ đảo: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AND</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Cổng </a:t>
            </a:r>
            <a:r>
              <a:rPr b="1" lang="en-US">
                <a:solidFill>
                  <a:srgbClr val="0000FF"/>
                </a:solidFill>
              </a:rPr>
              <a:t>OR</a:t>
            </a:r>
            <a:endParaRPr b="1">
              <a:solidFill>
                <a:srgbClr val="0000FF"/>
              </a:solidFill>
            </a:endParaRPr>
          </a:p>
          <a:p>
            <a:pPr indent="-190500" lvl="0" marL="342900" rtl="0" algn="l">
              <a:spcBef>
                <a:spcPts val="480"/>
              </a:spcBef>
              <a:spcAft>
                <a:spcPts val="0"/>
              </a:spcAft>
              <a:buClr>
                <a:schemeClr val="dk1"/>
              </a:buClr>
              <a:buSzPts val="2400"/>
              <a:buNone/>
            </a:pPr>
            <a:r>
              <a:t/>
            </a:r>
            <a:endParaRPr>
              <a:solidFill>
                <a:srgbClr val="0000FF"/>
              </a:solidFill>
            </a:endParaRPr>
          </a:p>
        </p:txBody>
      </p:sp>
      <p:sp>
        <p:nvSpPr>
          <p:cNvPr id="270" name="Google Shape;270;p1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a:t>
            </a:r>
            <a:endParaRPr/>
          </a:p>
        </p:txBody>
      </p:sp>
      <p:sp>
        <p:nvSpPr>
          <p:cNvPr id="271" name="Google Shape;271;p17"/>
          <p:cNvSpPr txBox="1"/>
          <p:nvPr>
            <p:ph idx="4" type="body"/>
          </p:nvPr>
        </p:nvSpPr>
        <p:spPr>
          <a:xfrm>
            <a:off x="4677380" y="2146512"/>
            <a:ext cx="4041775" cy="3951288"/>
          </a:xfrm>
          <a:prstGeom prst="rect">
            <a:avLst/>
          </a:prstGeom>
          <a:solidFill>
            <a:srgbClr val="EFEFEF"/>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Xâu bit 100101011 qua cổng NOT cho xâu bit 011010100.</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Hai xâu bit 101001101 và 111010110 qua cổng AND cho 101000100</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 Hai xâu bit 101001101 và 111010100 qua cổng OR cho 111011101.</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p:txBody>
      </p:sp>
      <p:sp>
        <p:nvSpPr>
          <p:cNvPr id="272" name="Google Shape;272;p17"/>
          <p:cNvSpPr txBox="1"/>
          <p:nvPr>
            <p:ph idx="12" type="sldNum"/>
          </p:nvPr>
        </p:nvSpPr>
        <p:spPr>
          <a:xfrm>
            <a:off x="7010400" y="6492875"/>
            <a:ext cx="21336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73" name="Google Shape;273;p17"/>
          <p:cNvGrpSpPr/>
          <p:nvPr/>
        </p:nvGrpSpPr>
        <p:grpSpPr>
          <a:xfrm>
            <a:off x="1548660" y="2843140"/>
            <a:ext cx="2260600" cy="457200"/>
            <a:chOff x="2880" y="1280"/>
            <a:chExt cx="1424" cy="288"/>
          </a:xfrm>
        </p:grpSpPr>
        <p:cxnSp>
          <p:nvCxnSpPr>
            <p:cNvPr id="274" name="Google Shape;274;p17"/>
            <p:cNvCxnSpPr/>
            <p:nvPr/>
          </p:nvCxnSpPr>
          <p:spPr>
            <a:xfrm>
              <a:off x="2880" y="1448"/>
              <a:ext cx="528" cy="0"/>
            </a:xfrm>
            <a:prstGeom prst="straightConnector1">
              <a:avLst/>
            </a:prstGeom>
            <a:noFill/>
            <a:ln cap="flat" cmpd="sng" w="9525">
              <a:solidFill>
                <a:schemeClr val="dk1"/>
              </a:solidFill>
              <a:prstDash val="solid"/>
              <a:round/>
              <a:headEnd len="med" w="med" type="none"/>
              <a:tailEnd len="med" w="med" type="triangle"/>
            </a:ln>
          </p:spPr>
        </p:cxnSp>
        <p:cxnSp>
          <p:nvCxnSpPr>
            <p:cNvPr id="275" name="Google Shape;275;p17"/>
            <p:cNvCxnSpPr/>
            <p:nvPr/>
          </p:nvCxnSpPr>
          <p:spPr>
            <a:xfrm>
              <a:off x="3712" y="1456"/>
              <a:ext cx="432" cy="0"/>
            </a:xfrm>
            <a:prstGeom prst="straightConnector1">
              <a:avLst/>
            </a:prstGeom>
            <a:noFill/>
            <a:ln cap="flat" cmpd="sng" w="9525">
              <a:solidFill>
                <a:schemeClr val="dk1"/>
              </a:solidFill>
              <a:prstDash val="solid"/>
              <a:round/>
              <a:headEnd len="med" w="med" type="none"/>
              <a:tailEnd len="med" w="med" type="triangle"/>
            </a:ln>
          </p:spPr>
        </p:cxnSp>
        <p:grpSp>
          <p:nvGrpSpPr>
            <p:cNvPr id="276" name="Google Shape;276;p17"/>
            <p:cNvGrpSpPr/>
            <p:nvPr/>
          </p:nvGrpSpPr>
          <p:grpSpPr>
            <a:xfrm>
              <a:off x="3424" y="1328"/>
              <a:ext cx="288" cy="240"/>
              <a:chOff x="3552" y="1328"/>
              <a:chExt cx="288" cy="240"/>
            </a:xfrm>
          </p:grpSpPr>
          <p:sp>
            <p:nvSpPr>
              <p:cNvPr id="277" name="Google Shape;277;p17"/>
              <p:cNvSpPr/>
              <p:nvPr/>
            </p:nvSpPr>
            <p:spPr>
              <a:xfrm rot="5400000">
                <a:off x="3552" y="1328"/>
                <a:ext cx="240" cy="240"/>
              </a:xfrm>
              <a:prstGeom prst="flowChartExtra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78" name="Google Shape;278;p17"/>
              <p:cNvSpPr/>
              <p:nvPr/>
            </p:nvSpPr>
            <p:spPr>
              <a:xfrm>
                <a:off x="3792" y="1424"/>
                <a:ext cx="48" cy="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cxnSp>
          <p:nvCxnSpPr>
            <p:cNvPr id="279" name="Google Shape;279;p17"/>
            <p:cNvCxnSpPr/>
            <p:nvPr/>
          </p:nvCxnSpPr>
          <p:spPr>
            <a:xfrm>
              <a:off x="4160" y="1280"/>
              <a:ext cx="144" cy="0"/>
            </a:xfrm>
            <a:prstGeom prst="straightConnector1">
              <a:avLst/>
            </a:prstGeom>
            <a:noFill/>
            <a:ln cap="flat" cmpd="sng" w="9525">
              <a:solidFill>
                <a:schemeClr val="dk1"/>
              </a:solidFill>
              <a:prstDash val="solid"/>
              <a:round/>
              <a:headEnd len="med" w="med" type="none"/>
              <a:tailEnd len="med" w="med" type="none"/>
            </a:ln>
          </p:spPr>
        </p:cxnSp>
      </p:grpSp>
      <p:grpSp>
        <p:nvGrpSpPr>
          <p:cNvPr id="280" name="Google Shape;280;p17"/>
          <p:cNvGrpSpPr/>
          <p:nvPr/>
        </p:nvGrpSpPr>
        <p:grpSpPr>
          <a:xfrm>
            <a:off x="1263528" y="4011528"/>
            <a:ext cx="2260600" cy="762000"/>
            <a:chOff x="2784" y="1728"/>
            <a:chExt cx="1424" cy="480"/>
          </a:xfrm>
        </p:grpSpPr>
        <p:grpSp>
          <p:nvGrpSpPr>
            <p:cNvPr id="281" name="Google Shape;281;p17"/>
            <p:cNvGrpSpPr/>
            <p:nvPr/>
          </p:nvGrpSpPr>
          <p:grpSpPr>
            <a:xfrm>
              <a:off x="2976" y="1776"/>
              <a:ext cx="1232" cy="384"/>
              <a:chOff x="2976" y="1776"/>
              <a:chExt cx="1232" cy="384"/>
            </a:xfrm>
          </p:grpSpPr>
          <p:sp>
            <p:nvSpPr>
              <p:cNvPr id="282" name="Google Shape;282;p17"/>
              <p:cNvSpPr/>
              <p:nvPr/>
            </p:nvSpPr>
            <p:spPr>
              <a:xfrm>
                <a:off x="3408" y="1776"/>
                <a:ext cx="384" cy="384"/>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283" name="Google Shape;283;p17"/>
              <p:cNvCxnSpPr/>
              <p:nvPr/>
            </p:nvCxnSpPr>
            <p:spPr>
              <a:xfrm>
                <a:off x="2976" y="1872"/>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284" name="Google Shape;284;p17"/>
              <p:cNvCxnSpPr/>
              <p:nvPr/>
            </p:nvCxnSpPr>
            <p:spPr>
              <a:xfrm>
                <a:off x="2976" y="2080"/>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285" name="Google Shape;285;p17"/>
              <p:cNvCxnSpPr/>
              <p:nvPr/>
            </p:nvCxnSpPr>
            <p:spPr>
              <a:xfrm>
                <a:off x="3776" y="1968"/>
                <a:ext cx="432" cy="0"/>
              </a:xfrm>
              <a:prstGeom prst="straightConnector1">
                <a:avLst/>
              </a:prstGeom>
              <a:noFill/>
              <a:ln cap="flat" cmpd="sng" w="9525">
                <a:solidFill>
                  <a:schemeClr val="dk1"/>
                </a:solidFill>
                <a:prstDash val="solid"/>
                <a:round/>
                <a:headEnd len="med" w="med" type="none"/>
                <a:tailEnd len="med" w="med" type="triangle"/>
              </a:ln>
            </p:spPr>
          </p:cxnSp>
        </p:grpSp>
        <p:sp>
          <p:nvSpPr>
            <p:cNvPr id="286" name="Google Shape;286;p17"/>
            <p:cNvSpPr txBox="1"/>
            <p:nvPr/>
          </p:nvSpPr>
          <p:spPr>
            <a:xfrm>
              <a:off x="2784" y="1920"/>
              <a:ext cx="24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287" name="Google Shape;287;p17"/>
            <p:cNvSpPr txBox="1"/>
            <p:nvPr/>
          </p:nvSpPr>
          <p:spPr>
            <a:xfrm>
              <a:off x="2784" y="1728"/>
              <a:ext cx="192"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grpSp>
      <p:sp>
        <p:nvSpPr>
          <p:cNvPr id="288" name="Google Shape;288;p17"/>
          <p:cNvSpPr txBox="1"/>
          <p:nvPr/>
        </p:nvSpPr>
        <p:spPr>
          <a:xfrm>
            <a:off x="3533144" y="4163928"/>
            <a:ext cx="609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xy</a:t>
            </a:r>
            <a:endParaRPr/>
          </a:p>
        </p:txBody>
      </p:sp>
      <p:sp>
        <p:nvSpPr>
          <p:cNvPr id="289" name="Google Shape;289;p17"/>
          <p:cNvSpPr txBox="1"/>
          <p:nvPr/>
        </p:nvSpPr>
        <p:spPr>
          <a:xfrm>
            <a:off x="1115638" y="534630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290" name="Google Shape;290;p17"/>
          <p:cNvSpPr txBox="1"/>
          <p:nvPr/>
        </p:nvSpPr>
        <p:spPr>
          <a:xfrm>
            <a:off x="1115638" y="5716188"/>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291" name="Google Shape;291;p17"/>
          <p:cNvSpPr txBox="1"/>
          <p:nvPr/>
        </p:nvSpPr>
        <p:spPr>
          <a:xfrm>
            <a:off x="3492996" y="5487588"/>
            <a:ext cx="1524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a:t>
            </a:r>
            <a:endParaRPr/>
          </a:p>
        </p:txBody>
      </p:sp>
      <p:grpSp>
        <p:nvGrpSpPr>
          <p:cNvPr id="292" name="Google Shape;292;p17"/>
          <p:cNvGrpSpPr/>
          <p:nvPr/>
        </p:nvGrpSpPr>
        <p:grpSpPr>
          <a:xfrm>
            <a:off x="1422896" y="5449488"/>
            <a:ext cx="2019300" cy="609600"/>
            <a:chOff x="2968" y="2448"/>
            <a:chExt cx="1272" cy="384"/>
          </a:xfrm>
        </p:grpSpPr>
        <p:cxnSp>
          <p:nvCxnSpPr>
            <p:cNvPr id="293" name="Google Shape;293;p17"/>
            <p:cNvCxnSpPr/>
            <p:nvPr/>
          </p:nvCxnSpPr>
          <p:spPr>
            <a:xfrm>
              <a:off x="2968" y="2520"/>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294" name="Google Shape;294;p17"/>
            <p:cNvCxnSpPr/>
            <p:nvPr/>
          </p:nvCxnSpPr>
          <p:spPr>
            <a:xfrm>
              <a:off x="2968" y="2760"/>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295" name="Google Shape;295;p17"/>
            <p:cNvCxnSpPr/>
            <p:nvPr/>
          </p:nvCxnSpPr>
          <p:spPr>
            <a:xfrm>
              <a:off x="3856" y="2656"/>
              <a:ext cx="384" cy="0"/>
            </a:xfrm>
            <a:prstGeom prst="straightConnector1">
              <a:avLst/>
            </a:prstGeom>
            <a:noFill/>
            <a:ln cap="flat" cmpd="sng" w="9525">
              <a:solidFill>
                <a:schemeClr val="dk1"/>
              </a:solidFill>
              <a:prstDash val="solid"/>
              <a:round/>
              <a:headEnd len="med" w="med" type="none"/>
              <a:tailEnd len="med" w="med" type="triangle"/>
            </a:ln>
          </p:spPr>
        </p:cxnSp>
        <p:sp>
          <p:nvSpPr>
            <p:cNvPr id="296" name="Google Shape;296;p17"/>
            <p:cNvSpPr/>
            <p:nvPr/>
          </p:nvSpPr>
          <p:spPr>
            <a:xfrm>
              <a:off x="3629" y="2456"/>
              <a:ext cx="211" cy="321"/>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7" name="Google Shape;297;p17"/>
            <p:cNvSpPr/>
            <p:nvPr/>
          </p:nvSpPr>
          <p:spPr>
            <a:xfrm rot="3056401">
              <a:off x="3281" y="2532"/>
              <a:ext cx="281" cy="219"/>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98" name="Google Shape;298;p17"/>
            <p:cNvSpPr/>
            <p:nvPr/>
          </p:nvSpPr>
          <p:spPr>
            <a:xfrm flipH="1" rot="10800000">
              <a:off x="3629" y="2510"/>
              <a:ext cx="211" cy="322"/>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299" name="Google Shape;299;p17"/>
            <p:cNvCxnSpPr/>
            <p:nvPr/>
          </p:nvCxnSpPr>
          <p:spPr>
            <a:xfrm>
              <a:off x="3447" y="2448"/>
              <a:ext cx="182" cy="0"/>
            </a:xfrm>
            <a:prstGeom prst="straightConnector1">
              <a:avLst/>
            </a:prstGeom>
            <a:noFill/>
            <a:ln cap="flat" cmpd="sng" w="9525">
              <a:solidFill>
                <a:schemeClr val="dk1"/>
              </a:solidFill>
              <a:prstDash val="solid"/>
              <a:round/>
              <a:headEnd len="med" w="med" type="none"/>
              <a:tailEnd len="med" w="med" type="none"/>
            </a:ln>
          </p:spPr>
        </p:cxnSp>
        <p:cxnSp>
          <p:nvCxnSpPr>
            <p:cNvPr id="300" name="Google Shape;300;p17"/>
            <p:cNvCxnSpPr/>
            <p:nvPr/>
          </p:nvCxnSpPr>
          <p:spPr>
            <a:xfrm>
              <a:off x="3413" y="2832"/>
              <a:ext cx="212" cy="0"/>
            </a:xfrm>
            <a:prstGeom prst="straightConnector1">
              <a:avLst/>
            </a:prstGeom>
            <a:noFill/>
            <a:ln cap="flat" cmpd="sng" w="9525">
              <a:solidFill>
                <a:schemeClr val="dk1"/>
              </a:solidFill>
              <a:prstDash val="solid"/>
              <a:round/>
              <a:headEnd len="med" w="med" type="none"/>
              <a:tailEnd len="med" w="med" type="none"/>
            </a:ln>
          </p:spPr>
        </p:cxnSp>
      </p:grpSp>
      <p:sp>
        <p:nvSpPr>
          <p:cNvPr id="301" name="Google Shape;301;p17"/>
          <p:cNvSpPr txBox="1"/>
          <p:nvPr/>
        </p:nvSpPr>
        <p:spPr>
          <a:xfrm>
            <a:off x="1243860" y="284314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302" name="Google Shape;302;p17"/>
          <p:cNvSpPr txBox="1"/>
          <p:nvPr/>
        </p:nvSpPr>
        <p:spPr>
          <a:xfrm>
            <a:off x="3580660" y="2843140"/>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8"/>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p>
        </p:txBody>
      </p:sp>
      <p:sp>
        <p:nvSpPr>
          <p:cNvPr id="309" name="Google Shape;309;p1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Cổng l</a:t>
            </a:r>
            <a:r>
              <a:rPr lang="en-US"/>
              <a:t>ogic</a:t>
            </a:r>
            <a:endParaRPr/>
          </a:p>
        </p:txBody>
      </p:sp>
      <p:sp>
        <p:nvSpPr>
          <p:cNvPr id="310" name="Google Shape;310;p18"/>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Cổng có n đầu vào</a:t>
            </a:r>
            <a:endParaRPr>
              <a:solidFill>
                <a:srgbClr val="0000FF"/>
              </a:solidFill>
            </a:endParaRPr>
          </a:p>
        </p:txBody>
      </p:sp>
      <p:sp>
        <p:nvSpPr>
          <p:cNvPr id="311" name="Google Shape;311;p18"/>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t>
            </a:r>
            <a:r>
              <a:rPr lang="en-US">
                <a:solidFill>
                  <a:srgbClr val="0000FF"/>
                </a:solidFill>
              </a:rPr>
              <a:t>Các cổng </a:t>
            </a:r>
            <a:r>
              <a:rPr lang="en-US">
                <a:solidFill>
                  <a:srgbClr val="0000FF"/>
                </a:solidFill>
              </a:rPr>
              <a:t>logic</a:t>
            </a:r>
            <a:r>
              <a:rPr lang="en-US">
                <a:solidFill>
                  <a:srgbClr val="0000FF"/>
                </a:solidFill>
              </a:rPr>
              <a:t> được lắp ghép để được một mạch </a:t>
            </a:r>
            <a:r>
              <a:rPr lang="en-US">
                <a:solidFill>
                  <a:srgbClr val="0000FF"/>
                </a:solidFill>
              </a:rPr>
              <a:t>logic</a:t>
            </a:r>
            <a:r>
              <a:rPr lang="en-US">
                <a:solidFill>
                  <a:srgbClr val="0000FF"/>
                </a:solidFill>
              </a:rPr>
              <a:t> thực hiện một hàm Boole phức tạp bất kỳ</a:t>
            </a:r>
            <a:endParaRPr>
              <a:solidFill>
                <a:srgbClr val="0000FF"/>
              </a:solidFill>
            </a:endParaRPr>
          </a:p>
        </p:txBody>
      </p:sp>
      <p:sp>
        <p:nvSpPr>
          <p:cNvPr id="312" name="Google Shape;312;p18"/>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grpSp>
        <p:nvGrpSpPr>
          <p:cNvPr id="313" name="Google Shape;313;p18"/>
          <p:cNvGrpSpPr/>
          <p:nvPr/>
        </p:nvGrpSpPr>
        <p:grpSpPr>
          <a:xfrm>
            <a:off x="609600" y="2642412"/>
            <a:ext cx="4737100" cy="1092200"/>
            <a:chOff x="1296" y="1240"/>
            <a:chExt cx="2984" cy="688"/>
          </a:xfrm>
        </p:grpSpPr>
        <p:sp>
          <p:nvSpPr>
            <p:cNvPr id="314" name="Google Shape;314;p18"/>
            <p:cNvSpPr txBox="1"/>
            <p:nvPr/>
          </p:nvSpPr>
          <p:spPr>
            <a:xfrm>
              <a:off x="2840" y="1488"/>
              <a:ext cx="1440"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r>
                <a:rPr lang="en-US" sz="1800">
                  <a:solidFill>
                    <a:schemeClr val="dk1"/>
                  </a:solidFill>
                  <a:latin typeface="Times New Roman"/>
                  <a:ea typeface="Times New Roman"/>
                  <a:cs typeface="Times New Roman"/>
                  <a:sym typeface="Times New Roman"/>
                </a:rPr>
                <a:t> x</a:t>
              </a:r>
              <a:r>
                <a:rPr baseline="-25000" lang="en-US" sz="1800">
                  <a:solidFill>
                    <a:schemeClr val="dk1"/>
                  </a:solidFill>
                  <a:latin typeface="Times New Roman"/>
                  <a:ea typeface="Times New Roman"/>
                  <a:cs typeface="Times New Roman"/>
                  <a:sym typeface="Times New Roman"/>
                </a:rPr>
                <a:t>2</a:t>
              </a:r>
              <a:r>
                <a:rPr lang="en-US" sz="1800">
                  <a:solidFill>
                    <a:schemeClr val="dk1"/>
                  </a:solidFill>
                  <a:latin typeface="Times New Roman"/>
                  <a:ea typeface="Times New Roman"/>
                  <a:cs typeface="Times New Roman"/>
                  <a:sym typeface="Times New Roman"/>
                </a:rPr>
                <a:t>… 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sp>
          <p:nvSpPr>
            <p:cNvPr id="315" name="Google Shape;315;p18"/>
            <p:cNvSpPr/>
            <p:nvPr/>
          </p:nvSpPr>
          <p:spPr>
            <a:xfrm>
              <a:off x="2016" y="1440"/>
              <a:ext cx="336" cy="432"/>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16" name="Google Shape;316;p18"/>
            <p:cNvCxnSpPr/>
            <p:nvPr/>
          </p:nvCxnSpPr>
          <p:spPr>
            <a:xfrm>
              <a:off x="2352" y="1656"/>
              <a:ext cx="480" cy="0"/>
            </a:xfrm>
            <a:prstGeom prst="straightConnector1">
              <a:avLst/>
            </a:prstGeom>
            <a:noFill/>
            <a:ln cap="flat" cmpd="sng" w="9525">
              <a:solidFill>
                <a:schemeClr val="dk1"/>
              </a:solidFill>
              <a:prstDash val="solid"/>
              <a:round/>
              <a:headEnd len="med" w="med" type="none"/>
              <a:tailEnd len="med" w="med" type="triangle"/>
            </a:ln>
          </p:spPr>
        </p:cxnSp>
        <p:grpSp>
          <p:nvGrpSpPr>
            <p:cNvPr id="317" name="Google Shape;317;p18"/>
            <p:cNvGrpSpPr/>
            <p:nvPr/>
          </p:nvGrpSpPr>
          <p:grpSpPr>
            <a:xfrm>
              <a:off x="1296" y="1240"/>
              <a:ext cx="720" cy="688"/>
              <a:chOff x="1296" y="1240"/>
              <a:chExt cx="720" cy="688"/>
            </a:xfrm>
          </p:grpSpPr>
          <p:sp>
            <p:nvSpPr>
              <p:cNvPr id="318" name="Google Shape;318;p18"/>
              <p:cNvSpPr txBox="1"/>
              <p:nvPr/>
            </p:nvSpPr>
            <p:spPr>
              <a:xfrm>
                <a:off x="1296" y="1240"/>
                <a:ext cx="3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p:txBody>
          </p:sp>
          <p:cxnSp>
            <p:nvCxnSpPr>
              <p:cNvPr id="319" name="Google Shape;319;p18"/>
              <p:cNvCxnSpPr/>
              <p:nvPr/>
            </p:nvCxnSpPr>
            <p:spPr>
              <a:xfrm>
                <a:off x="1536" y="1488"/>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20" name="Google Shape;320;p18"/>
              <p:cNvCxnSpPr/>
              <p:nvPr/>
            </p:nvCxnSpPr>
            <p:spPr>
              <a:xfrm>
                <a:off x="1536" y="15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21" name="Google Shape;321;p18"/>
              <p:cNvCxnSpPr/>
              <p:nvPr/>
            </p:nvCxnSpPr>
            <p:spPr>
              <a:xfrm>
                <a:off x="1536" y="1824"/>
                <a:ext cx="480" cy="0"/>
              </a:xfrm>
              <a:prstGeom prst="straightConnector1">
                <a:avLst/>
              </a:prstGeom>
              <a:noFill/>
              <a:ln cap="flat" cmpd="sng" w="9525">
                <a:solidFill>
                  <a:schemeClr val="dk1"/>
                </a:solidFill>
                <a:prstDash val="solid"/>
                <a:round/>
                <a:headEnd len="med" w="med" type="none"/>
                <a:tailEnd len="med" w="med" type="triangle"/>
              </a:ln>
            </p:spPr>
          </p:cxnSp>
          <p:sp>
            <p:nvSpPr>
              <p:cNvPr id="322" name="Google Shape;322;p18"/>
              <p:cNvSpPr txBox="1"/>
              <p:nvPr/>
            </p:nvSpPr>
            <p:spPr>
              <a:xfrm>
                <a:off x="1296" y="140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p:txBody>
          </p:sp>
          <p:sp>
            <p:nvSpPr>
              <p:cNvPr id="323" name="Google Shape;323;p18"/>
              <p:cNvSpPr txBox="1"/>
              <p:nvPr/>
            </p:nvSpPr>
            <p:spPr>
              <a:xfrm>
                <a:off x="1296" y="164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grpSp>
      <p:sp>
        <p:nvSpPr>
          <p:cNvPr id="324" name="Google Shape;324;p18"/>
          <p:cNvSpPr txBox="1"/>
          <p:nvPr/>
        </p:nvSpPr>
        <p:spPr>
          <a:xfrm>
            <a:off x="2981676" y="4712488"/>
            <a:ext cx="2286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r>
              <a:rPr lang="en-US" sz="1800">
                <a:solidFill>
                  <a:schemeClr val="dk1"/>
                </a:solidFill>
                <a:latin typeface="Times New Roman"/>
                <a:ea typeface="Times New Roman"/>
                <a:cs typeface="Times New Roman"/>
                <a:sym typeface="Times New Roman"/>
              </a:rPr>
              <a:t> + x</a:t>
            </a:r>
            <a:r>
              <a:rPr baseline="-25000" lang="en-US" sz="1800">
                <a:solidFill>
                  <a:schemeClr val="dk1"/>
                </a:solidFill>
                <a:latin typeface="Times New Roman"/>
                <a:ea typeface="Times New Roman"/>
                <a:cs typeface="Times New Roman"/>
                <a:sym typeface="Times New Roman"/>
              </a:rPr>
              <a:t>2</a:t>
            </a:r>
            <a:r>
              <a:rPr lang="en-US" sz="1800">
                <a:solidFill>
                  <a:schemeClr val="dk1"/>
                </a:solidFill>
                <a:latin typeface="Times New Roman"/>
                <a:ea typeface="Times New Roman"/>
                <a:cs typeface="Times New Roman"/>
                <a:sym typeface="Times New Roman"/>
              </a:rPr>
              <a:t> +…+ 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nvGrpSpPr>
          <p:cNvPr id="325" name="Google Shape;325;p18"/>
          <p:cNvGrpSpPr/>
          <p:nvPr/>
        </p:nvGrpSpPr>
        <p:grpSpPr>
          <a:xfrm>
            <a:off x="1121729" y="4552151"/>
            <a:ext cx="1132872" cy="833437"/>
            <a:chOff x="1756" y="2115"/>
            <a:chExt cx="714" cy="525"/>
          </a:xfrm>
        </p:grpSpPr>
        <p:sp>
          <p:nvSpPr>
            <p:cNvPr id="326" name="Google Shape;326;p18"/>
            <p:cNvSpPr/>
            <p:nvPr/>
          </p:nvSpPr>
          <p:spPr>
            <a:xfrm>
              <a:off x="2214" y="2115"/>
              <a:ext cx="256" cy="453"/>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27" name="Google Shape;327;p18"/>
            <p:cNvSpPr/>
            <p:nvPr/>
          </p:nvSpPr>
          <p:spPr>
            <a:xfrm flipH="1" rot="10800000">
              <a:off x="2214" y="2187"/>
              <a:ext cx="256" cy="453"/>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28" name="Google Shape;328;p18"/>
            <p:cNvSpPr/>
            <p:nvPr/>
          </p:nvSpPr>
          <p:spPr>
            <a:xfrm rot="2657873">
              <a:off x="1824" y="2209"/>
              <a:ext cx="362" cy="341"/>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29" name="Google Shape;329;p18"/>
            <p:cNvCxnSpPr/>
            <p:nvPr/>
          </p:nvCxnSpPr>
          <p:spPr>
            <a:xfrm>
              <a:off x="2022" y="2640"/>
              <a:ext cx="240" cy="0"/>
            </a:xfrm>
            <a:prstGeom prst="straightConnector1">
              <a:avLst/>
            </a:prstGeom>
            <a:noFill/>
            <a:ln cap="flat" cmpd="sng" w="9525">
              <a:solidFill>
                <a:schemeClr val="dk1"/>
              </a:solidFill>
              <a:prstDash val="solid"/>
              <a:round/>
              <a:headEnd len="med" w="med" type="none"/>
              <a:tailEnd len="med" w="med" type="none"/>
            </a:ln>
          </p:spPr>
        </p:cxnSp>
        <p:cxnSp>
          <p:nvCxnSpPr>
            <p:cNvPr id="330" name="Google Shape;330;p18"/>
            <p:cNvCxnSpPr/>
            <p:nvPr/>
          </p:nvCxnSpPr>
          <p:spPr>
            <a:xfrm>
              <a:off x="1998" y="2120"/>
              <a:ext cx="240" cy="0"/>
            </a:xfrm>
            <a:prstGeom prst="straightConnector1">
              <a:avLst/>
            </a:prstGeom>
            <a:noFill/>
            <a:ln cap="flat" cmpd="sng" w="9525">
              <a:solidFill>
                <a:schemeClr val="dk1"/>
              </a:solidFill>
              <a:prstDash val="solid"/>
              <a:round/>
              <a:headEnd len="med" w="med" type="none"/>
              <a:tailEnd len="med" w="med" type="none"/>
            </a:ln>
          </p:spPr>
        </p:cxnSp>
      </p:grpSp>
      <p:grpSp>
        <p:nvGrpSpPr>
          <p:cNvPr id="331" name="Google Shape;331;p18"/>
          <p:cNvGrpSpPr/>
          <p:nvPr/>
        </p:nvGrpSpPr>
        <p:grpSpPr>
          <a:xfrm>
            <a:off x="467076" y="4318788"/>
            <a:ext cx="1143000" cy="1092200"/>
            <a:chOff x="1296" y="1240"/>
            <a:chExt cx="720" cy="688"/>
          </a:xfrm>
        </p:grpSpPr>
        <p:sp>
          <p:nvSpPr>
            <p:cNvPr id="332" name="Google Shape;332;p18"/>
            <p:cNvSpPr txBox="1"/>
            <p:nvPr/>
          </p:nvSpPr>
          <p:spPr>
            <a:xfrm>
              <a:off x="1296" y="1240"/>
              <a:ext cx="336"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p:txBody>
        </p:sp>
        <p:cxnSp>
          <p:nvCxnSpPr>
            <p:cNvPr id="333" name="Google Shape;333;p18"/>
            <p:cNvCxnSpPr/>
            <p:nvPr/>
          </p:nvCxnSpPr>
          <p:spPr>
            <a:xfrm>
              <a:off x="1536" y="1488"/>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34" name="Google Shape;334;p18"/>
            <p:cNvCxnSpPr/>
            <p:nvPr/>
          </p:nvCxnSpPr>
          <p:spPr>
            <a:xfrm>
              <a:off x="1536" y="15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35" name="Google Shape;335;p18"/>
            <p:cNvCxnSpPr/>
            <p:nvPr/>
          </p:nvCxnSpPr>
          <p:spPr>
            <a:xfrm>
              <a:off x="1536" y="1824"/>
              <a:ext cx="480" cy="0"/>
            </a:xfrm>
            <a:prstGeom prst="straightConnector1">
              <a:avLst/>
            </a:prstGeom>
            <a:noFill/>
            <a:ln cap="flat" cmpd="sng" w="9525">
              <a:solidFill>
                <a:schemeClr val="dk1"/>
              </a:solidFill>
              <a:prstDash val="solid"/>
              <a:round/>
              <a:headEnd len="med" w="med" type="none"/>
              <a:tailEnd len="med" w="med" type="triangle"/>
            </a:ln>
          </p:spPr>
        </p:cxnSp>
        <p:sp>
          <p:nvSpPr>
            <p:cNvPr id="336" name="Google Shape;336;p18"/>
            <p:cNvSpPr txBox="1"/>
            <p:nvPr/>
          </p:nvSpPr>
          <p:spPr>
            <a:xfrm>
              <a:off x="1296" y="140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p:txBody>
        </p:sp>
        <p:sp>
          <p:nvSpPr>
            <p:cNvPr id="337" name="Google Shape;337;p18"/>
            <p:cNvSpPr txBox="1"/>
            <p:nvPr/>
          </p:nvSpPr>
          <p:spPr>
            <a:xfrm>
              <a:off x="1296" y="1640"/>
              <a:ext cx="288" cy="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r>
                <a:rPr baseline="-25000" lang="en-US" sz="1800">
                  <a:solidFill>
                    <a:schemeClr val="dk1"/>
                  </a:solidFill>
                  <a:latin typeface="Times New Roman"/>
                  <a:ea typeface="Times New Roman"/>
                  <a:cs typeface="Times New Roman"/>
                  <a:sym typeface="Times New Roman"/>
                </a:rPr>
                <a:t>n</a:t>
              </a:r>
              <a:endParaRPr sz="1800">
                <a:solidFill>
                  <a:schemeClr val="dk1"/>
                </a:solidFill>
                <a:latin typeface="Times New Roman"/>
                <a:ea typeface="Times New Roman"/>
                <a:cs typeface="Times New Roman"/>
                <a:sym typeface="Times New Roman"/>
              </a:endParaRPr>
            </a:p>
          </p:txBody>
        </p:sp>
      </p:grpSp>
      <p:cxnSp>
        <p:nvCxnSpPr>
          <p:cNvPr id="338" name="Google Shape;338;p18"/>
          <p:cNvCxnSpPr/>
          <p:nvPr/>
        </p:nvCxnSpPr>
        <p:spPr>
          <a:xfrm>
            <a:off x="2219676" y="4966488"/>
            <a:ext cx="762000" cy="0"/>
          </a:xfrm>
          <a:prstGeom prst="straightConnector1">
            <a:avLst/>
          </a:prstGeom>
          <a:noFill/>
          <a:ln cap="flat" cmpd="sng" w="9525">
            <a:solidFill>
              <a:schemeClr val="dk1"/>
            </a:solidFill>
            <a:prstDash val="solid"/>
            <a:round/>
            <a:headEnd len="med" w="med" type="none"/>
            <a:tailEnd len="med" w="med" type="triangle"/>
          </a:ln>
        </p:spPr>
      </p:cxnSp>
      <p:sp>
        <p:nvSpPr>
          <p:cNvPr id="339" name="Google Shape;339;p1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9"/>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MẠCH LOGIC</a:t>
            </a:r>
            <a:endParaRPr b="1" sz="3600"/>
          </a:p>
        </p:txBody>
      </p:sp>
      <p:sp>
        <p:nvSpPr>
          <p:cNvPr id="345" name="Google Shape;345;p19"/>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46" name="Google Shape;346;p19"/>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 Xây hàm boole cho bởi bảng</a:t>
            </a:r>
            <a:endParaRPr>
              <a:solidFill>
                <a:srgbClr val="0000FF"/>
              </a:solidFill>
            </a:endParaRPr>
          </a:p>
        </p:txBody>
      </p:sp>
      <p:sp>
        <p:nvSpPr>
          <p:cNvPr id="347" name="Google Shape;347;p19"/>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48" name="Google Shape;348;p19"/>
          <p:cNvSpPr txBox="1"/>
          <p:nvPr>
            <p:ph idx="4" type="body"/>
          </p:nvPr>
        </p:nvSpPr>
        <p:spPr>
          <a:xfrm>
            <a:off x="4645025" y="2174875"/>
            <a:ext cx="4041900" cy="3951300"/>
          </a:xfrm>
          <a:prstGeom prst="rect">
            <a:avLst/>
          </a:prstGeom>
          <a:blipFill rotWithShape="1">
            <a:blip r:embed="rId3">
              <a:alphaModFix/>
            </a:blip>
            <a:stretch>
              <a:fillRect b="0" l="-2112"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pic>
        <p:nvPicPr>
          <p:cNvPr id="349" name="Google Shape;349;p19"/>
          <p:cNvPicPr preferRelativeResize="0"/>
          <p:nvPr/>
        </p:nvPicPr>
        <p:blipFill rotWithShape="1">
          <a:blip r:embed="rId4">
            <a:alphaModFix/>
          </a:blip>
          <a:srcRect b="0" l="0" r="0" t="0"/>
          <a:stretch/>
        </p:blipFill>
        <p:spPr>
          <a:xfrm>
            <a:off x="990600" y="3276600"/>
            <a:ext cx="3200400" cy="2362200"/>
          </a:xfrm>
          <a:prstGeom prst="rect">
            <a:avLst/>
          </a:prstGeom>
          <a:noFill/>
          <a:ln>
            <a:noFill/>
          </a:ln>
        </p:spPr>
      </p:pic>
      <p:graphicFrame>
        <p:nvGraphicFramePr>
          <p:cNvPr id="350" name="Google Shape;350;p19"/>
          <p:cNvGraphicFramePr/>
          <p:nvPr/>
        </p:nvGraphicFramePr>
        <p:xfrm>
          <a:off x="3352800" y="3733800"/>
          <a:ext cx="3000000" cy="3000000"/>
        </p:xfrm>
        <a:graphic>
          <a:graphicData uri="http://schemas.openxmlformats.org/drawingml/2006/table">
            <a:tbl>
              <a:tblPr>
                <a:noFill/>
                <a:tableStyleId>{23462239-0527-4F0C-A388-8CC7B8B6E21C}</a:tableStyleId>
              </a:tblPr>
              <a:tblGrid>
                <a:gridCol w="349050"/>
              </a:tblGrid>
              <a:tr h="0">
                <a:tc>
                  <a:txBody>
                    <a:bodyPr/>
                    <a:lstStyle/>
                    <a:p>
                      <a:pPr indent="0" lvl="0" marL="0" marR="0" rtl="0" algn="l">
                        <a:spcBef>
                          <a:spcPts val="0"/>
                        </a:spcBef>
                        <a:spcAft>
                          <a:spcPts val="0"/>
                        </a:spcAft>
                        <a:buNone/>
                      </a:pPr>
                      <a:r>
                        <a:t/>
                      </a:r>
                      <a:endParaRPr sz="1800"/>
                    </a:p>
                  </a:txBody>
                  <a:tcPr marT="45725" marB="45725" marR="91450" marL="91450">
                    <a:lnL cap="flat" cmpd="sng" w="12700">
                      <a:solidFill>
                        <a:srgbClr val="FF0000"/>
                      </a:solidFill>
                      <a:prstDash val="solid"/>
                      <a:round/>
                      <a:headEnd len="sm" w="sm" type="none"/>
                      <a:tailEnd len="sm" w="sm" type="none"/>
                    </a:lnL>
                    <a:lnR cap="flat" cmpd="sng" w="12700">
                      <a:solidFill>
                        <a:srgbClr val="FF0000"/>
                      </a:solidFill>
                      <a:prstDash val="solid"/>
                      <a:round/>
                      <a:headEnd len="sm" w="sm" type="none"/>
                      <a:tailEnd len="sm" w="sm" type="none"/>
                    </a:lnR>
                    <a:lnT cap="flat" cmpd="sng" w="12700">
                      <a:solidFill>
                        <a:srgbClr val="FF0000"/>
                      </a:solidFill>
                      <a:prstDash val="solid"/>
                      <a:round/>
                      <a:headEnd len="sm" w="sm" type="none"/>
                      <a:tailEnd len="sm" w="sm" type="none"/>
                    </a:lnT>
                    <a:lnB cap="flat" cmpd="sng" w="12700">
                      <a:solidFill>
                        <a:srgbClr val="FF0000"/>
                      </a:solidFill>
                      <a:prstDash val="solid"/>
                      <a:round/>
                      <a:headEnd len="sm" w="sm" type="none"/>
                      <a:tailEnd len="sm" w="sm" type="none"/>
                    </a:lnB>
                  </a:tcPr>
                </a:tc>
              </a:tr>
            </a:tbl>
          </a:graphicData>
        </a:graphic>
      </p:graphicFrame>
      <p:graphicFrame>
        <p:nvGraphicFramePr>
          <p:cNvPr id="351" name="Google Shape;351;p19"/>
          <p:cNvGraphicFramePr/>
          <p:nvPr/>
        </p:nvGraphicFramePr>
        <p:xfrm>
          <a:off x="3352800" y="5105400"/>
          <a:ext cx="3000000" cy="3000000"/>
        </p:xfrm>
        <a:graphic>
          <a:graphicData uri="http://schemas.openxmlformats.org/drawingml/2006/table">
            <a:tbl>
              <a:tblPr>
                <a:noFill/>
                <a:tableStyleId>{23462239-0527-4F0C-A388-8CC7B8B6E21C}</a:tableStyleId>
              </a:tblPr>
              <a:tblGrid>
                <a:gridCol w="454075"/>
              </a:tblGrid>
              <a:tr h="533400">
                <a:tc>
                  <a:txBody>
                    <a:bodyPr/>
                    <a:lstStyle/>
                    <a:p>
                      <a:pPr indent="0" lvl="0" marL="0" marR="0" rtl="0" algn="l">
                        <a:spcBef>
                          <a:spcPts val="0"/>
                        </a:spcBef>
                        <a:spcAft>
                          <a:spcPts val="0"/>
                        </a:spcAft>
                        <a:buNone/>
                      </a:pPr>
                      <a:r>
                        <a:t/>
                      </a:r>
                      <a:endParaRPr sz="1800"/>
                    </a:p>
                  </a:txBody>
                  <a:tcPr marT="45725" marB="45725" marR="91450" marL="91450">
                    <a:lnL cap="flat" cmpd="sng" w="12700">
                      <a:solidFill>
                        <a:srgbClr val="FF0000"/>
                      </a:solidFill>
                      <a:prstDash val="solid"/>
                      <a:round/>
                      <a:headEnd len="sm" w="sm" type="none"/>
                      <a:tailEnd len="sm" w="sm" type="none"/>
                    </a:lnL>
                    <a:lnR cap="flat" cmpd="sng" w="12700">
                      <a:solidFill>
                        <a:srgbClr val="FF0000"/>
                      </a:solidFill>
                      <a:prstDash val="solid"/>
                      <a:round/>
                      <a:headEnd len="sm" w="sm" type="none"/>
                      <a:tailEnd len="sm" w="sm" type="none"/>
                    </a:lnR>
                    <a:lnT cap="flat" cmpd="sng" w="12700">
                      <a:solidFill>
                        <a:srgbClr val="FF0000"/>
                      </a:solidFill>
                      <a:prstDash val="solid"/>
                      <a:round/>
                      <a:headEnd len="sm" w="sm" type="none"/>
                      <a:tailEnd len="sm" w="sm" type="none"/>
                    </a:lnT>
                    <a:lnB cap="flat" cmpd="sng" w="12700">
                      <a:solidFill>
                        <a:srgbClr val="FF000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0"/>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358" name="Google Shape;358;p20"/>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59" name="Google Shape;359;p20"/>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60" name="Google Shape;360;p20"/>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Tích hợp cổng</a:t>
            </a:r>
            <a:endParaRPr/>
          </a:p>
        </p:txBody>
      </p:sp>
      <p:sp>
        <p:nvSpPr>
          <p:cNvPr id="361" name="Google Shape;361;p20"/>
          <p:cNvSpPr txBox="1"/>
          <p:nvPr>
            <p:ph idx="4" type="body"/>
          </p:nvPr>
        </p:nvSpPr>
        <p:spPr>
          <a:xfrm>
            <a:off x="4645025" y="2174875"/>
            <a:ext cx="4041775" cy="3951288"/>
          </a:xfrm>
          <a:prstGeom prst="rect">
            <a:avLst/>
          </a:prstGeom>
          <a:blipFill rotWithShape="1">
            <a:blip r:embed="rId4">
              <a:alphaModFix/>
            </a:blip>
            <a:stretch>
              <a:fillRect b="0" l="-2112"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62" name="Google Shape;362;p20"/>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pic>
        <p:nvPicPr>
          <p:cNvPr id="363" name="Google Shape;363;p20"/>
          <p:cNvPicPr preferRelativeResize="0"/>
          <p:nvPr/>
        </p:nvPicPr>
        <p:blipFill rotWithShape="1">
          <a:blip r:embed="rId5">
            <a:alphaModFix/>
          </a:blip>
          <a:srcRect b="0" l="0" r="0" t="0"/>
          <a:stretch/>
        </p:blipFill>
        <p:spPr>
          <a:xfrm>
            <a:off x="457200" y="4038600"/>
            <a:ext cx="3962399" cy="2143125"/>
          </a:xfrm>
          <a:prstGeom prst="rect">
            <a:avLst/>
          </a:prstGeom>
          <a:noFill/>
          <a:ln>
            <a:noFill/>
          </a:ln>
        </p:spPr>
      </p:pic>
      <p:pic>
        <p:nvPicPr>
          <p:cNvPr id="364" name="Google Shape;364;p20"/>
          <p:cNvPicPr preferRelativeResize="0"/>
          <p:nvPr/>
        </p:nvPicPr>
        <p:blipFill rotWithShape="1">
          <a:blip r:embed="rId6">
            <a:alphaModFix/>
          </a:blip>
          <a:srcRect b="0" l="0" r="0" t="0"/>
          <a:stretch/>
        </p:blipFill>
        <p:spPr>
          <a:xfrm>
            <a:off x="4724400" y="4009103"/>
            <a:ext cx="3962400" cy="208689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MẠCH LOGIC</a:t>
            </a:r>
            <a:endParaRPr b="1" sz="3600">
              <a:solidFill>
                <a:srgbClr val="00B0F0"/>
              </a:solidFill>
            </a:endParaRPr>
          </a:p>
        </p:txBody>
      </p:sp>
      <p:sp>
        <p:nvSpPr>
          <p:cNvPr id="370" name="Google Shape;370;p21"/>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371" name="Google Shape;371;p21"/>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372" name="Google Shape;372;p21"/>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373" name="Google Shape;373;p21"/>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342900" lvl="0" marL="342900" rtl="0" algn="l">
              <a:spcBef>
                <a:spcPts val="480"/>
              </a:spcBef>
              <a:spcAft>
                <a:spcPts val="0"/>
              </a:spcAft>
              <a:buClr>
                <a:srgbClr val="C00000"/>
              </a:buClr>
              <a:buSzPts val="2400"/>
              <a:buFont typeface="Noto Sans Symbols"/>
              <a:buChar char="▪"/>
            </a:pPr>
            <a:r>
              <a:rPr lang="en-US">
                <a:solidFill>
                  <a:srgbClr val="C00000"/>
                </a:solidFill>
              </a:rPr>
              <a:t>b) ???? </a:t>
            </a:r>
            <a:endParaRPr/>
          </a:p>
        </p:txBody>
      </p:sp>
      <p:sp>
        <p:nvSpPr>
          <p:cNvPr id="374" name="Google Shape;374;p21"/>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grpSp>
        <p:nvGrpSpPr>
          <p:cNvPr id="375" name="Google Shape;375;p21"/>
          <p:cNvGrpSpPr/>
          <p:nvPr/>
        </p:nvGrpSpPr>
        <p:grpSpPr>
          <a:xfrm>
            <a:off x="4965204" y="2740764"/>
            <a:ext cx="3640138" cy="1981200"/>
            <a:chOff x="576" y="2112"/>
            <a:chExt cx="2293" cy="1248"/>
          </a:xfrm>
        </p:grpSpPr>
        <p:cxnSp>
          <p:nvCxnSpPr>
            <p:cNvPr id="376" name="Google Shape;376;p21"/>
            <p:cNvCxnSpPr/>
            <p:nvPr/>
          </p:nvCxnSpPr>
          <p:spPr>
            <a:xfrm>
              <a:off x="624" y="2184"/>
              <a:ext cx="480" cy="0"/>
            </a:xfrm>
            <a:prstGeom prst="straightConnector1">
              <a:avLst/>
            </a:prstGeom>
            <a:noFill/>
            <a:ln cap="flat" cmpd="sng" w="9525">
              <a:solidFill>
                <a:schemeClr val="dk1"/>
              </a:solidFill>
              <a:prstDash val="solid"/>
              <a:round/>
              <a:headEnd len="med" w="med" type="none"/>
              <a:tailEnd len="med" w="med" type="triangle"/>
            </a:ln>
          </p:spPr>
        </p:cxnSp>
        <p:cxnSp>
          <p:nvCxnSpPr>
            <p:cNvPr id="377" name="Google Shape;377;p21"/>
            <p:cNvCxnSpPr/>
            <p:nvPr/>
          </p:nvCxnSpPr>
          <p:spPr>
            <a:xfrm>
              <a:off x="624" y="2424"/>
              <a:ext cx="480" cy="0"/>
            </a:xfrm>
            <a:prstGeom prst="straightConnector1">
              <a:avLst/>
            </a:prstGeom>
            <a:noFill/>
            <a:ln cap="flat" cmpd="sng" w="9525">
              <a:solidFill>
                <a:schemeClr val="dk1"/>
              </a:solidFill>
              <a:prstDash val="solid"/>
              <a:round/>
              <a:headEnd len="med" w="med" type="none"/>
              <a:tailEnd len="med" w="med" type="triangle"/>
            </a:ln>
          </p:spPr>
        </p:cxnSp>
        <p:sp>
          <p:nvSpPr>
            <p:cNvPr id="378" name="Google Shape;378;p21"/>
            <p:cNvSpPr/>
            <p:nvPr/>
          </p:nvSpPr>
          <p:spPr>
            <a:xfrm>
              <a:off x="1285" y="2120"/>
              <a:ext cx="211" cy="321"/>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79" name="Google Shape;379;p21"/>
            <p:cNvSpPr/>
            <p:nvPr/>
          </p:nvSpPr>
          <p:spPr>
            <a:xfrm rot="3056401">
              <a:off x="937" y="2196"/>
              <a:ext cx="281" cy="219"/>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0" name="Google Shape;380;p21"/>
            <p:cNvSpPr/>
            <p:nvPr/>
          </p:nvSpPr>
          <p:spPr>
            <a:xfrm flipH="1" rot="10800000">
              <a:off x="1285" y="2174"/>
              <a:ext cx="211" cy="322"/>
            </a:xfrm>
            <a:custGeom>
              <a:rect b="b" l="l" r="r" t="t"/>
              <a:pathLst>
                <a:path extrusionOk="0" fill="none" h="21600" w="19197">
                  <a:moveTo>
                    <a:pt x="-1" y="0"/>
                  </a:moveTo>
                  <a:cubicBezTo>
                    <a:pt x="8084" y="0"/>
                    <a:pt x="15491" y="4514"/>
                    <a:pt x="19197" y="11698"/>
                  </a:cubicBezTo>
                </a:path>
                <a:path extrusionOk="0" h="21600" w="19197">
                  <a:moveTo>
                    <a:pt x="-1" y="0"/>
                  </a:moveTo>
                  <a:cubicBezTo>
                    <a:pt x="8084" y="0"/>
                    <a:pt x="15491" y="4514"/>
                    <a:pt x="19197" y="11698"/>
                  </a:cubicBezTo>
                  <a:lnTo>
                    <a:pt x="0" y="21600"/>
                  </a:lnTo>
                  <a:close/>
                </a:path>
              </a:pathLst>
            </a:cu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81" name="Google Shape;381;p21"/>
            <p:cNvCxnSpPr/>
            <p:nvPr/>
          </p:nvCxnSpPr>
          <p:spPr>
            <a:xfrm>
              <a:off x="1103" y="2112"/>
              <a:ext cx="182" cy="0"/>
            </a:xfrm>
            <a:prstGeom prst="straightConnector1">
              <a:avLst/>
            </a:prstGeom>
            <a:noFill/>
            <a:ln cap="flat" cmpd="sng" w="9525">
              <a:solidFill>
                <a:schemeClr val="dk1"/>
              </a:solidFill>
              <a:prstDash val="solid"/>
              <a:round/>
              <a:headEnd len="med" w="med" type="none"/>
              <a:tailEnd len="med" w="med" type="none"/>
            </a:ln>
          </p:spPr>
        </p:cxnSp>
        <p:cxnSp>
          <p:nvCxnSpPr>
            <p:cNvPr id="382" name="Google Shape;382;p21"/>
            <p:cNvCxnSpPr/>
            <p:nvPr/>
          </p:nvCxnSpPr>
          <p:spPr>
            <a:xfrm>
              <a:off x="1069" y="2496"/>
              <a:ext cx="212" cy="0"/>
            </a:xfrm>
            <a:prstGeom prst="straightConnector1">
              <a:avLst/>
            </a:prstGeom>
            <a:noFill/>
            <a:ln cap="flat" cmpd="sng" w="9525">
              <a:solidFill>
                <a:schemeClr val="dk1"/>
              </a:solidFill>
              <a:prstDash val="solid"/>
              <a:round/>
              <a:headEnd len="med" w="med" type="none"/>
              <a:tailEnd len="med" w="med" type="none"/>
            </a:ln>
          </p:spPr>
        </p:cxnSp>
        <p:sp>
          <p:nvSpPr>
            <p:cNvPr id="383" name="Google Shape;383;p21"/>
            <p:cNvSpPr/>
            <p:nvPr/>
          </p:nvSpPr>
          <p:spPr>
            <a:xfrm>
              <a:off x="2017" y="2224"/>
              <a:ext cx="384" cy="384"/>
            </a:xfrm>
            <a:prstGeom prst="flowChartDelay">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cxnSp>
          <p:nvCxnSpPr>
            <p:cNvPr id="384" name="Google Shape;384;p21"/>
            <p:cNvCxnSpPr/>
            <p:nvPr/>
          </p:nvCxnSpPr>
          <p:spPr>
            <a:xfrm>
              <a:off x="2437" y="2400"/>
              <a:ext cx="432" cy="0"/>
            </a:xfrm>
            <a:prstGeom prst="straightConnector1">
              <a:avLst/>
            </a:prstGeom>
            <a:noFill/>
            <a:ln cap="flat" cmpd="sng" w="9525">
              <a:solidFill>
                <a:schemeClr val="dk1"/>
              </a:solidFill>
              <a:prstDash val="solid"/>
              <a:round/>
              <a:headEnd len="med" w="med" type="none"/>
              <a:tailEnd len="med" w="med" type="triangle"/>
            </a:ln>
          </p:spPr>
        </p:cxnSp>
        <p:cxnSp>
          <p:nvCxnSpPr>
            <p:cNvPr id="385" name="Google Shape;385;p21"/>
            <p:cNvCxnSpPr/>
            <p:nvPr/>
          </p:nvCxnSpPr>
          <p:spPr>
            <a:xfrm>
              <a:off x="576" y="3240"/>
              <a:ext cx="528" cy="0"/>
            </a:xfrm>
            <a:prstGeom prst="straightConnector1">
              <a:avLst/>
            </a:prstGeom>
            <a:noFill/>
            <a:ln cap="flat" cmpd="sng" w="9525">
              <a:solidFill>
                <a:schemeClr val="dk1"/>
              </a:solidFill>
              <a:prstDash val="solid"/>
              <a:round/>
              <a:headEnd len="med" w="med" type="none"/>
              <a:tailEnd len="med" w="med" type="triangle"/>
            </a:ln>
          </p:spPr>
        </p:cxnSp>
        <p:grpSp>
          <p:nvGrpSpPr>
            <p:cNvPr id="386" name="Google Shape;386;p21"/>
            <p:cNvGrpSpPr/>
            <p:nvPr/>
          </p:nvGrpSpPr>
          <p:grpSpPr>
            <a:xfrm>
              <a:off x="1120" y="3120"/>
              <a:ext cx="288" cy="240"/>
              <a:chOff x="3552" y="1328"/>
              <a:chExt cx="288" cy="240"/>
            </a:xfrm>
          </p:grpSpPr>
          <p:sp>
            <p:nvSpPr>
              <p:cNvPr id="387" name="Google Shape;387;p21"/>
              <p:cNvSpPr/>
              <p:nvPr/>
            </p:nvSpPr>
            <p:spPr>
              <a:xfrm rot="5400000">
                <a:off x="3552" y="1328"/>
                <a:ext cx="240" cy="240"/>
              </a:xfrm>
              <a:prstGeom prst="flowChartExtra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8" name="Google Shape;388;p21"/>
              <p:cNvSpPr/>
              <p:nvPr/>
            </p:nvSpPr>
            <p:spPr>
              <a:xfrm>
                <a:off x="3792" y="1424"/>
                <a:ext cx="48" cy="48"/>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cxnSp>
          <p:nvCxnSpPr>
            <p:cNvPr id="389" name="Google Shape;389;p21"/>
            <p:cNvCxnSpPr/>
            <p:nvPr/>
          </p:nvCxnSpPr>
          <p:spPr>
            <a:xfrm>
              <a:off x="1408" y="3240"/>
              <a:ext cx="272" cy="0"/>
            </a:xfrm>
            <a:prstGeom prst="straightConnector1">
              <a:avLst/>
            </a:prstGeom>
            <a:noFill/>
            <a:ln cap="flat" cmpd="sng" w="9525">
              <a:solidFill>
                <a:schemeClr val="dk1"/>
              </a:solidFill>
              <a:prstDash val="solid"/>
              <a:round/>
              <a:headEnd len="med" w="med" type="none"/>
              <a:tailEnd len="med" w="med" type="none"/>
            </a:ln>
          </p:spPr>
        </p:cxnSp>
        <p:cxnSp>
          <p:nvCxnSpPr>
            <p:cNvPr id="390" name="Google Shape;390;p21"/>
            <p:cNvCxnSpPr/>
            <p:nvPr/>
          </p:nvCxnSpPr>
          <p:spPr>
            <a:xfrm rot="10800000">
              <a:off x="1680" y="2544"/>
              <a:ext cx="0" cy="696"/>
            </a:xfrm>
            <a:prstGeom prst="straightConnector1">
              <a:avLst/>
            </a:prstGeom>
            <a:noFill/>
            <a:ln cap="flat" cmpd="sng" w="9525">
              <a:solidFill>
                <a:schemeClr val="dk1"/>
              </a:solidFill>
              <a:prstDash val="solid"/>
              <a:round/>
              <a:headEnd len="med" w="med" type="none"/>
              <a:tailEnd len="med" w="med" type="none"/>
            </a:ln>
          </p:spPr>
        </p:cxnSp>
        <p:cxnSp>
          <p:nvCxnSpPr>
            <p:cNvPr id="391" name="Google Shape;391;p21"/>
            <p:cNvCxnSpPr/>
            <p:nvPr/>
          </p:nvCxnSpPr>
          <p:spPr>
            <a:xfrm>
              <a:off x="1680" y="2544"/>
              <a:ext cx="328" cy="0"/>
            </a:xfrm>
            <a:prstGeom prst="straightConnector1">
              <a:avLst/>
            </a:prstGeom>
            <a:noFill/>
            <a:ln cap="flat" cmpd="sng" w="9525">
              <a:solidFill>
                <a:schemeClr val="dk1"/>
              </a:solidFill>
              <a:prstDash val="solid"/>
              <a:round/>
              <a:headEnd len="med" w="med" type="none"/>
              <a:tailEnd len="med" w="med" type="triangle"/>
            </a:ln>
          </p:spPr>
        </p:cxnSp>
        <p:cxnSp>
          <p:nvCxnSpPr>
            <p:cNvPr id="392" name="Google Shape;392;p21"/>
            <p:cNvCxnSpPr/>
            <p:nvPr/>
          </p:nvCxnSpPr>
          <p:spPr>
            <a:xfrm>
              <a:off x="1488" y="2304"/>
              <a:ext cx="520" cy="1"/>
            </a:xfrm>
            <a:prstGeom prst="straightConnector1">
              <a:avLst/>
            </a:prstGeom>
            <a:noFill/>
            <a:ln cap="flat" cmpd="sng" w="9525">
              <a:solidFill>
                <a:schemeClr val="dk1"/>
              </a:solidFill>
              <a:prstDash val="solid"/>
              <a:round/>
              <a:headEnd len="med" w="med" type="none"/>
              <a:tailEnd len="med" w="med" type="triangle"/>
            </a:ln>
          </p:spPr>
        </p:cxnSp>
      </p:grpSp>
      <p:sp>
        <p:nvSpPr>
          <p:cNvPr id="393" name="Google Shape;393;p21"/>
          <p:cNvSpPr txBox="1"/>
          <p:nvPr/>
        </p:nvSpPr>
        <p:spPr>
          <a:xfrm>
            <a:off x="4584204" y="2588364"/>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a:t>
            </a:r>
            <a:endParaRPr/>
          </a:p>
        </p:txBody>
      </p:sp>
      <p:sp>
        <p:nvSpPr>
          <p:cNvPr id="394" name="Google Shape;394;p21"/>
          <p:cNvSpPr txBox="1"/>
          <p:nvPr/>
        </p:nvSpPr>
        <p:spPr>
          <a:xfrm>
            <a:off x="4584204" y="2969364"/>
            <a:ext cx="3048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y</a:t>
            </a:r>
            <a:endParaRPr/>
          </a:p>
        </p:txBody>
      </p:sp>
      <p:sp>
        <p:nvSpPr>
          <p:cNvPr id="395" name="Google Shape;395;p21"/>
          <p:cNvSpPr txBox="1"/>
          <p:nvPr/>
        </p:nvSpPr>
        <p:spPr>
          <a:xfrm>
            <a:off x="4660404" y="4264764"/>
            <a:ext cx="381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z</a:t>
            </a:r>
            <a:endParaRPr/>
          </a:p>
        </p:txBody>
      </p:sp>
      <p:sp>
        <p:nvSpPr>
          <p:cNvPr id="396" name="Google Shape;396;p21"/>
          <p:cNvSpPr txBox="1"/>
          <p:nvPr/>
        </p:nvSpPr>
        <p:spPr>
          <a:xfrm>
            <a:off x="6390795" y="2630224"/>
            <a:ext cx="9906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a:t>
            </a:r>
            <a:endParaRPr/>
          </a:p>
        </p:txBody>
      </p:sp>
      <p:sp>
        <p:nvSpPr>
          <p:cNvPr id="397" name="Google Shape;397;p21"/>
          <p:cNvSpPr txBox="1"/>
          <p:nvPr/>
        </p:nvSpPr>
        <p:spPr>
          <a:xfrm>
            <a:off x="6184404" y="4099664"/>
            <a:ext cx="533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z</a:t>
            </a:r>
            <a:endParaRPr/>
          </a:p>
        </p:txBody>
      </p:sp>
      <p:cxnSp>
        <p:nvCxnSpPr>
          <p:cNvPr id="398" name="Google Shape;398;p21"/>
          <p:cNvCxnSpPr/>
          <p:nvPr/>
        </p:nvCxnSpPr>
        <p:spPr>
          <a:xfrm>
            <a:off x="6222504" y="4239364"/>
            <a:ext cx="228600" cy="0"/>
          </a:xfrm>
          <a:prstGeom prst="straightConnector1">
            <a:avLst/>
          </a:prstGeom>
          <a:noFill/>
          <a:ln cap="flat" cmpd="sng" w="9525">
            <a:solidFill>
              <a:schemeClr val="dk1"/>
            </a:solidFill>
            <a:prstDash val="solid"/>
            <a:round/>
            <a:headEnd len="med" w="med" type="none"/>
            <a:tailEnd len="med" w="med" type="none"/>
          </a:ln>
        </p:spPr>
      </p:cxnSp>
      <p:sp>
        <p:nvSpPr>
          <p:cNvPr id="399" name="Google Shape;399;p21"/>
          <p:cNvSpPr txBox="1"/>
          <p:nvPr/>
        </p:nvSpPr>
        <p:spPr>
          <a:xfrm>
            <a:off x="7772400" y="2831068"/>
            <a:ext cx="13716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(x + y)z</a:t>
            </a:r>
            <a:endParaRPr/>
          </a:p>
        </p:txBody>
      </p:sp>
      <p:cxnSp>
        <p:nvCxnSpPr>
          <p:cNvPr id="400" name="Google Shape;400;p21"/>
          <p:cNvCxnSpPr/>
          <p:nvPr/>
        </p:nvCxnSpPr>
        <p:spPr>
          <a:xfrm rot="10800000">
            <a:off x="8458200" y="2839188"/>
            <a:ext cx="147142" cy="28575"/>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2"/>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TỐI GIẢN MẠCH LOGIC</a:t>
            </a:r>
            <a:r>
              <a:rPr b="1" lang="en-US" sz="3600">
                <a:solidFill>
                  <a:srgbClr val="00B0F0"/>
                </a:solidFill>
              </a:rPr>
              <a:t> </a:t>
            </a:r>
            <a:endParaRPr b="1" sz="3600">
              <a:solidFill>
                <a:srgbClr val="00B0F0"/>
              </a:solidFill>
            </a:endParaRPr>
          </a:p>
        </p:txBody>
      </p:sp>
      <p:sp>
        <p:nvSpPr>
          <p:cNvPr id="406" name="Google Shape;406;p22"/>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Ví dụ </a:t>
            </a:r>
            <a:endParaRPr/>
          </a:p>
        </p:txBody>
      </p:sp>
      <p:sp>
        <p:nvSpPr>
          <p:cNvPr id="407" name="Google Shape;407;p22"/>
          <p:cNvSpPr txBox="1"/>
          <p:nvPr>
            <p:ph idx="2" type="body"/>
          </p:nvPr>
        </p:nvSpPr>
        <p:spPr>
          <a:xfrm>
            <a:off x="457200" y="2174875"/>
            <a:ext cx="4040188" cy="3951288"/>
          </a:xfrm>
          <a:prstGeom prst="rect">
            <a:avLst/>
          </a:prstGeom>
          <a:blipFill rotWithShape="1">
            <a:blip r:embed="rId3">
              <a:alphaModFix/>
            </a:blip>
            <a:stretch>
              <a:fillRect b="0" l="-1960" r="-30768"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08" name="Google Shape;408;p22"/>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09" name="Google Shape;409;p22"/>
          <p:cNvSpPr txBox="1"/>
          <p:nvPr>
            <p:ph idx="4" type="body"/>
          </p:nvPr>
        </p:nvSpPr>
        <p:spPr>
          <a:xfrm>
            <a:off x="4645025" y="2174875"/>
            <a:ext cx="4041775" cy="3951288"/>
          </a:xfrm>
          <a:prstGeom prst="rect">
            <a:avLst/>
          </a:prstGeom>
          <a:blipFill rotWithShape="1">
            <a:blip r:embed="rId4">
              <a:alphaModFix/>
            </a:blip>
            <a:stretch>
              <a:fillRect b="0" l="-2111" r="-10557" t="0"/>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10" name="Google Shape;410;p22"/>
          <p:cNvSpPr txBox="1"/>
          <p:nvPr>
            <p:ph idx="11" type="ftr"/>
          </p:nvPr>
        </p:nvSpPr>
        <p:spPr>
          <a:xfrm>
            <a:off x="3124200" y="6629400"/>
            <a:ext cx="3352800" cy="2286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Nguyễn Văn Hiệu, 2012, Discrete Mathematics</a:t>
            </a:r>
            <a:endParaRPr/>
          </a:p>
        </p:txBody>
      </p:sp>
      <p:cxnSp>
        <p:nvCxnSpPr>
          <p:cNvPr id="411" name="Google Shape;411;p22"/>
          <p:cNvCxnSpPr/>
          <p:nvPr/>
        </p:nvCxnSpPr>
        <p:spPr>
          <a:xfrm>
            <a:off x="8246806" y="2590800"/>
            <a:ext cx="0" cy="0"/>
          </a:xfrm>
          <a:prstGeom prst="straightConnector1">
            <a:avLst/>
          </a:prstGeom>
          <a:noFill/>
          <a:ln cap="flat" cmpd="sng" w="9525">
            <a:solidFill>
              <a:srgbClr val="D7D7D7"/>
            </a:solidFill>
            <a:prstDash val="solid"/>
            <a:round/>
            <a:headEnd len="sm" w="sm" type="none"/>
            <a:tailEnd len="med" w="med" type="stealth"/>
          </a:ln>
        </p:spPr>
      </p:cxnSp>
      <p:cxnSp>
        <p:nvCxnSpPr>
          <p:cNvPr id="412" name="Google Shape;412;p22"/>
          <p:cNvCxnSpPr/>
          <p:nvPr/>
        </p:nvCxnSpPr>
        <p:spPr>
          <a:xfrm>
            <a:off x="8153400" y="2590800"/>
            <a:ext cx="93406" cy="0"/>
          </a:xfrm>
          <a:prstGeom prst="straightConnector1">
            <a:avLst/>
          </a:prstGeom>
          <a:noFill/>
          <a:ln cap="flat" cmpd="sng" w="9525">
            <a:solidFill>
              <a:srgbClr val="D7D7D7"/>
            </a:solidFill>
            <a:prstDash val="solid"/>
            <a:round/>
            <a:headEnd len="sm" w="sm" type="none"/>
            <a:tailEnd len="med" w="med" type="stealth"/>
          </a:ln>
        </p:spPr>
      </p:cxnSp>
      <p:pic>
        <p:nvPicPr>
          <p:cNvPr id="413" name="Google Shape;413;p22"/>
          <p:cNvPicPr preferRelativeResize="0"/>
          <p:nvPr/>
        </p:nvPicPr>
        <p:blipFill rotWithShape="1">
          <a:blip r:embed="rId5">
            <a:alphaModFix/>
          </a:blip>
          <a:srcRect b="0" l="0" r="0" t="0"/>
          <a:stretch/>
        </p:blipFill>
        <p:spPr>
          <a:xfrm>
            <a:off x="4724400" y="2209800"/>
            <a:ext cx="3886200" cy="1828800"/>
          </a:xfrm>
          <a:prstGeom prst="rect">
            <a:avLst/>
          </a:prstGeom>
          <a:noFill/>
          <a:ln>
            <a:noFill/>
          </a:ln>
        </p:spPr>
      </p:pic>
      <p:pic>
        <p:nvPicPr>
          <p:cNvPr id="414" name="Google Shape;414;p22"/>
          <p:cNvPicPr preferRelativeResize="0"/>
          <p:nvPr/>
        </p:nvPicPr>
        <p:blipFill rotWithShape="1">
          <a:blip r:embed="rId6">
            <a:alphaModFix/>
          </a:blip>
          <a:srcRect b="0" l="0" r="0" t="0"/>
          <a:stretch/>
        </p:blipFill>
        <p:spPr>
          <a:xfrm>
            <a:off x="4984034" y="5334000"/>
            <a:ext cx="3216070" cy="666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21429f3121_1_49"/>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TỐI GIẢN MẠCH LOGIC</a:t>
            </a:r>
            <a:r>
              <a:rPr b="1" lang="en-US">
                <a:solidFill>
                  <a:srgbClr val="00B0F0"/>
                </a:solidFill>
                <a:latin typeface="Times New Roman"/>
                <a:ea typeface="Times New Roman"/>
                <a:cs typeface="Times New Roman"/>
                <a:sym typeface="Times New Roman"/>
              </a:rPr>
              <a:t> </a:t>
            </a:r>
            <a:endParaRPr/>
          </a:p>
        </p:txBody>
      </p:sp>
      <p:sp>
        <p:nvSpPr>
          <p:cNvPr id="421" name="Google Shape;421;g121429f3121_1_49"/>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Tối giản mạch </a:t>
            </a:r>
            <a:r>
              <a:rPr b="1" lang="en-US" sz="2400">
                <a:solidFill>
                  <a:srgbClr val="0000FF"/>
                </a:solidFill>
              </a:rPr>
              <a:t>logic là việc làm cần thiết</a:t>
            </a:r>
            <a:endParaRPr b="1" sz="2400">
              <a:solidFill>
                <a:srgbClr val="0000FF"/>
              </a:solidFill>
            </a:endParaRPr>
          </a:p>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Giải pháp:</a:t>
            </a:r>
            <a:endParaRPr b="1" sz="2400">
              <a:solidFill>
                <a:srgbClr val="0000FF"/>
              </a:solidFill>
            </a:endParaRPr>
          </a:p>
          <a:p>
            <a:pPr indent="-381000" lvl="1" marL="914400" marR="0" rtl="0" algn="l">
              <a:lnSpc>
                <a:spcPct val="150000"/>
              </a:lnSpc>
              <a:spcBef>
                <a:spcPts val="0"/>
              </a:spcBef>
              <a:spcAft>
                <a:spcPts val="0"/>
              </a:spcAft>
              <a:buClr>
                <a:srgbClr val="000000"/>
              </a:buClr>
              <a:buSzPts val="2400"/>
              <a:buChar char="-"/>
            </a:pPr>
            <a:r>
              <a:rPr b="1" lang="en-US" sz="2400">
                <a:solidFill>
                  <a:srgbClr val="0000FF"/>
                </a:solidFill>
                <a:latin typeface="Times New Roman"/>
                <a:ea typeface="Times New Roman"/>
                <a:cs typeface="Times New Roman"/>
                <a:sym typeface="Times New Roman"/>
              </a:rPr>
              <a:t>Sử dụng 11 tính chất của đại số Boole </a:t>
            </a:r>
            <a:endParaRPr b="1" sz="2400">
              <a:solidFill>
                <a:srgbClr val="0000FF"/>
              </a:solidFill>
              <a:latin typeface="Times New Roman"/>
              <a:ea typeface="Times New Roman"/>
              <a:cs typeface="Times New Roman"/>
              <a:sym typeface="Times New Roman"/>
            </a:endParaRPr>
          </a:p>
          <a:p>
            <a:pPr indent="-381000" lvl="1" marL="914400" marR="0" rtl="0" algn="l">
              <a:lnSpc>
                <a:spcPct val="150000"/>
              </a:lnSpc>
              <a:spcBef>
                <a:spcPts val="0"/>
              </a:spcBef>
              <a:spcAft>
                <a:spcPts val="0"/>
              </a:spcAft>
              <a:buClr>
                <a:srgbClr val="000000"/>
              </a:buClr>
              <a:buSzPts val="2400"/>
              <a:buChar char="-"/>
            </a:pPr>
            <a:r>
              <a:rPr b="1" lang="en-US" sz="2400">
                <a:solidFill>
                  <a:srgbClr val="0000FF"/>
                </a:solidFill>
                <a:latin typeface="Times New Roman"/>
                <a:ea typeface="Times New Roman"/>
                <a:cs typeface="Times New Roman"/>
                <a:sym typeface="Times New Roman"/>
              </a:rPr>
              <a:t>Sử dụng bản đồ Karnaugh</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422" name="Google Shape;422;g121429f3121_1_49"/>
          <p:cNvPicPr preferRelativeResize="0"/>
          <p:nvPr/>
        </p:nvPicPr>
        <p:blipFill>
          <a:blip r:embed="rId3">
            <a:alphaModFix/>
          </a:blip>
          <a:stretch>
            <a:fillRect/>
          </a:stretch>
        </p:blipFill>
        <p:spPr>
          <a:xfrm>
            <a:off x="1938700" y="4419850"/>
            <a:ext cx="4343400" cy="2114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4"/>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Bản đồ </a:t>
            </a:r>
            <a:r>
              <a:rPr b="1" lang="en-US" sz="3600">
                <a:solidFill>
                  <a:srgbClr val="0000FF"/>
                </a:solidFill>
              </a:rPr>
              <a:t>Karnaugh</a:t>
            </a:r>
            <a:endParaRPr b="1" sz="3600">
              <a:solidFill>
                <a:srgbClr val="0000FF"/>
              </a:solidFill>
            </a:endParaRPr>
          </a:p>
        </p:txBody>
      </p:sp>
      <p:sp>
        <p:nvSpPr>
          <p:cNvPr id="429" name="Google Shape;429;p24"/>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a:t>
            </a:r>
            <a:r>
              <a:rPr lang="en-US"/>
              <a:t>Boole bậc 2</a:t>
            </a:r>
            <a:endParaRPr/>
          </a:p>
        </p:txBody>
      </p:sp>
      <p:sp>
        <p:nvSpPr>
          <p:cNvPr id="430" name="Google Shape;430;p24"/>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Phương pháp trực quan để rút gọn khai triển tổng các tích.</a:t>
            </a:r>
            <a:endParaRPr>
              <a:solidFill>
                <a:srgbClr val="0000FF"/>
              </a:solidFill>
            </a:endParaRPr>
          </a:p>
          <a:p>
            <a:pPr indent="-342900" lvl="0" marL="342900" rtl="0" algn="l">
              <a:spcBef>
                <a:spcPts val="480"/>
              </a:spcBef>
              <a:spcAft>
                <a:spcPts val="0"/>
              </a:spcAft>
              <a:buClr>
                <a:srgbClr val="0000FF"/>
              </a:buClr>
              <a:buSzPts val="2400"/>
              <a:buFont typeface="Noto Sans Symbols"/>
              <a:buChar char="❑"/>
            </a:pPr>
            <a:r>
              <a:rPr lang="en-US">
                <a:solidFill>
                  <a:srgbClr val="0000FF"/>
                </a:solidFill>
              </a:rPr>
              <a:t>Bản đồ Karnaugh hai biến:</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431" name="Google Shape;431;p24"/>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32" name="Google Shape;432;p24"/>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68300" lvl="0" marL="342900" rtl="0" algn="l">
              <a:spcBef>
                <a:spcPts val="0"/>
              </a:spcBef>
              <a:spcAft>
                <a:spcPts val="0"/>
              </a:spcAft>
              <a:buClr>
                <a:srgbClr val="0000FF"/>
              </a:buClr>
              <a:buSzPts val="2400"/>
              <a:buFont typeface="Noto Sans Symbols"/>
              <a:buChar char="▪"/>
            </a:pPr>
            <a:r>
              <a:rPr lang="en-US">
                <a:solidFill>
                  <a:srgbClr val="0000FF"/>
                </a:solidFill>
              </a:rPr>
              <a:t>Hội sơ cấp có mặt trong khai triển được ghi số </a:t>
            </a:r>
            <a:r>
              <a:rPr b="1" lang="en-US">
                <a:solidFill>
                  <a:srgbClr val="0000FF"/>
                </a:solidFill>
              </a:rPr>
              <a:t>1</a:t>
            </a:r>
            <a:r>
              <a:rPr lang="en-US">
                <a:solidFill>
                  <a:srgbClr val="0000FF"/>
                </a:solidFill>
              </a:rPr>
              <a:t>, </a:t>
            </a:r>
            <a:r>
              <a:rPr lang="en-US">
                <a:solidFill>
                  <a:srgbClr val="0000FF"/>
                </a:solidFill>
              </a:rPr>
              <a:t>ngược lại ghi số </a:t>
            </a:r>
            <a:r>
              <a:rPr b="1" lang="en-US">
                <a:solidFill>
                  <a:srgbClr val="0000FF"/>
                </a:solidFill>
              </a:rPr>
              <a:t>0</a:t>
            </a:r>
            <a:r>
              <a:rPr lang="en-US">
                <a:solidFill>
                  <a:srgbClr val="0000FF"/>
                </a:solidFill>
              </a:rPr>
              <a:t>.</a:t>
            </a:r>
            <a:endParaRPr>
              <a:solidFill>
                <a:srgbClr val="0000FF"/>
              </a:solidFill>
            </a:endParaRPr>
          </a:p>
          <a:p>
            <a:pPr indent="-368300" lvl="0" marL="342900" rtl="0" algn="l">
              <a:spcBef>
                <a:spcPts val="400"/>
              </a:spcBef>
              <a:spcAft>
                <a:spcPts val="0"/>
              </a:spcAft>
              <a:buClr>
                <a:srgbClr val="0000FF"/>
              </a:buClr>
              <a:buSzPts val="2400"/>
              <a:buFont typeface="Noto Sans Symbols"/>
              <a:buChar char="▪"/>
            </a:pPr>
            <a:r>
              <a:rPr lang="en-US">
                <a:solidFill>
                  <a:srgbClr val="0000FF"/>
                </a:solidFill>
              </a:rPr>
              <a:t>Các hình </a:t>
            </a:r>
            <a:r>
              <a:rPr lang="en-US">
                <a:solidFill>
                  <a:srgbClr val="0000FF"/>
                </a:solidFill>
              </a:rPr>
              <a:t>được gọi là kề nhau nếu các hội sơ cấp mà chúng biểu diễn chỉ khác nhau một biến.</a:t>
            </a:r>
            <a:endParaRPr>
              <a:solidFill>
                <a:srgbClr val="0000FF"/>
              </a:solidFill>
            </a:endParaRPr>
          </a:p>
        </p:txBody>
      </p:sp>
      <p:graphicFrame>
        <p:nvGraphicFramePr>
          <p:cNvPr id="433" name="Google Shape;433;p24"/>
          <p:cNvGraphicFramePr/>
          <p:nvPr/>
        </p:nvGraphicFramePr>
        <p:xfrm>
          <a:off x="1755084" y="4537524"/>
          <a:ext cx="3000000" cy="3000000"/>
        </p:xfrm>
        <a:graphic>
          <a:graphicData uri="http://schemas.openxmlformats.org/drawingml/2006/table">
            <a:tbl>
              <a:tblPr>
                <a:noFill/>
                <a:tableStyleId>{23462239-0527-4F0C-A388-8CC7B8B6E21C}</a:tableStyleId>
              </a:tblPr>
              <a:tblGrid>
                <a:gridCol w="1028700"/>
                <a:gridCol w="1028700"/>
              </a:tblGrid>
              <a:tr h="457200">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b="0" i="0" sz="2400" u="none" cap="none" strike="noStrike">
                        <a:solidFill>
                          <a:srgbClr val="0000FF"/>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a:solidFill>
                          <a:srgbClr val="0000FF"/>
                        </a:solidFil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33400">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a:solidFill>
                          <a:srgbClr val="0000FF"/>
                        </a:solidFill>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2060"/>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xy</a:t>
                      </a:r>
                      <a:endParaRPr b="0" i="0" sz="2400" u="none" cap="none" strike="noStrike">
                        <a:solidFill>
                          <a:srgbClr val="0000FF"/>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cxnSp>
        <p:nvCxnSpPr>
          <p:cNvPr id="434" name="Google Shape;434;p24"/>
          <p:cNvCxnSpPr/>
          <p:nvPr/>
        </p:nvCxnSpPr>
        <p:spPr>
          <a:xfrm>
            <a:off x="3050484" y="5147124"/>
            <a:ext cx="228600" cy="0"/>
          </a:xfrm>
          <a:prstGeom prst="straightConnector1">
            <a:avLst/>
          </a:prstGeom>
          <a:noFill/>
          <a:ln cap="flat" cmpd="sng" w="9525">
            <a:solidFill>
              <a:schemeClr val="dk1"/>
            </a:solidFill>
            <a:prstDash val="solid"/>
            <a:round/>
            <a:headEnd len="med" w="med" type="none"/>
            <a:tailEnd len="med" w="med" type="none"/>
          </a:ln>
        </p:spPr>
      </p:cxnSp>
      <p:cxnSp>
        <p:nvCxnSpPr>
          <p:cNvPr id="435" name="Google Shape;435;p24"/>
          <p:cNvCxnSpPr/>
          <p:nvPr/>
        </p:nvCxnSpPr>
        <p:spPr>
          <a:xfrm>
            <a:off x="3329884" y="5147124"/>
            <a:ext cx="152400" cy="0"/>
          </a:xfrm>
          <a:prstGeom prst="straightConnector1">
            <a:avLst/>
          </a:prstGeom>
          <a:noFill/>
          <a:ln cap="flat" cmpd="sng" w="9525">
            <a:solidFill>
              <a:schemeClr val="dk1"/>
            </a:solidFill>
            <a:prstDash val="solid"/>
            <a:round/>
            <a:headEnd len="med" w="med" type="none"/>
            <a:tailEnd len="med" w="med" type="none"/>
          </a:ln>
        </p:spPr>
      </p:cxnSp>
      <p:cxnSp>
        <p:nvCxnSpPr>
          <p:cNvPr id="436" name="Google Shape;436;p24"/>
          <p:cNvCxnSpPr/>
          <p:nvPr/>
        </p:nvCxnSpPr>
        <p:spPr>
          <a:xfrm>
            <a:off x="3279084" y="4689924"/>
            <a:ext cx="152400" cy="0"/>
          </a:xfrm>
          <a:prstGeom prst="straightConnector1">
            <a:avLst/>
          </a:prstGeom>
          <a:noFill/>
          <a:ln cap="flat" cmpd="sng" w="9525">
            <a:solidFill>
              <a:schemeClr val="dk1"/>
            </a:solidFill>
            <a:prstDash val="solid"/>
            <a:round/>
            <a:headEnd len="med" w="med" type="none"/>
            <a:tailEnd len="med" w="med" type="none"/>
          </a:ln>
        </p:spPr>
      </p:cxnSp>
      <p:cxnSp>
        <p:nvCxnSpPr>
          <p:cNvPr id="437" name="Google Shape;437;p24"/>
          <p:cNvCxnSpPr/>
          <p:nvPr/>
        </p:nvCxnSpPr>
        <p:spPr>
          <a:xfrm>
            <a:off x="2072584" y="5147124"/>
            <a:ext cx="152400" cy="0"/>
          </a:xfrm>
          <a:prstGeom prst="straightConnector1">
            <a:avLst/>
          </a:prstGeom>
          <a:noFill/>
          <a:ln cap="flat" cmpd="sng" w="9525">
            <a:solidFill>
              <a:schemeClr val="dk1"/>
            </a:solidFill>
            <a:prstDash val="solid"/>
            <a:round/>
            <a:headEnd len="med" w="med" type="none"/>
            <a:tailEnd len="med" w="med" type="none"/>
          </a:ln>
        </p:spPr>
      </p:cxnSp>
      <p:grpSp>
        <p:nvGrpSpPr>
          <p:cNvPr id="438" name="Google Shape;438;p24"/>
          <p:cNvGrpSpPr/>
          <p:nvPr/>
        </p:nvGrpSpPr>
        <p:grpSpPr>
          <a:xfrm>
            <a:off x="1348684" y="4080323"/>
            <a:ext cx="2286000" cy="1381125"/>
            <a:chOff x="1440" y="1056"/>
            <a:chExt cx="1440" cy="870"/>
          </a:xfrm>
        </p:grpSpPr>
        <p:grpSp>
          <p:nvGrpSpPr>
            <p:cNvPr id="439" name="Google Shape;439;p24"/>
            <p:cNvGrpSpPr/>
            <p:nvPr/>
          </p:nvGrpSpPr>
          <p:grpSpPr>
            <a:xfrm>
              <a:off x="1440" y="1344"/>
              <a:ext cx="288" cy="582"/>
              <a:chOff x="1440" y="1344"/>
              <a:chExt cx="288" cy="582"/>
            </a:xfrm>
          </p:grpSpPr>
          <p:sp>
            <p:nvSpPr>
              <p:cNvPr id="440" name="Google Shape;440;p24"/>
              <p:cNvSpPr txBox="1"/>
              <p:nvPr/>
            </p:nvSpPr>
            <p:spPr>
              <a:xfrm>
                <a:off x="1440" y="1344"/>
                <a:ext cx="288" cy="5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x</a:t>
                </a:r>
                <a:endParaRPr/>
              </a:p>
              <a:p>
                <a:pPr indent="0" lvl="0" marL="0" marR="0" rtl="0" algn="l">
                  <a:spcBef>
                    <a:spcPts val="0"/>
                  </a:spcBef>
                  <a:spcAft>
                    <a:spcPts val="0"/>
                  </a:spcAft>
                  <a:buNone/>
                </a:pPr>
                <a:r>
                  <a:t/>
                </a:r>
                <a:endParaRPr b="1" sz="1800">
                  <a:solidFill>
                    <a:srgbClr val="00206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x</a:t>
                </a:r>
                <a:endParaRPr/>
              </a:p>
            </p:txBody>
          </p:sp>
          <p:cxnSp>
            <p:nvCxnSpPr>
              <p:cNvPr id="441" name="Google Shape;441;p24"/>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42" name="Google Shape;442;p24"/>
            <p:cNvGrpSpPr/>
            <p:nvPr/>
          </p:nvGrpSpPr>
          <p:grpSpPr>
            <a:xfrm>
              <a:off x="1968" y="1056"/>
              <a:ext cx="912" cy="233"/>
              <a:chOff x="1968" y="1056"/>
              <a:chExt cx="912" cy="233"/>
            </a:xfrm>
          </p:grpSpPr>
          <p:sp>
            <p:nvSpPr>
              <p:cNvPr id="443" name="Google Shape;443;p24"/>
              <p:cNvSpPr txBox="1"/>
              <p:nvPr/>
            </p:nvSpPr>
            <p:spPr>
              <a:xfrm>
                <a:off x="1968" y="1056"/>
                <a:ext cx="912" cy="2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Times New Roman"/>
                    <a:ea typeface="Times New Roman"/>
                    <a:cs typeface="Times New Roman"/>
                    <a:sym typeface="Times New Roman"/>
                  </a:rPr>
                  <a:t>y               y</a:t>
                </a:r>
                <a:endParaRPr b="1" sz="1800">
                  <a:solidFill>
                    <a:srgbClr val="002060"/>
                  </a:solidFill>
                  <a:latin typeface="Times New Roman"/>
                  <a:ea typeface="Times New Roman"/>
                  <a:cs typeface="Times New Roman"/>
                  <a:sym typeface="Times New Roman"/>
                </a:endParaRPr>
              </a:p>
            </p:txBody>
          </p:sp>
          <p:cxnSp>
            <p:nvCxnSpPr>
              <p:cNvPr id="444" name="Google Shape;444;p24"/>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5"/>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51" name="Google Shape;451;p25"/>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52" name="Google Shape;452;p25"/>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53" name="Google Shape;453;p25"/>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54" name="Google Shape;454;p25"/>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2400"/>
              <a:buNone/>
            </a:pPr>
            <a:r>
              <a:rPr lang="en-US"/>
              <a:t>a)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285750" lvl="1" marL="742950" rtl="0" algn="l">
              <a:spcBef>
                <a:spcPts val="400"/>
              </a:spcBef>
              <a:spcAft>
                <a:spcPts val="0"/>
              </a:spcAft>
              <a:buClr>
                <a:schemeClr val="dk1"/>
              </a:buClr>
              <a:buSzPts val="2000"/>
              <a:buFont typeface="Noto Sans Symbols"/>
              <a:buChar char="▪"/>
            </a:pPr>
            <a:r>
              <a:rPr lang="en-US"/>
              <a:t>X được gọi  nguyên nhân nguyên tố của E</a:t>
            </a:r>
            <a:endParaRPr/>
          </a:p>
          <a:p>
            <a:pPr indent="-285750" lvl="1" marL="742950" rtl="0" algn="l">
              <a:spcBef>
                <a:spcPts val="400"/>
              </a:spcBef>
              <a:spcAft>
                <a:spcPts val="0"/>
              </a:spcAft>
              <a:buClr>
                <a:schemeClr val="dk1"/>
              </a:buClr>
              <a:buSzPts val="2000"/>
              <a:buFont typeface="Noto Sans Symbols"/>
              <a:buChar char="▪"/>
            </a:pPr>
            <a:r>
              <a:rPr lang="en-US"/>
              <a:t>E   = </a:t>
            </a:r>
            <a:r>
              <a:rPr b="1" lang="en-US"/>
              <a:t>x</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455" name="Google Shape;455;p25"/>
          <p:cNvGraphicFramePr/>
          <p:nvPr/>
        </p:nvGraphicFramePr>
        <p:xfrm>
          <a:off x="5397500" y="2908300"/>
          <a:ext cx="3000000" cy="3000000"/>
        </p:xfrm>
        <a:graphic>
          <a:graphicData uri="http://schemas.openxmlformats.org/drawingml/2006/table">
            <a:tbl>
              <a:tblPr>
                <a:noFill/>
                <a:tableStyleId>{23462239-0527-4F0C-A388-8CC7B8B6E21C}</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56" name="Google Shape;456;p25"/>
          <p:cNvSpPr/>
          <p:nvPr/>
        </p:nvSpPr>
        <p:spPr>
          <a:xfrm>
            <a:off x="5664200" y="2984500"/>
            <a:ext cx="1524000" cy="3048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57" name="Google Shape;457;p25"/>
          <p:cNvGrpSpPr/>
          <p:nvPr/>
        </p:nvGrpSpPr>
        <p:grpSpPr>
          <a:xfrm>
            <a:off x="5029200" y="2438400"/>
            <a:ext cx="2286000" cy="1535113"/>
            <a:chOff x="1440" y="1056"/>
            <a:chExt cx="1440" cy="967"/>
          </a:xfrm>
        </p:grpSpPr>
        <p:grpSp>
          <p:nvGrpSpPr>
            <p:cNvPr id="458" name="Google Shape;458;p25"/>
            <p:cNvGrpSpPr/>
            <p:nvPr/>
          </p:nvGrpSpPr>
          <p:grpSpPr>
            <a:xfrm>
              <a:off x="1440" y="1344"/>
              <a:ext cx="288" cy="679"/>
              <a:chOff x="1440" y="1344"/>
              <a:chExt cx="288" cy="679"/>
            </a:xfrm>
          </p:grpSpPr>
          <p:sp>
            <p:nvSpPr>
              <p:cNvPr id="459" name="Google Shape;459;p25"/>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60" name="Google Shape;460;p25"/>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61" name="Google Shape;461;p25"/>
            <p:cNvGrpSpPr/>
            <p:nvPr/>
          </p:nvGrpSpPr>
          <p:grpSpPr>
            <a:xfrm>
              <a:off x="1968" y="1056"/>
              <a:ext cx="912" cy="291"/>
              <a:chOff x="1968" y="1056"/>
              <a:chExt cx="912" cy="291"/>
            </a:xfrm>
          </p:grpSpPr>
          <p:sp>
            <p:nvSpPr>
              <p:cNvPr id="462" name="Google Shape;462;p25"/>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463" name="Google Shape;463;p25"/>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6"/>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70" name="Google Shape;470;p26"/>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71" name="Google Shape;471;p26"/>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72" name="Google Shape;472;p26"/>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73" name="Google Shape;473;p26"/>
          <p:cNvSpPr txBox="1"/>
          <p:nvPr>
            <p:ph idx="4" type="body"/>
          </p:nvPr>
        </p:nvSpPr>
        <p:spPr>
          <a:xfrm>
            <a:off x="4645025" y="2174875"/>
            <a:ext cx="4041775" cy="3951288"/>
          </a:xfrm>
          <a:prstGeom prst="rect">
            <a:avLst/>
          </a:prstGeom>
          <a:blipFill rotWithShape="1">
            <a:blip r:embed="rId4">
              <a:alphaModFix/>
            </a:blip>
            <a:stretch>
              <a:fillRect b="0" l="-2413"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graphicFrame>
        <p:nvGraphicFramePr>
          <p:cNvPr id="474" name="Google Shape;474;p26"/>
          <p:cNvGraphicFramePr/>
          <p:nvPr/>
        </p:nvGraphicFramePr>
        <p:xfrm>
          <a:off x="5397500" y="2908300"/>
          <a:ext cx="3000000" cy="3000000"/>
        </p:xfrm>
        <a:graphic>
          <a:graphicData uri="http://schemas.openxmlformats.org/drawingml/2006/table">
            <a:tbl>
              <a:tblPr>
                <a:noFill/>
                <a:tableStyleId>{23462239-0527-4F0C-A388-8CC7B8B6E21C}</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475" name="Google Shape;475;p26"/>
          <p:cNvSpPr/>
          <p:nvPr/>
        </p:nvSpPr>
        <p:spPr>
          <a:xfrm>
            <a:off x="6667500" y="2971800"/>
            <a:ext cx="571500" cy="3810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76" name="Google Shape;476;p26"/>
          <p:cNvGrpSpPr/>
          <p:nvPr/>
        </p:nvGrpSpPr>
        <p:grpSpPr>
          <a:xfrm>
            <a:off x="5029200" y="2438400"/>
            <a:ext cx="2286000" cy="1535113"/>
            <a:chOff x="1440" y="1056"/>
            <a:chExt cx="1440" cy="967"/>
          </a:xfrm>
        </p:grpSpPr>
        <p:grpSp>
          <p:nvGrpSpPr>
            <p:cNvPr id="477" name="Google Shape;477;p26"/>
            <p:cNvGrpSpPr/>
            <p:nvPr/>
          </p:nvGrpSpPr>
          <p:grpSpPr>
            <a:xfrm>
              <a:off x="1440" y="1344"/>
              <a:ext cx="288" cy="679"/>
              <a:chOff x="1440" y="1344"/>
              <a:chExt cx="288" cy="679"/>
            </a:xfrm>
          </p:grpSpPr>
          <p:sp>
            <p:nvSpPr>
              <p:cNvPr id="478" name="Google Shape;478;p26"/>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79" name="Google Shape;479;p26"/>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480" name="Google Shape;480;p26"/>
            <p:cNvGrpSpPr/>
            <p:nvPr/>
          </p:nvGrpSpPr>
          <p:grpSpPr>
            <a:xfrm>
              <a:off x="1968" y="1056"/>
              <a:ext cx="912" cy="291"/>
              <a:chOff x="1968" y="1056"/>
              <a:chExt cx="912" cy="291"/>
            </a:xfrm>
          </p:grpSpPr>
          <p:sp>
            <p:nvSpPr>
              <p:cNvPr id="481" name="Google Shape;481;p26"/>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482" name="Google Shape;482;p26"/>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
        <p:nvSpPr>
          <p:cNvPr id="483" name="Google Shape;483;p26"/>
          <p:cNvSpPr/>
          <p:nvPr/>
        </p:nvSpPr>
        <p:spPr>
          <a:xfrm>
            <a:off x="5581650" y="3434556"/>
            <a:ext cx="571500" cy="373062"/>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7"/>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490" name="Google Shape;490;p2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Minh họa</a:t>
            </a:r>
            <a:endParaRPr/>
          </a:p>
        </p:txBody>
      </p:sp>
      <p:sp>
        <p:nvSpPr>
          <p:cNvPr id="491" name="Google Shape;491;p27"/>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492" name="Google Shape;492;p2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493" name="Google Shape;493;p27"/>
          <p:cNvSpPr txBox="1"/>
          <p:nvPr>
            <p:ph idx="4" type="body"/>
          </p:nvPr>
        </p:nvSpPr>
        <p:spPr>
          <a:xfrm>
            <a:off x="4645025" y="2174875"/>
            <a:ext cx="4041775" cy="3951288"/>
          </a:xfrm>
          <a:prstGeom prst="rect">
            <a:avLst/>
          </a:prstGeom>
          <a:blipFill rotWithShape="1">
            <a:blip r:embed="rId4">
              <a:alphaModFix/>
            </a:blip>
            <a:stretch>
              <a:fillRect b="0" l="-2413"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graphicFrame>
        <p:nvGraphicFramePr>
          <p:cNvPr id="494" name="Google Shape;494;p27"/>
          <p:cNvGraphicFramePr/>
          <p:nvPr/>
        </p:nvGraphicFramePr>
        <p:xfrm>
          <a:off x="5397500" y="2908300"/>
          <a:ext cx="3000000" cy="3000000"/>
        </p:xfrm>
        <a:graphic>
          <a:graphicData uri="http://schemas.openxmlformats.org/drawingml/2006/table">
            <a:tbl>
              <a:tblPr>
                <a:noFill/>
                <a:tableStyleId>{23462239-0527-4F0C-A388-8CC7B8B6E21C}</a:tableStyleId>
              </a:tblPr>
              <a:tblGrid>
                <a:gridCol w="1028700"/>
                <a:gridCol w="1028700"/>
              </a:tblGrid>
              <a:tr h="4572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B050"/>
                    </a:solidFill>
                  </a:tcPr>
                </a:tc>
              </a:tr>
              <a:tr h="533400">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00B050"/>
                    </a:solidFill>
                  </a:tcPr>
                </a:tc>
              </a:tr>
            </a:tbl>
          </a:graphicData>
        </a:graphic>
      </p:graphicFrame>
      <p:sp>
        <p:nvSpPr>
          <p:cNvPr id="495" name="Google Shape;495;p27"/>
          <p:cNvSpPr/>
          <p:nvPr/>
        </p:nvSpPr>
        <p:spPr>
          <a:xfrm>
            <a:off x="6667500" y="2971800"/>
            <a:ext cx="495300" cy="835818"/>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grpSp>
        <p:nvGrpSpPr>
          <p:cNvPr id="496" name="Google Shape;496;p27"/>
          <p:cNvGrpSpPr/>
          <p:nvPr/>
        </p:nvGrpSpPr>
        <p:grpSpPr>
          <a:xfrm>
            <a:off x="5029200" y="2438400"/>
            <a:ext cx="2286000" cy="1535113"/>
            <a:chOff x="1440" y="1056"/>
            <a:chExt cx="1440" cy="967"/>
          </a:xfrm>
        </p:grpSpPr>
        <p:grpSp>
          <p:nvGrpSpPr>
            <p:cNvPr id="497" name="Google Shape;497;p27"/>
            <p:cNvGrpSpPr/>
            <p:nvPr/>
          </p:nvGrpSpPr>
          <p:grpSpPr>
            <a:xfrm>
              <a:off x="1440" y="1344"/>
              <a:ext cx="288" cy="679"/>
              <a:chOff x="1440" y="1344"/>
              <a:chExt cx="288" cy="679"/>
            </a:xfrm>
          </p:grpSpPr>
          <p:sp>
            <p:nvSpPr>
              <p:cNvPr id="498" name="Google Shape;498;p27"/>
              <p:cNvSpPr txBox="1"/>
              <p:nvPr/>
            </p:nvSpPr>
            <p:spPr>
              <a:xfrm>
                <a:off x="1440" y="1344"/>
                <a:ext cx="288" cy="6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x</a:t>
                </a:r>
                <a:endParaRPr/>
              </a:p>
            </p:txBody>
          </p:sp>
          <p:cxnSp>
            <p:nvCxnSpPr>
              <p:cNvPr id="499" name="Google Shape;499;p27"/>
              <p:cNvCxnSpPr/>
              <p:nvPr/>
            </p:nvCxnSpPr>
            <p:spPr>
              <a:xfrm>
                <a:off x="1488" y="1776"/>
                <a:ext cx="96" cy="0"/>
              </a:xfrm>
              <a:prstGeom prst="straightConnector1">
                <a:avLst/>
              </a:prstGeom>
              <a:noFill/>
              <a:ln cap="flat" cmpd="sng" w="9525">
                <a:solidFill>
                  <a:schemeClr val="dk1"/>
                </a:solidFill>
                <a:prstDash val="solid"/>
                <a:round/>
                <a:headEnd len="med" w="med" type="none"/>
                <a:tailEnd len="med" w="med" type="none"/>
              </a:ln>
            </p:spPr>
          </p:cxnSp>
        </p:grpSp>
        <p:grpSp>
          <p:nvGrpSpPr>
            <p:cNvPr id="500" name="Google Shape;500;p27"/>
            <p:cNvGrpSpPr/>
            <p:nvPr/>
          </p:nvGrpSpPr>
          <p:grpSpPr>
            <a:xfrm>
              <a:off x="1968" y="1056"/>
              <a:ext cx="912" cy="291"/>
              <a:chOff x="1968" y="1056"/>
              <a:chExt cx="912" cy="291"/>
            </a:xfrm>
          </p:grpSpPr>
          <p:sp>
            <p:nvSpPr>
              <p:cNvPr id="501" name="Google Shape;501;p27"/>
              <p:cNvSpPr txBox="1"/>
              <p:nvPr/>
            </p:nvSpPr>
            <p:spPr>
              <a:xfrm>
                <a:off x="1968" y="1056"/>
                <a:ext cx="912"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          y</a:t>
                </a:r>
                <a:endParaRPr sz="2400">
                  <a:solidFill>
                    <a:schemeClr val="dk1"/>
                  </a:solidFill>
                  <a:latin typeface="Times New Roman"/>
                  <a:ea typeface="Times New Roman"/>
                  <a:cs typeface="Times New Roman"/>
                  <a:sym typeface="Times New Roman"/>
                </a:endParaRPr>
              </a:p>
            </p:txBody>
          </p:sp>
          <p:cxnSp>
            <p:nvCxnSpPr>
              <p:cNvPr id="502" name="Google Shape;502;p27"/>
              <p:cNvCxnSpPr/>
              <p:nvPr/>
            </p:nvCxnSpPr>
            <p:spPr>
              <a:xfrm>
                <a:off x="2616" y="1144"/>
                <a:ext cx="96" cy="0"/>
              </a:xfrm>
              <a:prstGeom prst="straightConnector1">
                <a:avLst/>
              </a:prstGeom>
              <a:noFill/>
              <a:ln cap="flat" cmpd="sng" w="9525">
                <a:solidFill>
                  <a:schemeClr val="dk1"/>
                </a:solidFill>
                <a:prstDash val="solid"/>
                <a:round/>
                <a:headEnd len="med" w="med" type="none"/>
                <a:tailEnd len="med" w="med" type="none"/>
              </a:ln>
            </p:spPr>
          </p:cxnSp>
        </p:grpSp>
      </p:grpSp>
      <p:sp>
        <p:nvSpPr>
          <p:cNvPr id="503" name="Google Shape;503;p27"/>
          <p:cNvSpPr/>
          <p:nvPr/>
        </p:nvSpPr>
        <p:spPr>
          <a:xfrm>
            <a:off x="5581650" y="3434556"/>
            <a:ext cx="1466850" cy="373062"/>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28"/>
          <p:cNvSpPr txBox="1"/>
          <p:nvPr>
            <p:ph type="title"/>
          </p:nvPr>
        </p:nvSpPr>
        <p:spPr>
          <a:xfrm>
            <a:off x="457200" y="274638"/>
            <a:ext cx="8229600" cy="8683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b="1" sz="3600">
              <a:solidFill>
                <a:srgbClr val="00B0F0"/>
              </a:solidFill>
            </a:endParaRPr>
          </a:p>
        </p:txBody>
      </p:sp>
      <p:sp>
        <p:nvSpPr>
          <p:cNvPr id="510" name="Google Shape;510;p2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a:t>
            </a:r>
            <a:r>
              <a:rPr lang="en-US"/>
              <a:t>Boole bậc ba</a:t>
            </a:r>
            <a:endParaRPr/>
          </a:p>
        </p:txBody>
      </p:sp>
      <p:sp>
        <p:nvSpPr>
          <p:cNvPr id="511" name="Google Shape;511;p28"/>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Bản đồ Karnaugh ba biến:</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Font typeface="Noto Sans Symbols"/>
              <a:buNone/>
            </a:pPr>
            <a:r>
              <a:t/>
            </a:r>
            <a:endParaRPr>
              <a:solidFill>
                <a:srgbClr val="0000FF"/>
              </a:solidFill>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512" name="Google Shape;512;p2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13" name="Google Shape;513;p28"/>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solidFill>
                  <a:srgbClr val="0000FF"/>
                </a:solidFill>
              </a:rPr>
              <a:t>Hội sơ cấp có mặt trong khai triển được ghi số </a:t>
            </a:r>
            <a:r>
              <a:rPr b="1" lang="en-US">
                <a:solidFill>
                  <a:srgbClr val="0000FF"/>
                </a:solidFill>
              </a:rPr>
              <a:t>1</a:t>
            </a:r>
            <a:r>
              <a:rPr lang="en-US">
                <a:solidFill>
                  <a:srgbClr val="0000FF"/>
                </a:solidFill>
              </a:rPr>
              <a:t>, ngược lại ghi số </a:t>
            </a:r>
            <a:r>
              <a:rPr b="1" lang="en-US">
                <a:solidFill>
                  <a:srgbClr val="0000FF"/>
                </a:solidFill>
              </a:rPr>
              <a:t>0</a:t>
            </a:r>
            <a:r>
              <a:rPr lang="en-US">
                <a:solidFill>
                  <a:srgbClr val="0000FF"/>
                </a:solidFill>
              </a:rPr>
              <a:t>.</a:t>
            </a:r>
            <a:endParaRPr>
              <a:solidFill>
                <a:srgbClr val="0000FF"/>
              </a:solidFill>
            </a:endParaRPr>
          </a:p>
          <a:p>
            <a:pPr indent="-342900" lvl="0" marL="342900" rtl="0" algn="l">
              <a:spcBef>
                <a:spcPts val="0"/>
              </a:spcBef>
              <a:spcAft>
                <a:spcPts val="0"/>
              </a:spcAft>
              <a:buClr>
                <a:srgbClr val="0000FF"/>
              </a:buClr>
              <a:buSzPts val="2400"/>
              <a:buChar char="▪"/>
            </a:pPr>
            <a:r>
              <a:rPr lang="en-US">
                <a:solidFill>
                  <a:srgbClr val="0000FF"/>
                </a:solidFill>
              </a:rPr>
              <a:t>Các khối </a:t>
            </a:r>
            <a:r>
              <a:rPr lang="en-US">
                <a:solidFill>
                  <a:srgbClr val="0000FF"/>
                </a:solidFill>
              </a:rPr>
              <a:t>có thể rút gọn: </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(2 x 2)</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(4 x 1) </a:t>
            </a:r>
            <a:endParaRPr>
              <a:solidFill>
                <a:srgbClr val="0000FF"/>
              </a:solidFill>
            </a:endParaRPr>
          </a:p>
          <a:p>
            <a:pPr indent="-285750" lvl="1" marL="742950" rtl="0" algn="l">
              <a:spcBef>
                <a:spcPts val="0"/>
              </a:spcBef>
              <a:spcAft>
                <a:spcPts val="0"/>
              </a:spcAft>
              <a:buClr>
                <a:srgbClr val="0000FF"/>
              </a:buClr>
              <a:buSzPts val="2000"/>
              <a:buChar char="–"/>
            </a:pPr>
            <a:r>
              <a:rPr lang="en-US">
                <a:solidFill>
                  <a:srgbClr val="0000FF"/>
                </a:solidFill>
              </a:rPr>
              <a:t>(2 </a:t>
            </a:r>
            <a:r>
              <a:rPr lang="en-US">
                <a:solidFill>
                  <a:srgbClr val="0000FF"/>
                </a:solidFill>
              </a:rPr>
              <a:t>x 4).</a:t>
            </a:r>
            <a:endParaRPr>
              <a:solidFill>
                <a:srgbClr val="0000FF"/>
              </a:solidFill>
            </a:endParaRPr>
          </a:p>
          <a:p>
            <a:pPr indent="0" lvl="0" marL="0" rtl="0" algn="l">
              <a:spcBef>
                <a:spcPts val="480"/>
              </a:spcBef>
              <a:spcAft>
                <a:spcPts val="0"/>
              </a:spcAft>
              <a:buNone/>
            </a:pPr>
            <a:r>
              <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514" name="Google Shape;514;p28"/>
          <p:cNvGraphicFramePr/>
          <p:nvPr/>
        </p:nvGraphicFramePr>
        <p:xfrm>
          <a:off x="985704" y="3561708"/>
          <a:ext cx="3000000" cy="3000000"/>
        </p:xfrm>
        <a:graphic>
          <a:graphicData uri="http://schemas.openxmlformats.org/drawingml/2006/table">
            <a:tbl>
              <a:tblPr>
                <a:noFill/>
                <a:tableStyleId>{23462239-0527-4F0C-A388-8CC7B8B6E21C}</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515" name="Google Shape;515;p28"/>
          <p:cNvGrpSpPr/>
          <p:nvPr/>
        </p:nvGrpSpPr>
        <p:grpSpPr>
          <a:xfrm>
            <a:off x="528504" y="2954570"/>
            <a:ext cx="3822700" cy="1974850"/>
            <a:chOff x="808" y="1248"/>
            <a:chExt cx="2408" cy="1244"/>
          </a:xfrm>
        </p:grpSpPr>
        <p:sp>
          <p:nvSpPr>
            <p:cNvPr id="516" name="Google Shape;516;p28"/>
            <p:cNvSpPr txBox="1"/>
            <p:nvPr/>
          </p:nvSpPr>
          <p:spPr>
            <a:xfrm>
              <a:off x="808" y="1620"/>
              <a:ext cx="384" cy="8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x</a:t>
              </a:r>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x</a:t>
              </a:r>
              <a:endParaRPr/>
            </a:p>
          </p:txBody>
        </p:sp>
        <p:sp>
          <p:nvSpPr>
            <p:cNvPr id="517" name="Google Shape;517;p28"/>
            <p:cNvSpPr txBox="1"/>
            <p:nvPr/>
          </p:nvSpPr>
          <p:spPr>
            <a:xfrm>
              <a:off x="1248" y="1248"/>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518" name="Google Shape;518;p28"/>
          <p:cNvCxnSpPr/>
          <p:nvPr/>
        </p:nvCxnSpPr>
        <p:spPr>
          <a:xfrm>
            <a:off x="23573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19" name="Google Shape;519;p28"/>
          <p:cNvCxnSpPr/>
          <p:nvPr/>
        </p:nvCxnSpPr>
        <p:spPr>
          <a:xfrm>
            <a:off x="29923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0" name="Google Shape;520;p28"/>
          <p:cNvCxnSpPr/>
          <p:nvPr/>
        </p:nvCxnSpPr>
        <p:spPr>
          <a:xfrm>
            <a:off x="3195504" y="3094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1" name="Google Shape;521;p28"/>
          <p:cNvCxnSpPr/>
          <p:nvPr/>
        </p:nvCxnSpPr>
        <p:spPr>
          <a:xfrm>
            <a:off x="3817804" y="3106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22" name="Google Shape;522;p28"/>
          <p:cNvCxnSpPr/>
          <p:nvPr/>
        </p:nvCxnSpPr>
        <p:spPr>
          <a:xfrm>
            <a:off x="636660" y="4557264"/>
            <a:ext cx="1524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descr="11_4_05" id="528" name="Google Shape;528;p29"/>
          <p:cNvPicPr preferRelativeResize="0"/>
          <p:nvPr/>
        </p:nvPicPr>
        <p:blipFill rotWithShape="1">
          <a:blip r:embed="rId3">
            <a:alphaModFix/>
          </a:blip>
          <a:srcRect b="0" l="0" r="0" t="0"/>
          <a:stretch/>
        </p:blipFill>
        <p:spPr>
          <a:xfrm>
            <a:off x="647700" y="1663438"/>
            <a:ext cx="7848600" cy="3422575"/>
          </a:xfrm>
          <a:prstGeom prst="rect">
            <a:avLst/>
          </a:prstGeom>
          <a:noFill/>
          <a:ln>
            <a:noFill/>
          </a:ln>
        </p:spPr>
      </p:pic>
      <p:sp>
        <p:nvSpPr>
          <p:cNvPr id="529" name="Google Shape;529;p29"/>
          <p:cNvSpPr txBox="1"/>
          <p:nvPr/>
        </p:nvSpPr>
        <p:spPr>
          <a:xfrm>
            <a:off x="609600" y="541020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K-maps in Three Variables. </a:t>
            </a:r>
            <a:endParaRPr/>
          </a:p>
        </p:txBody>
      </p:sp>
      <p:sp>
        <p:nvSpPr>
          <p:cNvPr id="530" name="Google Shape;530;p29"/>
          <p:cNvSpPr txBox="1"/>
          <p:nvPr>
            <p:ph type="title"/>
          </p:nvPr>
        </p:nvSpPr>
        <p:spPr>
          <a:xfrm>
            <a:off x="461750" y="228600"/>
            <a:ext cx="8339400" cy="899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b="1" lang="en-US" sz="3600">
                <a:solidFill>
                  <a:srgbClr val="0000FF"/>
                </a:solidFill>
              </a:rPr>
              <a:t>Bản đồ Karnaugh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descr="11_4_06" id="536" name="Google Shape;536;p30"/>
          <p:cNvPicPr preferRelativeResize="0"/>
          <p:nvPr/>
        </p:nvPicPr>
        <p:blipFill rotWithShape="1">
          <a:blip r:embed="rId3">
            <a:alphaModFix/>
          </a:blip>
          <a:srcRect b="0" l="0" r="0" t="0"/>
          <a:stretch/>
        </p:blipFill>
        <p:spPr>
          <a:xfrm>
            <a:off x="658538" y="1174350"/>
            <a:ext cx="7826924" cy="4953975"/>
          </a:xfrm>
          <a:prstGeom prst="rect">
            <a:avLst/>
          </a:prstGeom>
          <a:noFill/>
          <a:ln>
            <a:noFill/>
          </a:ln>
        </p:spPr>
      </p:pic>
      <p:sp>
        <p:nvSpPr>
          <p:cNvPr id="537" name="Google Shape;537;p30"/>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770</a:t>
            </a:r>
            <a:endParaRPr/>
          </a:p>
        </p:txBody>
      </p:sp>
      <p:sp>
        <p:nvSpPr>
          <p:cNvPr id="538" name="Google Shape;538;p30"/>
          <p:cNvSpPr txBox="1"/>
          <p:nvPr/>
        </p:nvSpPr>
        <p:spPr>
          <a:xfrm>
            <a:off x="594852" y="599645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Blocks in K-maps in Three Variables. </a:t>
            </a:r>
            <a:endParaRPr/>
          </a:p>
        </p:txBody>
      </p:sp>
      <p:sp>
        <p:nvSpPr>
          <p:cNvPr id="539" name="Google Shape;539;p30"/>
          <p:cNvSpPr txBox="1"/>
          <p:nvPr/>
        </p:nvSpPr>
        <p:spPr>
          <a:xfrm>
            <a:off x="474800" y="342900"/>
            <a:ext cx="474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rgbClr val="0000FF"/>
                </a:solidFill>
                <a:latin typeface="Times New Roman"/>
                <a:ea typeface="Times New Roman"/>
                <a:cs typeface="Times New Roman"/>
                <a:sym typeface="Times New Roman"/>
              </a:rPr>
              <a:t>Bản đồ Karnaugh</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descr="11_4_07" id="545" name="Google Shape;545;p31"/>
          <p:cNvPicPr preferRelativeResize="0"/>
          <p:nvPr/>
        </p:nvPicPr>
        <p:blipFill rotWithShape="1">
          <a:blip r:embed="rId3">
            <a:alphaModFix/>
          </a:blip>
          <a:srcRect b="0" l="0" r="0" t="0"/>
          <a:stretch/>
        </p:blipFill>
        <p:spPr>
          <a:xfrm>
            <a:off x="605225" y="1279850"/>
            <a:ext cx="7927875" cy="4816151"/>
          </a:xfrm>
          <a:prstGeom prst="rect">
            <a:avLst/>
          </a:prstGeom>
          <a:noFill/>
          <a:ln>
            <a:noFill/>
          </a:ln>
        </p:spPr>
      </p:pic>
      <p:sp>
        <p:nvSpPr>
          <p:cNvPr id="546" name="Google Shape;546;p31"/>
          <p:cNvSpPr txBox="1"/>
          <p:nvPr/>
        </p:nvSpPr>
        <p:spPr>
          <a:xfrm>
            <a:off x="381000" y="356100"/>
            <a:ext cx="448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rgbClr val="0000FF"/>
                </a:solidFill>
                <a:latin typeface="Times New Roman"/>
                <a:ea typeface="Times New Roman"/>
                <a:cs typeface="Times New Roman"/>
                <a:sym typeface="Times New Roman"/>
              </a:rPr>
              <a:t>Bản đồ Karnaugh</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g121429f3121_1_71"/>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53" name="Google Shape;553;g121429f3121_1_71"/>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54" name="Google Shape;554;g121429f3121_1_71"/>
          <p:cNvPicPr preferRelativeResize="0"/>
          <p:nvPr/>
        </p:nvPicPr>
        <p:blipFill>
          <a:blip r:embed="rId3">
            <a:alphaModFix/>
          </a:blip>
          <a:stretch>
            <a:fillRect/>
          </a:stretch>
        </p:blipFill>
        <p:spPr>
          <a:xfrm>
            <a:off x="955350" y="2605775"/>
            <a:ext cx="7233300" cy="2380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121429f3121_1_79"/>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61" name="Google Shape;561;g121429f3121_1_79"/>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62" name="Google Shape;562;g121429f3121_1_79"/>
          <p:cNvPicPr preferRelativeResize="0"/>
          <p:nvPr/>
        </p:nvPicPr>
        <p:blipFill>
          <a:blip r:embed="rId3">
            <a:alphaModFix/>
          </a:blip>
          <a:stretch>
            <a:fillRect/>
          </a:stretch>
        </p:blipFill>
        <p:spPr>
          <a:xfrm>
            <a:off x="1894975" y="2788300"/>
            <a:ext cx="5276850" cy="28575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121429f3121_1_86"/>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69" name="Google Shape;569;g121429f3121_1_86"/>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70" name="Google Shape;570;g121429f3121_1_86"/>
          <p:cNvPicPr preferRelativeResize="0"/>
          <p:nvPr/>
        </p:nvPicPr>
        <p:blipFill>
          <a:blip r:embed="rId3">
            <a:alphaModFix/>
          </a:blip>
          <a:stretch>
            <a:fillRect/>
          </a:stretch>
        </p:blipFill>
        <p:spPr>
          <a:xfrm>
            <a:off x="1933575" y="2835925"/>
            <a:ext cx="5276850" cy="27622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121429f3121_1_95"/>
          <p:cNvSpPr txBox="1"/>
          <p:nvPr>
            <p:ph type="title"/>
          </p:nvPr>
        </p:nvSpPr>
        <p:spPr>
          <a:xfrm>
            <a:off x="425200" y="1001022"/>
            <a:ext cx="7850100" cy="653400"/>
          </a:xfrm>
          <a:prstGeom prst="rect">
            <a:avLst/>
          </a:prstGeom>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
        <p:nvSpPr>
          <p:cNvPr id="577" name="Google Shape;577;g121429f3121_1_95"/>
          <p:cNvSpPr txBox="1"/>
          <p:nvPr>
            <p:ph idx="1" type="body"/>
          </p:nvPr>
        </p:nvSpPr>
        <p:spPr>
          <a:xfrm>
            <a:off x="425200" y="1899700"/>
            <a:ext cx="8216400" cy="4634700"/>
          </a:xfrm>
          <a:prstGeom prst="rect">
            <a:avLst/>
          </a:prstGeom>
        </p:spPr>
        <p:txBody>
          <a:bodyPr anchorCtr="0" anchor="t" bIns="45700" lIns="91425" spcFirstLastPara="1" rIns="91425" wrap="square" tIns="45700">
            <a:noAutofit/>
          </a:bodyPr>
          <a:lstStyle/>
          <a:p>
            <a:pPr indent="-381000" lvl="0" marL="457200" rtl="0" algn="l">
              <a:lnSpc>
                <a:spcPct val="150000"/>
              </a:lnSpc>
              <a:spcBef>
                <a:spcPts val="0"/>
              </a:spcBef>
              <a:spcAft>
                <a:spcPts val="0"/>
              </a:spcAft>
              <a:buClr>
                <a:srgbClr val="000000"/>
              </a:buClr>
              <a:buSzPts val="2400"/>
              <a:buChar char="•"/>
            </a:pPr>
            <a:r>
              <a:rPr b="1" lang="en-US" sz="2400">
                <a:solidFill>
                  <a:srgbClr val="0000FF"/>
                </a:solidFill>
              </a:rPr>
              <a:t>Hãy tối giản các biểu thức Boole </a:t>
            </a:r>
            <a:endParaRPr sz="2500">
              <a:solidFill>
                <a:srgbClr val="000000"/>
              </a:solidFill>
            </a:endParaRPr>
          </a:p>
          <a:p>
            <a:pPr indent="-190500" lvl="0" marL="342900" rtl="0" algn="l">
              <a:lnSpc>
                <a:spcPct val="100000"/>
              </a:lnSpc>
              <a:spcBef>
                <a:spcPts val="480"/>
              </a:spcBef>
              <a:spcAft>
                <a:spcPts val="0"/>
              </a:spcAft>
              <a:buNone/>
            </a:pPr>
            <a:r>
              <a:t/>
            </a:r>
            <a:endParaRPr sz="2500">
              <a:solidFill>
                <a:srgbClr val="000000"/>
              </a:solidFill>
            </a:endParaRPr>
          </a:p>
          <a:p>
            <a:pPr indent="0" lvl="0" marL="0" marR="0" rtl="0" algn="l">
              <a:lnSpc>
                <a:spcPct val="130000"/>
              </a:lnSpc>
              <a:spcBef>
                <a:spcPts val="600"/>
              </a:spcBef>
              <a:spcAft>
                <a:spcPts val="0"/>
              </a:spcAft>
              <a:buNone/>
            </a:pPr>
            <a:r>
              <a:t/>
            </a:r>
            <a:endParaRPr sz="2500">
              <a:solidFill>
                <a:srgbClr val="0000FF"/>
              </a:solidFill>
            </a:endParaRPr>
          </a:p>
        </p:txBody>
      </p:sp>
      <p:pic>
        <p:nvPicPr>
          <p:cNvPr id="578" name="Google Shape;578;g121429f3121_1_95"/>
          <p:cNvPicPr preferRelativeResize="0"/>
          <p:nvPr/>
        </p:nvPicPr>
        <p:blipFill>
          <a:blip r:embed="rId3">
            <a:alphaModFix/>
          </a:blip>
          <a:stretch>
            <a:fillRect/>
          </a:stretch>
        </p:blipFill>
        <p:spPr>
          <a:xfrm>
            <a:off x="1980700" y="3001850"/>
            <a:ext cx="5105400" cy="2990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5"/>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585" name="Google Shape;585;p35"/>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Bản đồ Karnaugh:</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586" name="Google Shape;586;p35"/>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587" name="Google Shape;587;p35"/>
          <p:cNvSpPr txBox="1"/>
          <p:nvPr>
            <p:ph idx="4" type="body"/>
          </p:nvPr>
        </p:nvSpPr>
        <p:spPr>
          <a:xfrm>
            <a:off x="4645025" y="2174875"/>
            <a:ext cx="4041775"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Các khối gồm 2, 4, 8 hoặc 16 ô biểu diễn các hội sơ cấp có thể tổ hợp lại được.</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Font typeface="Noto Sans Symbols"/>
              <a:buNone/>
            </a:pPr>
            <a:r>
              <a:t/>
            </a:r>
            <a:endParaRPr/>
          </a:p>
        </p:txBody>
      </p:sp>
      <p:graphicFrame>
        <p:nvGraphicFramePr>
          <p:cNvPr id="588" name="Google Shape;588;p35"/>
          <p:cNvGraphicFramePr/>
          <p:nvPr/>
        </p:nvGraphicFramePr>
        <p:xfrm>
          <a:off x="985704" y="3148764"/>
          <a:ext cx="3000000" cy="3000000"/>
        </p:xfrm>
        <a:graphic>
          <a:graphicData uri="http://schemas.openxmlformats.org/drawingml/2006/table">
            <a:tbl>
              <a:tblPr>
                <a:noFill/>
                <a:tableStyleId>{23462239-0527-4F0C-A388-8CC7B8B6E21C}</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589" name="Google Shape;589;p35"/>
          <p:cNvGrpSpPr/>
          <p:nvPr/>
        </p:nvGrpSpPr>
        <p:grpSpPr>
          <a:xfrm>
            <a:off x="380867" y="2600159"/>
            <a:ext cx="3970338" cy="3268664"/>
            <a:chOff x="715" y="1257"/>
            <a:chExt cx="2501" cy="2059"/>
          </a:xfrm>
        </p:grpSpPr>
        <p:sp>
          <p:nvSpPr>
            <p:cNvPr id="590" name="Google Shape;590;p35"/>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p:txBody>
        </p:sp>
        <p:sp>
          <p:nvSpPr>
            <p:cNvPr id="591" name="Google Shape;591;p35"/>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592" name="Google Shape;592;p35"/>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35"/>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4" name="Google Shape;594;p35"/>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5" name="Google Shape;595;p35"/>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6" name="Google Shape;596;p35"/>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597" name="Google Shape;597;p35"/>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598" name="Google Shape;598;p35"/>
          <p:cNvCxnSpPr/>
          <p:nvPr/>
        </p:nvCxnSpPr>
        <p:spPr>
          <a:xfrm>
            <a:off x="597336" y="5432316"/>
            <a:ext cx="152400" cy="0"/>
          </a:xfrm>
          <a:prstGeom prst="straightConnector1">
            <a:avLst/>
          </a:prstGeom>
          <a:noFill/>
          <a:ln cap="flat" cmpd="sng" w="9525">
            <a:solidFill>
              <a:schemeClr val="dk1"/>
            </a:solidFill>
            <a:prstDash val="solid"/>
            <a:round/>
            <a:headEnd len="med" w="med" type="none"/>
            <a:tailEnd len="med" w="med" type="none"/>
          </a:ln>
        </p:spPr>
      </p:cxnSp>
      <p:sp>
        <p:nvSpPr>
          <p:cNvPr id="599" name="Google Shape;599;p35"/>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pic>
        <p:nvPicPr>
          <p:cNvPr descr="11_4_08" id="605" name="Google Shape;605;p36"/>
          <p:cNvPicPr preferRelativeResize="0"/>
          <p:nvPr/>
        </p:nvPicPr>
        <p:blipFill rotWithShape="1">
          <a:blip r:embed="rId3">
            <a:alphaModFix/>
          </a:blip>
          <a:srcRect b="0" l="0" r="0" t="0"/>
          <a:stretch/>
        </p:blipFill>
        <p:spPr>
          <a:xfrm>
            <a:off x="738725" y="1385350"/>
            <a:ext cx="7643275" cy="4374101"/>
          </a:xfrm>
          <a:prstGeom prst="rect">
            <a:avLst/>
          </a:prstGeom>
          <a:noFill/>
          <a:ln>
            <a:noFill/>
          </a:ln>
        </p:spPr>
      </p:pic>
      <p:sp>
        <p:nvSpPr>
          <p:cNvPr id="606" name="Google Shape;606;p36"/>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771</a:t>
            </a:r>
            <a:endParaRPr/>
          </a:p>
        </p:txBody>
      </p:sp>
      <p:sp>
        <p:nvSpPr>
          <p:cNvPr id="607" name="Google Shape;607;p36"/>
          <p:cNvSpPr txBox="1"/>
          <p:nvPr/>
        </p:nvSpPr>
        <p:spPr>
          <a:xfrm>
            <a:off x="1752600" y="5943600"/>
            <a:ext cx="66294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K-maps in Four Variables. </a:t>
            </a:r>
            <a:endParaRPr/>
          </a:p>
        </p:txBody>
      </p:sp>
      <p:sp>
        <p:nvSpPr>
          <p:cNvPr id="608" name="Google Shape;608;p36"/>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7"/>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615" name="Google Shape;615;p37"/>
          <p:cNvSpPr txBox="1"/>
          <p:nvPr>
            <p:ph idx="2" type="body"/>
          </p:nvPr>
        </p:nvSpPr>
        <p:spPr>
          <a:xfrm>
            <a:off x="457200" y="2174875"/>
            <a:ext cx="4040188" cy="3951288"/>
          </a:xfrm>
          <a:prstGeom prst="rect">
            <a:avLst/>
          </a:prstGeom>
          <a:blipFill rotWithShape="1">
            <a:blip r:embed="rId3">
              <a:alphaModFix/>
            </a:blip>
            <a:stretch>
              <a:fillRect b="0" l="-1961" r="0" t="-1234"/>
            </a:stretch>
          </a:blipFill>
          <a:ln>
            <a:noFill/>
          </a:ln>
        </p:spPr>
        <p:txBody>
          <a:bodyPr anchorCtr="0" anchor="t" bIns="45700" lIns="91425" spcFirstLastPara="1" rIns="91425" wrap="square" tIns="45700">
            <a:noAutofit/>
          </a:bodyPr>
          <a:lstStyle/>
          <a:p>
            <a:pPr indent="-342900" lvl="0" marL="342900" rtl="0" algn="l">
              <a:spcBef>
                <a:spcPts val="0"/>
              </a:spcBef>
              <a:spcAft>
                <a:spcPts val="0"/>
              </a:spcAft>
              <a:buSzPts val="2400"/>
              <a:buChar char="•"/>
            </a:pPr>
            <a:r>
              <a:rPr lang="en-US"/>
              <a:t> </a:t>
            </a:r>
            <a:endParaRPr/>
          </a:p>
        </p:txBody>
      </p:sp>
      <p:sp>
        <p:nvSpPr>
          <p:cNvPr id="616" name="Google Shape;616;p37"/>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sp>
        <p:nvSpPr>
          <p:cNvPr id="617" name="Google Shape;617;p37"/>
          <p:cNvSpPr txBox="1"/>
          <p:nvPr>
            <p:ph idx="4" type="body"/>
          </p:nvPr>
        </p:nvSpPr>
        <p:spPr>
          <a:xfrm>
            <a:off x="4645025" y="2600159"/>
            <a:ext cx="4041775" cy="3526004"/>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a:t>
            </a:r>
            <a:endParaRPr/>
          </a:p>
        </p:txBody>
      </p:sp>
      <p:graphicFrame>
        <p:nvGraphicFramePr>
          <p:cNvPr id="618" name="Google Shape;618;p37"/>
          <p:cNvGraphicFramePr/>
          <p:nvPr/>
        </p:nvGraphicFramePr>
        <p:xfrm>
          <a:off x="985704" y="3148764"/>
          <a:ext cx="3000000" cy="3000000"/>
        </p:xfrm>
        <a:graphic>
          <a:graphicData uri="http://schemas.openxmlformats.org/drawingml/2006/table">
            <a:tbl>
              <a:tblPr>
                <a:noFill/>
                <a:tableStyleId>{23462239-0527-4F0C-A388-8CC7B8B6E21C}</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19" name="Google Shape;619;p37"/>
          <p:cNvGrpSpPr/>
          <p:nvPr/>
        </p:nvGrpSpPr>
        <p:grpSpPr>
          <a:xfrm>
            <a:off x="380867" y="2600159"/>
            <a:ext cx="3970338" cy="3268664"/>
            <a:chOff x="715" y="1257"/>
            <a:chExt cx="2501" cy="2059"/>
          </a:xfrm>
        </p:grpSpPr>
        <p:sp>
          <p:nvSpPr>
            <p:cNvPr id="620" name="Google Shape;620;p37"/>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21" name="Google Shape;621;p37"/>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22" name="Google Shape;622;p37"/>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3" name="Google Shape;623;p37"/>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4" name="Google Shape;624;p37"/>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5" name="Google Shape;625;p37"/>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6" name="Google Shape;626;p37"/>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27" name="Google Shape;627;p37"/>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628" name="Google Shape;628;p37"/>
          <p:cNvCxnSpPr/>
          <p:nvPr/>
        </p:nvCxnSpPr>
        <p:spPr>
          <a:xfrm>
            <a:off x="479352" y="5432316"/>
            <a:ext cx="135192" cy="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37"/>
          <p:cNvSpPr/>
          <p:nvPr/>
        </p:nvSpPr>
        <p:spPr>
          <a:xfrm>
            <a:off x="2992305" y="4055832"/>
            <a:ext cx="1122496" cy="457200"/>
          </a:xfrm>
          <a:prstGeom prst="roundRect">
            <a:avLst>
              <a:gd fmla="val 16667" name="adj"/>
            </a:avLst>
          </a:prstGeom>
          <a:noFill/>
          <a:ln cap="flat" cmpd="sng" w="952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630" name="Google Shape;630;p37"/>
          <p:cNvSpPr txBox="1"/>
          <p:nvPr/>
        </p:nvSpPr>
        <p:spPr>
          <a:xfrm>
            <a:off x="4753788" y="23272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xy</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Noto Sans Symbols"/>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graphicFrame>
        <p:nvGraphicFramePr>
          <p:cNvPr id="631" name="Google Shape;631;p37"/>
          <p:cNvGraphicFramePr/>
          <p:nvPr/>
        </p:nvGraphicFramePr>
        <p:xfrm>
          <a:off x="5282292" y="3301164"/>
          <a:ext cx="3000000" cy="3000000"/>
        </p:xfrm>
        <a:graphic>
          <a:graphicData uri="http://schemas.openxmlformats.org/drawingml/2006/table">
            <a:tbl>
              <a:tblPr>
                <a:noFill/>
                <a:tableStyleId>{23462239-0527-4F0C-A388-8CC7B8B6E21C}</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32" name="Google Shape;632;p37"/>
          <p:cNvGrpSpPr/>
          <p:nvPr/>
        </p:nvGrpSpPr>
        <p:grpSpPr>
          <a:xfrm>
            <a:off x="4677455" y="2752559"/>
            <a:ext cx="3970338" cy="3268664"/>
            <a:chOff x="715" y="1257"/>
            <a:chExt cx="2501" cy="2059"/>
          </a:xfrm>
        </p:grpSpPr>
        <p:sp>
          <p:nvSpPr>
            <p:cNvPr id="633" name="Google Shape;633;p37"/>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34" name="Google Shape;634;p37"/>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35" name="Google Shape;635;p37"/>
          <p:cNvCxnSpPr/>
          <p:nvPr/>
        </p:nvCxnSpPr>
        <p:spPr>
          <a:xfrm>
            <a:off x="66538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6" name="Google Shape;636;p37"/>
          <p:cNvCxnSpPr/>
          <p:nvPr/>
        </p:nvCxnSpPr>
        <p:spPr>
          <a:xfrm>
            <a:off x="72888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7" name="Google Shape;637;p37"/>
          <p:cNvCxnSpPr/>
          <p:nvPr/>
        </p:nvCxnSpPr>
        <p:spPr>
          <a:xfrm>
            <a:off x="7492092" y="28779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8" name="Google Shape;638;p37"/>
          <p:cNvCxnSpPr/>
          <p:nvPr/>
        </p:nvCxnSpPr>
        <p:spPr>
          <a:xfrm>
            <a:off x="8114392" y="28906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39" name="Google Shape;639;p37"/>
          <p:cNvCxnSpPr/>
          <p:nvPr/>
        </p:nvCxnSpPr>
        <p:spPr>
          <a:xfrm>
            <a:off x="4933248" y="42082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40" name="Google Shape;640;p37"/>
          <p:cNvCxnSpPr/>
          <p:nvPr/>
        </p:nvCxnSpPr>
        <p:spPr>
          <a:xfrm>
            <a:off x="4775940" y="4876812"/>
            <a:ext cx="309708" cy="0"/>
          </a:xfrm>
          <a:prstGeom prst="straightConnector1">
            <a:avLst/>
          </a:prstGeom>
          <a:noFill/>
          <a:ln cap="flat" cmpd="sng" w="9525">
            <a:solidFill>
              <a:schemeClr val="dk1"/>
            </a:solidFill>
            <a:prstDash val="solid"/>
            <a:round/>
            <a:headEnd len="med" w="med" type="none"/>
            <a:tailEnd len="med" w="med" type="none"/>
          </a:ln>
        </p:spPr>
      </p:cxnSp>
      <p:sp>
        <p:nvSpPr>
          <p:cNvPr id="641" name="Google Shape;641;p37"/>
          <p:cNvSpPr/>
          <p:nvPr/>
        </p:nvSpPr>
        <p:spPr>
          <a:xfrm>
            <a:off x="5434693" y="3190709"/>
            <a:ext cx="1371599" cy="619291"/>
          </a:xfrm>
          <a:prstGeom prst="flowChartExtract">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642" name="Google Shape;642;p37"/>
          <p:cNvSpPr/>
          <p:nvPr/>
        </p:nvSpPr>
        <p:spPr>
          <a:xfrm>
            <a:off x="5523593" y="5868823"/>
            <a:ext cx="1282699" cy="531977"/>
          </a:xfrm>
          <a:prstGeom prst="flowChartManualOperation">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cxnSp>
        <p:nvCxnSpPr>
          <p:cNvPr id="643" name="Google Shape;643;p37"/>
          <p:cNvCxnSpPr/>
          <p:nvPr/>
        </p:nvCxnSpPr>
        <p:spPr>
          <a:xfrm rot="10800000">
            <a:off x="4753788" y="5584716"/>
            <a:ext cx="179460" cy="0"/>
          </a:xfrm>
          <a:prstGeom prst="straightConnector1">
            <a:avLst/>
          </a:prstGeom>
          <a:noFill/>
          <a:ln cap="flat" cmpd="sng" w="9525">
            <a:solidFill>
              <a:schemeClr val="dk1"/>
            </a:solidFill>
            <a:prstDash val="solid"/>
            <a:round/>
            <a:headEnd len="med" w="med" type="none"/>
            <a:tailEnd len="med" w="med" type="none"/>
          </a:ln>
        </p:spPr>
      </p:cxnSp>
      <p:sp>
        <p:nvSpPr>
          <p:cNvPr id="644" name="Google Shape;644;p37"/>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8"/>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t>Hàm bốn biến</a:t>
            </a:r>
            <a:endParaRPr/>
          </a:p>
        </p:txBody>
      </p:sp>
      <p:sp>
        <p:nvSpPr>
          <p:cNvPr id="651" name="Google Shape;651;p38"/>
          <p:cNvSpPr txBox="1"/>
          <p:nvPr>
            <p:ph idx="2" type="body"/>
          </p:nvPr>
        </p:nvSpPr>
        <p:spPr>
          <a:xfrm>
            <a:off x="457200" y="2174875"/>
            <a:ext cx="4040188" cy="3951288"/>
          </a:xfrm>
          <a:prstGeom prst="rect">
            <a:avLst/>
          </a:prstGeom>
          <a:solidFill>
            <a:srgbClr val="EAEAEA"/>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t> z</a:t>
            </a:r>
            <a:endParaRPr/>
          </a:p>
          <a:p>
            <a:pPr indent="-190500" lvl="0" marL="342900" rtl="0" algn="l">
              <a:spcBef>
                <a:spcPts val="480"/>
              </a:spcBef>
              <a:spcAft>
                <a:spcPts val="0"/>
              </a:spcAft>
              <a:buClr>
                <a:schemeClr val="dk1"/>
              </a:buClr>
              <a:buSzPts val="2400"/>
              <a:buFont typeface="Noto Sans Symbols"/>
              <a:buNone/>
            </a:pPr>
            <a:r>
              <a:t/>
            </a:r>
            <a:endParaRPr/>
          </a:p>
          <a:p>
            <a:pPr indent="-190500" lvl="0" marL="342900" rtl="0" algn="l">
              <a:spcBef>
                <a:spcPts val="480"/>
              </a:spcBef>
              <a:spcAft>
                <a:spcPts val="0"/>
              </a:spcAft>
              <a:buClr>
                <a:schemeClr val="dk1"/>
              </a:buClr>
              <a:buSzPts val="2400"/>
              <a:buNone/>
            </a:pPr>
            <a:r>
              <a:t/>
            </a:r>
            <a:endParaRPr/>
          </a:p>
          <a:p>
            <a:pPr indent="-190500" lvl="0" marL="342900" rtl="0" algn="l">
              <a:spcBef>
                <a:spcPts val="480"/>
              </a:spcBef>
              <a:spcAft>
                <a:spcPts val="0"/>
              </a:spcAft>
              <a:buClr>
                <a:schemeClr val="dk1"/>
              </a:buClr>
              <a:buSzPts val="2400"/>
              <a:buNone/>
            </a:pPr>
            <a:r>
              <a:t/>
            </a:r>
            <a:endParaRPr/>
          </a:p>
        </p:txBody>
      </p:sp>
      <p:sp>
        <p:nvSpPr>
          <p:cNvPr id="652" name="Google Shape;652;p38"/>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t/>
            </a:r>
            <a:endParaRPr/>
          </a:p>
        </p:txBody>
      </p:sp>
      <p:graphicFrame>
        <p:nvGraphicFramePr>
          <p:cNvPr id="653" name="Google Shape;653;p38"/>
          <p:cNvGraphicFramePr/>
          <p:nvPr/>
        </p:nvGraphicFramePr>
        <p:xfrm>
          <a:off x="985704" y="3148764"/>
          <a:ext cx="3000000" cy="3000000"/>
        </p:xfrm>
        <a:graphic>
          <a:graphicData uri="http://schemas.openxmlformats.org/drawingml/2006/table">
            <a:tbl>
              <a:tblPr>
                <a:noFill/>
                <a:tableStyleId>{23462239-0527-4F0C-A388-8CC7B8B6E21C}</a:tableStyleId>
              </a:tblPr>
              <a:tblGrid>
                <a:gridCol w="895350"/>
                <a:gridCol w="895350"/>
                <a:gridCol w="895350"/>
                <a:gridCol w="742950"/>
              </a:tblGrid>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9300">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654" name="Google Shape;654;p38"/>
          <p:cNvGrpSpPr/>
          <p:nvPr/>
        </p:nvGrpSpPr>
        <p:grpSpPr>
          <a:xfrm>
            <a:off x="380867" y="2600159"/>
            <a:ext cx="3970338" cy="3268664"/>
            <a:chOff x="715" y="1257"/>
            <a:chExt cx="2501" cy="2059"/>
          </a:xfrm>
        </p:grpSpPr>
        <p:sp>
          <p:nvSpPr>
            <p:cNvPr id="655" name="Google Shape;655;p38"/>
            <p:cNvSpPr txBox="1"/>
            <p:nvPr/>
          </p:nvSpPr>
          <p:spPr>
            <a:xfrm>
              <a:off x="715" y="1629"/>
              <a:ext cx="477" cy="16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xw</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wx</a:t>
              </a:r>
              <a:endParaRPr sz="2400">
                <a:solidFill>
                  <a:schemeClr val="dk1"/>
                </a:solidFill>
                <a:latin typeface="Times New Roman"/>
                <a:ea typeface="Times New Roman"/>
                <a:cs typeface="Times New Roman"/>
                <a:sym typeface="Times New Roman"/>
              </a:endParaRPr>
            </a:p>
          </p:txBody>
        </p:sp>
        <p:sp>
          <p:nvSpPr>
            <p:cNvPr id="656" name="Google Shape;656;p38"/>
            <p:cNvSpPr txBox="1"/>
            <p:nvPr/>
          </p:nvSpPr>
          <p:spPr>
            <a:xfrm>
              <a:off x="1248" y="1257"/>
              <a:ext cx="19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yz        yz       yz       yz</a:t>
              </a:r>
              <a:endParaRPr sz="2400">
                <a:solidFill>
                  <a:schemeClr val="dk1"/>
                </a:solidFill>
                <a:latin typeface="Times New Roman"/>
                <a:ea typeface="Times New Roman"/>
                <a:cs typeface="Times New Roman"/>
                <a:sym typeface="Times New Roman"/>
              </a:endParaRPr>
            </a:p>
          </p:txBody>
        </p:sp>
      </p:grpSp>
      <p:cxnSp>
        <p:nvCxnSpPr>
          <p:cNvPr id="657" name="Google Shape;657;p38"/>
          <p:cNvCxnSpPr/>
          <p:nvPr/>
        </p:nvCxnSpPr>
        <p:spPr>
          <a:xfrm>
            <a:off x="2357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58" name="Google Shape;658;p38"/>
          <p:cNvCxnSpPr/>
          <p:nvPr/>
        </p:nvCxnSpPr>
        <p:spPr>
          <a:xfrm>
            <a:off x="29923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59" name="Google Shape;659;p38"/>
          <p:cNvCxnSpPr/>
          <p:nvPr/>
        </p:nvCxnSpPr>
        <p:spPr>
          <a:xfrm>
            <a:off x="3195504" y="27255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0" name="Google Shape;660;p38"/>
          <p:cNvCxnSpPr/>
          <p:nvPr/>
        </p:nvCxnSpPr>
        <p:spPr>
          <a:xfrm>
            <a:off x="3817804" y="2738268"/>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1" name="Google Shape;661;p38"/>
          <p:cNvCxnSpPr/>
          <p:nvPr/>
        </p:nvCxnSpPr>
        <p:spPr>
          <a:xfrm>
            <a:off x="636660" y="4055832"/>
            <a:ext cx="152400" cy="0"/>
          </a:xfrm>
          <a:prstGeom prst="straightConnector1">
            <a:avLst/>
          </a:prstGeom>
          <a:noFill/>
          <a:ln cap="flat" cmpd="sng" w="9525">
            <a:solidFill>
              <a:schemeClr val="dk1"/>
            </a:solidFill>
            <a:prstDash val="solid"/>
            <a:round/>
            <a:headEnd len="med" w="med" type="none"/>
            <a:tailEnd len="med" w="med" type="none"/>
          </a:ln>
        </p:spPr>
      </p:cxnSp>
      <p:cxnSp>
        <p:nvCxnSpPr>
          <p:cNvPr id="662" name="Google Shape;662;p38"/>
          <p:cNvCxnSpPr/>
          <p:nvPr/>
        </p:nvCxnSpPr>
        <p:spPr>
          <a:xfrm>
            <a:off x="479352" y="4724412"/>
            <a:ext cx="309708" cy="0"/>
          </a:xfrm>
          <a:prstGeom prst="straightConnector1">
            <a:avLst/>
          </a:prstGeom>
          <a:noFill/>
          <a:ln cap="flat" cmpd="sng" w="9525">
            <a:solidFill>
              <a:schemeClr val="dk1"/>
            </a:solidFill>
            <a:prstDash val="solid"/>
            <a:round/>
            <a:headEnd len="med" w="med" type="none"/>
            <a:tailEnd len="med" w="med" type="none"/>
          </a:ln>
        </p:spPr>
      </p:cxnSp>
      <p:cxnSp>
        <p:nvCxnSpPr>
          <p:cNvPr id="663" name="Google Shape;663;p38"/>
          <p:cNvCxnSpPr/>
          <p:nvPr/>
        </p:nvCxnSpPr>
        <p:spPr>
          <a:xfrm>
            <a:off x="479352" y="5432316"/>
            <a:ext cx="135192" cy="0"/>
          </a:xfrm>
          <a:prstGeom prst="straightConnector1">
            <a:avLst/>
          </a:prstGeom>
          <a:noFill/>
          <a:ln cap="flat" cmpd="sng" w="9525">
            <a:solidFill>
              <a:schemeClr val="dk1"/>
            </a:solidFill>
            <a:prstDash val="solid"/>
            <a:round/>
            <a:headEnd len="med" w="med" type="none"/>
            <a:tailEnd len="med" w="med" type="none"/>
          </a:ln>
        </p:spPr>
      </p:cxnSp>
      <p:sp>
        <p:nvSpPr>
          <p:cNvPr id="664" name="Google Shape;664;p38"/>
          <p:cNvSpPr/>
          <p:nvPr/>
        </p:nvSpPr>
        <p:spPr>
          <a:xfrm>
            <a:off x="1227005" y="3214522"/>
            <a:ext cx="373195" cy="2806701"/>
          </a:xfrm>
          <a:prstGeom prst="homePlate">
            <a:avLst>
              <a:gd fmla="val 50000" name="adj"/>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665" name="Google Shape;665;p38"/>
          <p:cNvSpPr/>
          <p:nvPr/>
        </p:nvSpPr>
        <p:spPr>
          <a:xfrm rot="10800000">
            <a:off x="3795681" y="3214522"/>
            <a:ext cx="373195" cy="2806701"/>
          </a:xfrm>
          <a:prstGeom prst="homePlate">
            <a:avLst>
              <a:gd fmla="val 50000" name="adj"/>
            </a:avLst>
          </a:prstGeom>
          <a:solidFill>
            <a:schemeClr val="accent1"/>
          </a:solidFill>
          <a:ln cap="flat" cmpd="sng" w="2540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666" name="Google Shape;666;p38"/>
          <p:cNvPicPr preferRelativeResize="0"/>
          <p:nvPr/>
        </p:nvPicPr>
        <p:blipFill rotWithShape="1">
          <a:blip r:embed="rId3">
            <a:alphaModFix/>
          </a:blip>
          <a:srcRect b="0" l="0" r="0" t="0"/>
          <a:stretch/>
        </p:blipFill>
        <p:spPr>
          <a:xfrm>
            <a:off x="4648201" y="2221566"/>
            <a:ext cx="4038600" cy="4026834"/>
          </a:xfrm>
          <a:prstGeom prst="rect">
            <a:avLst/>
          </a:prstGeom>
          <a:noFill/>
          <a:ln>
            <a:noFill/>
          </a:ln>
        </p:spPr>
      </p:pic>
      <p:sp>
        <p:nvSpPr>
          <p:cNvPr id="667" name="Google Shape;667;p38"/>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11_4_09" id="673" name="Google Shape;673;p39"/>
          <p:cNvPicPr preferRelativeResize="0"/>
          <p:nvPr/>
        </p:nvPicPr>
        <p:blipFill rotWithShape="1">
          <a:blip r:embed="rId3">
            <a:alphaModFix/>
          </a:blip>
          <a:srcRect b="0" l="0" r="0" t="0"/>
          <a:stretch/>
        </p:blipFill>
        <p:spPr>
          <a:xfrm>
            <a:off x="381000" y="1332600"/>
            <a:ext cx="8229600" cy="4992000"/>
          </a:xfrm>
          <a:prstGeom prst="rect">
            <a:avLst/>
          </a:prstGeom>
          <a:noFill/>
          <a:ln>
            <a:noFill/>
          </a:ln>
        </p:spPr>
      </p:pic>
      <p:sp>
        <p:nvSpPr>
          <p:cNvPr id="674" name="Google Shape;674;p39"/>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772</a:t>
            </a:r>
            <a:endParaRPr/>
          </a:p>
        </p:txBody>
      </p:sp>
      <p:sp>
        <p:nvSpPr>
          <p:cNvPr id="675" name="Google Shape;675;p39"/>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descr="11_4_10" id="681" name="Google Shape;681;p40"/>
          <p:cNvPicPr preferRelativeResize="0"/>
          <p:nvPr/>
        </p:nvPicPr>
        <p:blipFill rotWithShape="1">
          <a:blip r:embed="rId3">
            <a:alphaModFix/>
          </a:blip>
          <a:srcRect b="0" l="0" r="0" t="0"/>
          <a:stretch/>
        </p:blipFill>
        <p:spPr>
          <a:xfrm>
            <a:off x="457200" y="1490875"/>
            <a:ext cx="8229600" cy="4376525"/>
          </a:xfrm>
          <a:prstGeom prst="rect">
            <a:avLst/>
          </a:prstGeom>
          <a:noFill/>
          <a:ln>
            <a:noFill/>
          </a:ln>
        </p:spPr>
      </p:pic>
      <p:sp>
        <p:nvSpPr>
          <p:cNvPr id="682" name="Google Shape;682;p40"/>
          <p:cNvSpPr txBox="1"/>
          <p:nvPr/>
        </p:nvSpPr>
        <p:spPr>
          <a:xfrm>
            <a:off x="8458200" y="6507163"/>
            <a:ext cx="685800"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Times"/>
                <a:ea typeface="Times"/>
                <a:cs typeface="Times"/>
                <a:sym typeface="Times"/>
              </a:rPr>
              <a:t>P. 772</a:t>
            </a:r>
            <a:endParaRPr/>
          </a:p>
        </p:txBody>
      </p:sp>
      <p:sp>
        <p:nvSpPr>
          <p:cNvPr id="683" name="Google Shape;683;p40"/>
          <p:cNvSpPr txBox="1"/>
          <p:nvPr/>
        </p:nvSpPr>
        <p:spPr>
          <a:xfrm>
            <a:off x="609601" y="5867400"/>
            <a:ext cx="8229600" cy="45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Using K-maps in Four Variables. </a:t>
            </a:r>
            <a:endParaRPr/>
          </a:p>
        </p:txBody>
      </p:sp>
      <p:sp>
        <p:nvSpPr>
          <p:cNvPr id="684" name="Google Shape;684;p40"/>
          <p:cNvSpPr txBox="1"/>
          <p:nvPr>
            <p:ph type="title"/>
          </p:nvPr>
        </p:nvSpPr>
        <p:spPr>
          <a:xfrm>
            <a:off x="380875" y="394347"/>
            <a:ext cx="7850100" cy="6534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b="1" lang="en-US">
                <a:solidFill>
                  <a:srgbClr val="0000FF"/>
                </a:solidFill>
                <a:latin typeface="Times New Roman"/>
                <a:ea typeface="Times New Roman"/>
                <a:cs typeface="Times New Roman"/>
                <a:sym typeface="Times New Roman"/>
              </a:rPr>
              <a:t>Bản đồ Karnaugh</a:t>
            </a:r>
            <a:endParaRPr b="1">
              <a:solidFill>
                <a:srgbClr val="0000FF"/>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41"/>
          <p:cNvSpPr txBox="1"/>
          <p:nvPr>
            <p:ph type="title"/>
          </p:nvPr>
        </p:nvSpPr>
        <p:spPr>
          <a:xfrm>
            <a:off x="457200" y="274638"/>
            <a:ext cx="8229600" cy="792162"/>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600">
                <a:solidFill>
                  <a:srgbClr val="0000FF"/>
                </a:solidFill>
              </a:rPr>
              <a:t>BÀI TẬP</a:t>
            </a:r>
            <a:endParaRPr b="1" sz="3600">
              <a:solidFill>
                <a:srgbClr val="0000FF"/>
              </a:solidFill>
            </a:endParaRPr>
          </a:p>
        </p:txBody>
      </p:sp>
      <p:sp>
        <p:nvSpPr>
          <p:cNvPr id="690" name="Google Shape;690;p41"/>
          <p:cNvSpPr txBox="1"/>
          <p:nvPr>
            <p:ph idx="1" type="body"/>
          </p:nvPr>
        </p:nvSpPr>
        <p:spPr>
          <a:xfrm>
            <a:off x="457200" y="1535113"/>
            <a:ext cx="4040188"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solidFill>
                  <a:srgbClr val="0000FF"/>
                </a:solidFill>
              </a:rPr>
              <a:t>Bài 1</a:t>
            </a:r>
            <a:endParaRPr>
              <a:solidFill>
                <a:srgbClr val="0000FF"/>
              </a:solidFill>
            </a:endParaRPr>
          </a:p>
        </p:txBody>
      </p:sp>
      <p:sp>
        <p:nvSpPr>
          <p:cNvPr id="691" name="Google Shape;691;p41"/>
          <p:cNvSpPr txBox="1"/>
          <p:nvPr>
            <p:ph idx="2" type="body"/>
          </p:nvPr>
        </p:nvSpPr>
        <p:spPr>
          <a:xfrm>
            <a:off x="457200" y="2174875"/>
            <a:ext cx="4040188"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FF"/>
              </a:buClr>
              <a:buSzPts val="2400"/>
              <a:buFont typeface="Noto Sans Symbols"/>
              <a:buChar char="❑"/>
            </a:pPr>
            <a:r>
              <a:rPr lang="en-US">
                <a:solidFill>
                  <a:srgbClr val="0000FF"/>
                </a:solidFill>
              </a:rPr>
              <a:t>Tìm</a:t>
            </a:r>
            <a:r>
              <a:rPr lang="en-US">
                <a:solidFill>
                  <a:srgbClr val="0000FF"/>
                </a:solidFill>
              </a:rPr>
              <a:t> dạng tổng chuẩn tắc tối thiểu của các hàm Boole ba biến sau:</a:t>
            </a:r>
            <a:endParaRPr>
              <a:solidFill>
                <a:srgbClr val="0000FF"/>
              </a:solidFill>
            </a:endParaRPr>
          </a:p>
          <a:p>
            <a:pPr indent="-190500" lvl="0" marL="342900" rtl="0" algn="l">
              <a:spcBef>
                <a:spcPts val="480"/>
              </a:spcBef>
              <a:spcAft>
                <a:spcPts val="0"/>
              </a:spcAft>
              <a:buClr>
                <a:schemeClr val="dk1"/>
              </a:buClr>
              <a:buSzPts val="2400"/>
              <a:buNone/>
            </a:pPr>
            <a:r>
              <a:t/>
            </a:r>
            <a:endParaRPr/>
          </a:p>
        </p:txBody>
      </p:sp>
      <p:sp>
        <p:nvSpPr>
          <p:cNvPr id="692" name="Google Shape;692;p41"/>
          <p:cNvSpPr txBox="1"/>
          <p:nvPr>
            <p:ph idx="3" type="body"/>
          </p:nvPr>
        </p:nvSpPr>
        <p:spPr>
          <a:xfrm>
            <a:off x="4645025" y="1535113"/>
            <a:ext cx="4041775" cy="639762"/>
          </a:xfrm>
          <a:prstGeom prst="rect">
            <a:avLst/>
          </a:prstGeom>
          <a:solidFill>
            <a:srgbClr val="00B050"/>
          </a:solid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2400"/>
              <a:buNone/>
            </a:pPr>
            <a:r>
              <a:rPr lang="en-US">
                <a:solidFill>
                  <a:srgbClr val="0000FF"/>
                </a:solidFill>
              </a:rPr>
              <a:t>Bài 2</a:t>
            </a:r>
            <a:endParaRPr>
              <a:solidFill>
                <a:srgbClr val="0000FF"/>
              </a:solidFill>
            </a:endParaRPr>
          </a:p>
        </p:txBody>
      </p:sp>
      <p:sp>
        <p:nvSpPr>
          <p:cNvPr id="693" name="Google Shape;693;p41"/>
          <p:cNvSpPr txBox="1"/>
          <p:nvPr>
            <p:ph idx="4" type="body"/>
          </p:nvPr>
        </p:nvSpPr>
        <p:spPr>
          <a:xfrm>
            <a:off x="4645025" y="2174875"/>
            <a:ext cx="4041775" cy="3951288"/>
          </a:xfrm>
          <a:prstGeom prst="rect">
            <a:avLst/>
          </a:prstGeom>
          <a:solidFill>
            <a:srgbClr val="E5E5E5"/>
          </a:solid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Noto Sans Symbols"/>
              <a:buChar char="❑"/>
            </a:pPr>
            <a:r>
              <a:rPr lang="en-US">
                <a:solidFill>
                  <a:srgbClr val="0000FF"/>
                </a:solidFill>
              </a:rPr>
              <a:t>Cho các hàm Boole</a:t>
            </a:r>
            <a:r>
              <a:rPr lang="en-US"/>
              <a:t> </a:t>
            </a:r>
            <a:r>
              <a:rPr i="1" lang="en-US"/>
              <a:t>F</a:t>
            </a:r>
            <a:r>
              <a:rPr baseline="-25000" lang="en-US"/>
              <a:t>1</a:t>
            </a:r>
            <a:r>
              <a:rPr lang="en-US"/>
              <a:t>, </a:t>
            </a:r>
            <a:r>
              <a:rPr i="1" lang="en-US"/>
              <a:t>F</a:t>
            </a:r>
            <a:r>
              <a:rPr baseline="-25000" lang="en-US"/>
              <a:t>2</a:t>
            </a:r>
            <a:r>
              <a:rPr lang="en-US"/>
              <a:t>, </a:t>
            </a:r>
            <a:r>
              <a:rPr i="1" lang="en-US"/>
              <a:t>F</a:t>
            </a:r>
            <a:r>
              <a:rPr baseline="-25000" lang="en-US"/>
              <a:t>3</a:t>
            </a:r>
            <a:r>
              <a:rPr lang="en-US"/>
              <a:t> </a:t>
            </a:r>
            <a:r>
              <a:rPr lang="en-US">
                <a:solidFill>
                  <a:srgbClr val="0000FF"/>
                </a:solidFill>
              </a:rPr>
              <a:t>xác định bởi bảng sau, Hãy vẽ mạch thực hiện các hàm Boole.</a:t>
            </a:r>
            <a:endParaRPr>
              <a:solidFill>
                <a:srgbClr val="0000FF"/>
              </a:solidFill>
            </a:endParaRPr>
          </a:p>
        </p:txBody>
      </p:sp>
      <p:pic>
        <p:nvPicPr>
          <p:cNvPr id="694" name="Google Shape;694;p41"/>
          <p:cNvPicPr preferRelativeResize="0"/>
          <p:nvPr/>
        </p:nvPicPr>
        <p:blipFill rotWithShape="1">
          <a:blip r:embed="rId3">
            <a:alphaModFix/>
          </a:blip>
          <a:srcRect b="0" l="0" r="0" t="0"/>
          <a:stretch/>
        </p:blipFill>
        <p:spPr>
          <a:xfrm>
            <a:off x="763600" y="3521875"/>
            <a:ext cx="3733800" cy="2039250"/>
          </a:xfrm>
          <a:prstGeom prst="rect">
            <a:avLst/>
          </a:prstGeom>
          <a:noFill/>
          <a:ln>
            <a:noFill/>
          </a:ln>
        </p:spPr>
      </p:pic>
      <p:pic>
        <p:nvPicPr>
          <p:cNvPr id="695" name="Google Shape;695;p41"/>
          <p:cNvPicPr preferRelativeResize="0"/>
          <p:nvPr/>
        </p:nvPicPr>
        <p:blipFill rotWithShape="1">
          <a:blip r:embed="rId4">
            <a:alphaModFix/>
          </a:blip>
          <a:srcRect b="0" l="0" r="0" t="0"/>
          <a:stretch/>
        </p:blipFill>
        <p:spPr>
          <a:xfrm>
            <a:off x="4876800" y="3747319"/>
            <a:ext cx="3657600" cy="2171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42"/>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rgbClr val="0000FF"/>
                </a:solidFill>
              </a:rPr>
              <a:t>BÀI TẬP</a:t>
            </a:r>
            <a:endParaRPr b="1" sz="3600"/>
          </a:p>
        </p:txBody>
      </p:sp>
      <p:sp>
        <p:nvSpPr>
          <p:cNvPr id="701" name="Google Shape;701;p42"/>
          <p:cNvSpPr txBox="1"/>
          <p:nvPr>
            <p:ph idx="1" type="body"/>
          </p:nvPr>
        </p:nvSpPr>
        <p:spPr>
          <a:xfrm>
            <a:off x="685800" y="1981200"/>
            <a:ext cx="7620000" cy="4144963"/>
          </a:xfrm>
          <a:prstGeom prst="rect">
            <a:avLst/>
          </a:prstGeom>
          <a:solidFill>
            <a:srgbClr val="E5E5E5"/>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800">
                <a:solidFill>
                  <a:srgbClr val="0000FF"/>
                </a:solidFill>
              </a:rPr>
              <a:t>T</a:t>
            </a:r>
            <a:r>
              <a:rPr lang="en-US" sz="2800">
                <a:solidFill>
                  <a:srgbClr val="0000FF"/>
                </a:solidFill>
              </a:rPr>
              <a:t>ìm dạng tổng chuẩn tắc tối thiểu của các hàm Boole</a:t>
            </a:r>
            <a:r>
              <a:rPr lang="en-US">
                <a:solidFill>
                  <a:srgbClr val="0000FF"/>
                </a:solidFill>
              </a:rPr>
              <a:t>:</a:t>
            </a:r>
            <a:endParaRPr>
              <a:solidFill>
                <a:srgbClr val="0000FF"/>
              </a:solidFill>
            </a:endParaRPr>
          </a:p>
        </p:txBody>
      </p:sp>
      <p:sp>
        <p:nvSpPr>
          <p:cNvPr id="702" name="Google Shape;702;p42"/>
          <p:cNvSpPr txBox="1"/>
          <p:nvPr>
            <p:ph idx="4294967295" type="body"/>
          </p:nvPr>
        </p:nvSpPr>
        <p:spPr>
          <a:xfrm>
            <a:off x="762000" y="1143000"/>
            <a:ext cx="7533966" cy="762000"/>
          </a:xfrm>
          <a:prstGeom prst="rect">
            <a:avLst/>
          </a:prstGeom>
          <a:solidFill>
            <a:srgbClr val="00B050"/>
          </a:solid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3200"/>
              <a:buNone/>
            </a:pPr>
            <a:r>
              <a:rPr lang="en-US">
                <a:solidFill>
                  <a:srgbClr val="0000FF"/>
                </a:solidFill>
              </a:rPr>
              <a:t>Bài 3</a:t>
            </a:r>
            <a:endParaRPr>
              <a:solidFill>
                <a:srgbClr val="0000FF"/>
              </a:solidFill>
            </a:endParaRPr>
          </a:p>
        </p:txBody>
      </p:sp>
      <p:pic>
        <p:nvPicPr>
          <p:cNvPr id="703" name="Google Shape;703;p42"/>
          <p:cNvPicPr preferRelativeResize="0"/>
          <p:nvPr/>
        </p:nvPicPr>
        <p:blipFill rotWithShape="1">
          <a:blip r:embed="rId3">
            <a:alphaModFix/>
          </a:blip>
          <a:srcRect b="0" l="0" r="0" t="0"/>
          <a:stretch/>
        </p:blipFill>
        <p:spPr>
          <a:xfrm>
            <a:off x="871379" y="3105150"/>
            <a:ext cx="7315200" cy="20812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43"/>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pic>
        <p:nvPicPr>
          <p:cNvPr id="710" name="Google Shape;710;p43"/>
          <p:cNvPicPr preferRelativeResize="0"/>
          <p:nvPr>
            <p:ph idx="4294967295" type="body"/>
          </p:nvPr>
        </p:nvPicPr>
        <p:blipFill rotWithShape="1">
          <a:blip r:embed="rId3">
            <a:alphaModFix/>
          </a:blip>
          <a:srcRect b="0" l="0" r="0" t="0"/>
          <a:stretch/>
        </p:blipFill>
        <p:spPr>
          <a:xfrm>
            <a:off x="990600" y="1219200"/>
            <a:ext cx="6858000" cy="3581400"/>
          </a:xfrm>
          <a:prstGeom prst="rect">
            <a:avLst/>
          </a:prstGeom>
          <a:noFill/>
          <a:ln cap="flat" cmpd="sng" w="9525">
            <a:solidFill>
              <a:srgbClr val="FF0000"/>
            </a:solidFill>
            <a:prstDash val="solid"/>
            <a:round/>
            <a:headEnd len="sm" w="sm" type="none"/>
            <a:tailEnd len="sm" w="sm" type="none"/>
          </a:ln>
        </p:spPr>
      </p:pic>
      <p:sp>
        <p:nvSpPr>
          <p:cNvPr id="711" name="Google Shape;711;p43"/>
          <p:cNvSpPr txBox="1"/>
          <p:nvPr/>
        </p:nvSpPr>
        <p:spPr>
          <a:xfrm>
            <a:off x="2057400" y="4191000"/>
            <a:ext cx="4876800" cy="5238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US" sz="2800">
                <a:solidFill>
                  <a:srgbClr val="FF0000"/>
                </a:solidFill>
                <a:latin typeface="Times New Roman"/>
                <a:ea typeface="Times New Roman"/>
                <a:cs typeface="Times New Roman"/>
                <a:sym typeface="Times New Roman"/>
              </a:rPr>
              <a:t>THAT’S ALL; THANK YOU</a:t>
            </a:r>
            <a:endParaRPr/>
          </a:p>
        </p:txBody>
      </p:sp>
      <p:sp>
        <p:nvSpPr>
          <p:cNvPr id="712" name="Google Shape;712;p43"/>
          <p:cNvSpPr/>
          <p:nvPr/>
        </p:nvSpPr>
        <p:spPr>
          <a:xfrm>
            <a:off x="1371600" y="5181600"/>
            <a:ext cx="6172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What NEXT?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4"/>
          <p:cNvSpPr txBox="1"/>
          <p:nvPr>
            <p:ph type="title"/>
          </p:nvPr>
        </p:nvSpPr>
        <p:spPr>
          <a:xfrm>
            <a:off x="457200" y="3810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44"/>
          <p:cNvSpPr txBox="1"/>
          <p:nvPr>
            <p:ph idx="1" type="body"/>
          </p:nvPr>
        </p:nvSpPr>
        <p:spPr>
          <a:xfrm>
            <a:off x="457200" y="1600200"/>
            <a:ext cx="8229600" cy="4526100"/>
          </a:xfrm>
          <a:prstGeom prst="rect">
            <a:avLst/>
          </a:prstGeom>
          <a:blipFill rotWithShape="1">
            <a:blip r:embed="rId3">
              <a:alphaModFix/>
            </a:blip>
            <a:stretch>
              <a:fillRect b="0" l="-1850" r="0" t="-1890"/>
            </a:stretch>
          </a:blip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719" name="Google Shape;719;p44"/>
          <p:cNvPicPr preferRelativeResize="0"/>
          <p:nvPr/>
        </p:nvPicPr>
        <p:blipFill rotWithShape="1">
          <a:blip r:embed="rId4">
            <a:alphaModFix/>
          </a:blip>
          <a:srcRect b="0" l="0" r="0" t="0"/>
          <a:stretch/>
        </p:blipFill>
        <p:spPr>
          <a:xfrm>
            <a:off x="5791200" y="2209800"/>
            <a:ext cx="2781300" cy="4162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2012-10-08T14:55:01Z</dcterms:created>
  <dc:creator>mc</dc:creator>
</cp:coreProperties>
</file>