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15564a875_0_9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815564a875_0_9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247668788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24766878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a24766878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a247668788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a24766878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a24766878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a247668788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a24766878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a247668788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247668788_0_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24766878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a247668788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247668788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247668788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a247668788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247668788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247668788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a247668788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247668788_0_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247668788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a247668788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247668788_0_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24766878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a24766878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247668788_0_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247668788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a247668788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247668788_0_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247668788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a247668788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247668788_0_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247668788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a247668788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247668788_0_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247668788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a247668788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247668788_0_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a247668788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a247668788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247668788_0_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247668788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a247668788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247668788_0_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247668788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a247668788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1753c9695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81753c9695_0_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493776" y="1239123"/>
            <a:ext cx="4978908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15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6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25196" y="1001018"/>
            <a:ext cx="785012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196" y="2185417"/>
            <a:ext cx="777011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25196" y="2185416"/>
            <a:ext cx="3792474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389120" y="2185416"/>
            <a:ext cx="3922776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25196" y="2185416"/>
            <a:ext cx="385419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25197" y="2593340"/>
            <a:ext cx="3855386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4629150" y="2185416"/>
            <a:ext cx="3854196" cy="3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7"/>
          <p:cNvSpPr txBox="1"/>
          <p:nvPr>
            <p:ph idx="4" type="body"/>
          </p:nvPr>
        </p:nvSpPr>
        <p:spPr>
          <a:xfrm>
            <a:off x="4629150" y="2590800"/>
            <a:ext cx="3854196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196" y="2185417"/>
            <a:ext cx="7886700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94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414" cy="5958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9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ctrTitle"/>
          </p:nvPr>
        </p:nvSpPr>
        <p:spPr>
          <a:xfrm>
            <a:off x="510473" y="1804112"/>
            <a:ext cx="5620003" cy="20204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</a:t>
            </a:r>
            <a:r>
              <a:rPr lang="en-US"/>
              <a:t>OÁN RỜI RẠC</a:t>
            </a:r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1309143" y="4828745"/>
            <a:ext cx="4944078" cy="61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437871" y="4735071"/>
            <a:ext cx="797773" cy="79777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TOÁN RỜI RẠC</a:t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493776" y="3793356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 </a:t>
            </a:r>
            <a:r>
              <a:rPr lang="en-US"/>
              <a:t>ÔN TẬP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25196" y="1499616"/>
            <a:ext cx="52136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846475" y="2185425"/>
            <a:ext cx="8083200" cy="4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AutoNum type="arabicPeriod"/>
            </a:pPr>
            <a:r>
              <a:rPr lang="en-US" sz="2000"/>
              <a:t>Đếm các tổ hợp cơ bản </a:t>
            </a:r>
            <a:endParaRPr sz="2000"/>
          </a:p>
          <a:p>
            <a:pPr indent="-33274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Hoán vị lặp và tổ hợp lặp</a:t>
            </a:r>
            <a:endParaRPr sz="2000"/>
          </a:p>
          <a:p>
            <a:pPr indent="-33274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Đếm tổ hợp sử dụng phương trình đặc trưng</a:t>
            </a:r>
            <a:endParaRPr sz="2000"/>
          </a:p>
          <a:p>
            <a:pPr indent="-33274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Phương pháp sinh</a:t>
            </a:r>
            <a:endParaRPr sz="2000"/>
          </a:p>
          <a:p>
            <a:pPr indent="-33274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Phương pháp quay lui</a:t>
            </a:r>
            <a:endParaRPr sz="2000"/>
          </a:p>
          <a:p>
            <a:pPr indent="-33274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Nguyên lý bù trừ, nguyên lý </a:t>
            </a:r>
            <a:r>
              <a:rPr lang="en-US" sz="2000"/>
              <a:t>Dirichlet</a:t>
            </a:r>
            <a:endParaRPr sz="2000" u="sng">
              <a:solidFill>
                <a:schemeClr val="hlink"/>
              </a:solidFill>
            </a:endParaRPr>
          </a:p>
          <a:p>
            <a:pPr indent="-31750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AutoNum type="arabicPeriod"/>
            </a:pPr>
            <a:r>
              <a:rPr lang="en-US" sz="2000"/>
              <a:t>Bài toán tìm cây khung bé nhất </a:t>
            </a:r>
            <a:endParaRPr sz="2000"/>
          </a:p>
          <a:p>
            <a:pPr indent="-33274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Bài toán tìm đường đi ngắn nhất </a:t>
            </a:r>
            <a:endParaRPr sz="2000"/>
          </a:p>
          <a:p>
            <a:pPr indent="-33274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Bài toán luồng cực đại trên mạng </a:t>
            </a:r>
            <a:endParaRPr sz="2000"/>
          </a:p>
          <a:p>
            <a:pPr indent="-33274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Bài toán người du lịch </a:t>
            </a:r>
            <a:endParaRPr sz="2000"/>
          </a:p>
          <a:p>
            <a:pPr indent="-332740" lvl="0" marL="3429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Tối thiểu mạch boole </a:t>
            </a:r>
            <a:endParaRPr sz="2000"/>
          </a:p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</a:t>
            </a:r>
            <a:endParaRPr/>
          </a:p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00000"/>
                </a:solidFill>
              </a:rPr>
              <a:t>Trên giá sách có A quyển sách khác nhau tiếng Anh, B quyển sách khác nhau tiếng Pháp, và C quyển sách khác nhau tiếng Đức. </a:t>
            </a:r>
            <a:endParaRPr sz="28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3 quyển sách cùng ngôn ngữ.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3 quyển sách, mỗi thứ một quyển.</a:t>
            </a:r>
            <a:endParaRPr sz="2400">
              <a:solidFill>
                <a:srgbClr val="000000"/>
              </a:solidFill>
            </a:endParaRPr>
          </a:p>
          <a:p>
            <a:pPr indent="-3810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2 quyển sách mà 2 ngôn ngữ.</a:t>
            </a:r>
            <a:b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425200" y="1001024"/>
            <a:ext cx="7850100" cy="860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2</a:t>
            </a:r>
            <a:endParaRPr/>
          </a:p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425200" y="2027875"/>
            <a:ext cx="8591400" cy="435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</a:rPr>
              <a:t>Trên giá sách có A quyển sách </a:t>
            </a:r>
            <a:r>
              <a:rPr b="1" lang="en-US" sz="2400">
                <a:solidFill>
                  <a:srgbClr val="000000"/>
                </a:solidFill>
              </a:rPr>
              <a:t>giống nhau </a:t>
            </a:r>
            <a:r>
              <a:rPr lang="en-US" sz="2400">
                <a:solidFill>
                  <a:srgbClr val="000000"/>
                </a:solidFill>
              </a:rPr>
              <a:t>tiếng Anh, B quyển sách </a:t>
            </a:r>
            <a:r>
              <a:rPr b="1" lang="en-US" sz="2400">
                <a:solidFill>
                  <a:srgbClr val="000000"/>
                </a:solidFill>
              </a:rPr>
              <a:t>giống nhau </a:t>
            </a:r>
            <a:r>
              <a:rPr lang="en-US" sz="2400">
                <a:solidFill>
                  <a:srgbClr val="000000"/>
                </a:solidFill>
              </a:rPr>
              <a:t>tiếng Pháp, và C quyển sách </a:t>
            </a:r>
            <a:r>
              <a:rPr b="1" lang="en-US" sz="2400">
                <a:solidFill>
                  <a:srgbClr val="000000"/>
                </a:solidFill>
              </a:rPr>
              <a:t>giống nhau</a:t>
            </a:r>
            <a:r>
              <a:rPr lang="en-US" sz="2400">
                <a:solidFill>
                  <a:srgbClr val="000000"/>
                </a:solidFill>
              </a:rPr>
              <a:t> tiếng Đức. </a:t>
            </a:r>
            <a:endParaRPr sz="2800">
              <a:solidFill>
                <a:srgbClr val="000000"/>
              </a:solidFill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n quyển sách bất kỳ (n &lt;= A, B và C).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Có bao nhiêu cách chọn n quyển sách, mỗi thứ ít nhất một quyển.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n quyển sách mà sách tiếng Anh không quá 2 quyển.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n quyển sách mà sách tiếng Anh đúng bằng 5 cuốn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n quyển sách mà sách tiếng Anh không quá 2 cuốn và sách tiếng Pháp ít nhất 5 cuốn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bao nhiêu cách chọn n quyển sách mà tiếng Anh không quá 2 cuốn và sách tiếng pháp không quá 5 cuốn.</a:t>
            </a:r>
            <a:b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25200" y="1001023"/>
            <a:ext cx="7850100" cy="84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3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25200" y="1984250"/>
            <a:ext cx="8014200" cy="42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00000"/>
                </a:solidFill>
              </a:rPr>
              <a:t>Bài toán xếp bi</a:t>
            </a:r>
            <a:endParaRPr sz="2800">
              <a:solidFill>
                <a:srgbClr val="000000"/>
              </a:solidFill>
            </a:endParaRPr>
          </a:p>
          <a:p>
            <a:pPr indent="-514350" lvl="0" marL="1028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</a:rPr>
              <a:t>Đếm số cách sắp xếp 9 viên bi cùng màu vào 3 túi A, B, C.</a:t>
            </a:r>
            <a:endParaRPr sz="2000">
              <a:solidFill>
                <a:srgbClr val="000000"/>
              </a:solidFill>
            </a:endParaRPr>
          </a:p>
          <a:p>
            <a:pPr indent="-514350" lvl="0" marL="1028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</a:rPr>
              <a:t>Đếm số cách sắp xếp 9 viên bi gồm 2 bi xanh, 3 bi đỏ và 4 bi vàng vào 3 túi A,B,C.</a:t>
            </a:r>
            <a:endParaRPr sz="2800">
              <a:solidFill>
                <a:srgbClr val="000000"/>
              </a:solidFill>
            </a:endParaRPr>
          </a:p>
          <a:p>
            <a:pPr indent="-514350" lvl="0" marL="1028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</a:rPr>
              <a:t>Đếm số cách sắp xếp 9 viên bi gồm 2 bi xanh, 3 bi đỏ và 4 bi vàng thành một hàng.</a:t>
            </a:r>
            <a:endParaRPr sz="2800">
              <a:solidFill>
                <a:srgbClr val="000000"/>
              </a:solidFill>
            </a:endParaRPr>
          </a:p>
          <a:p>
            <a:pPr indent="-514350" lvl="0" marL="1028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</a:rPr>
              <a:t>Đếm số cách sắp xếp 9 viên bi gồm 2 bi xanh, 3 bi đỏ và 4 bi vàng thành hàng, sao cho không có 2 viên xanh kề nhau.</a:t>
            </a:r>
            <a:endParaRPr sz="2800">
              <a:solidFill>
                <a:srgbClr val="000000"/>
              </a:solidFill>
            </a:endParaRPr>
          </a:p>
          <a:p>
            <a:pPr indent="-514350" lvl="0" marL="1028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</a:rPr>
              <a:t>Đếm số cách sắp xếp 9 viên bi gồm 2 bi xanh, 3 bi đỏ và 4 bi vàng thành hàng, sao cho không có 2 viên bi cùng màu kề nhau.</a:t>
            </a:r>
            <a:endParaRPr sz="2000">
              <a:solidFill>
                <a:srgbClr val="000000"/>
              </a:solidFill>
            </a:endParaRPr>
          </a:p>
          <a:p>
            <a:pPr indent="-514350" lvl="0" marL="1028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eriod"/>
            </a:pPr>
            <a:r>
              <a:rPr lang="en-US" sz="2000">
                <a:solidFill>
                  <a:srgbClr val="000000"/>
                </a:solidFill>
              </a:rPr>
              <a:t>Đếm số cách sắp xếp 9 viên bi gồm 3 xanh, 3 đỏ và 3 </a:t>
            </a:r>
            <a:r>
              <a:rPr lang="en-US" sz="2000">
                <a:solidFill>
                  <a:srgbClr val="000000"/>
                </a:solidFill>
              </a:rPr>
              <a:t>vàng</a:t>
            </a:r>
            <a:r>
              <a:rPr lang="en-US" sz="2000">
                <a:solidFill>
                  <a:srgbClr val="000000"/>
                </a:solidFill>
              </a:rPr>
              <a:t>, thành hàng ngang sao cho không có 3 viên bi cùng màu xếp kề nhau.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4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425200" y="2185425"/>
            <a:ext cx="80229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Đếm số nghiệm nguyên của: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AutoNum type="alphaLcPeriod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y + z = 10 với x≥0, y≥0, z≥0.</a:t>
            </a: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AutoNum type="alphaLcPeriod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y  ≤ 10 với x≥0, y≥0.</a:t>
            </a: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AutoNum type="alphaLcPeriod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y + z = 13 với x≥0, y≥1, z≥2.</a:t>
            </a: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AutoNum type="alphaLcPeriod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y + z = 10 với 0≤x≤3, 0≤y≤4, 0≤z≤5.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5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00000"/>
                </a:solidFill>
              </a:rPr>
              <a:t>Đếm số xâu chữ lập được từ các chữ cái trong từ sau, yêu cầu phải dùng tất cả các chữ cái:</a:t>
            </a:r>
            <a:endParaRPr sz="2800">
              <a:solidFill>
                <a:srgbClr val="000000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MISSISSIPPI 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6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người lên cầu thang có thể bước mỗi bước 1, 2, hoặc 3 bậc.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576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Lập hệ thức truy hồi và điều kiện đầu để đếm số cách người đó đi lên cầu thang n bậc.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576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Times New Roman"/>
              <a:buAutoNum type="alphaLcPeriod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Đếm số cách người đó đi lên cầu thang 10 bậc</a:t>
            </a:r>
            <a:r>
              <a:rPr lang="en-US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7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>
                <a:solidFill>
                  <a:srgbClr val="000000"/>
                </a:solidFill>
              </a:rPr>
              <a:t>Cho dãy số {a</a:t>
            </a:r>
            <a:r>
              <a:rPr baseline="-25000" lang="en-US" sz="2800">
                <a:solidFill>
                  <a:srgbClr val="000000"/>
                </a:solidFill>
              </a:rPr>
              <a:t>n</a:t>
            </a:r>
            <a:r>
              <a:rPr lang="en-US" sz="2800">
                <a:solidFill>
                  <a:srgbClr val="000000"/>
                </a:solidFill>
              </a:rPr>
              <a:t>} thoả mãn hệ thức truy hồi:</a:t>
            </a:r>
            <a:br>
              <a:rPr lang="en-US" sz="2800">
                <a:solidFill>
                  <a:srgbClr val="000000"/>
                </a:solidFill>
              </a:rPr>
            </a:br>
            <a:r>
              <a:rPr lang="en-US" sz="2800">
                <a:solidFill>
                  <a:srgbClr val="000000"/>
                </a:solidFill>
              </a:rPr>
              <a:t>              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>
                <a:solidFill>
                  <a:srgbClr val="000000"/>
                </a:solidFill>
              </a:rPr>
              <a:t> a</a:t>
            </a:r>
            <a:r>
              <a:rPr baseline="-25000" lang="en-US" sz="2800">
                <a:solidFill>
                  <a:srgbClr val="000000"/>
                </a:solidFill>
              </a:rPr>
              <a:t>n</a:t>
            </a:r>
            <a:r>
              <a:rPr lang="en-US" sz="2800">
                <a:solidFill>
                  <a:srgbClr val="000000"/>
                </a:solidFill>
              </a:rPr>
              <a:t>= 5a</a:t>
            </a:r>
            <a:r>
              <a:rPr baseline="-25000" lang="en-US" sz="2800">
                <a:solidFill>
                  <a:srgbClr val="000000"/>
                </a:solidFill>
              </a:rPr>
              <a:t>n-1</a:t>
            </a:r>
            <a:r>
              <a:rPr lang="en-US" sz="2800">
                <a:solidFill>
                  <a:srgbClr val="000000"/>
                </a:solidFill>
              </a:rPr>
              <a:t>- 6a</a:t>
            </a:r>
            <a:r>
              <a:rPr baseline="-25000" lang="en-US" sz="2800">
                <a:solidFill>
                  <a:srgbClr val="000000"/>
                </a:solidFill>
              </a:rPr>
              <a:t>n-2</a:t>
            </a:r>
            <a:r>
              <a:rPr lang="en-US" sz="2800">
                <a:solidFill>
                  <a:srgbClr val="000000"/>
                </a:solidFill>
              </a:rPr>
              <a:t>; a</a:t>
            </a:r>
            <a:r>
              <a:rPr baseline="-25000" lang="en-US" sz="2800">
                <a:solidFill>
                  <a:srgbClr val="000000"/>
                </a:solidFill>
              </a:rPr>
              <a:t>0</a:t>
            </a:r>
            <a:r>
              <a:rPr lang="en-US" sz="2800">
                <a:solidFill>
                  <a:srgbClr val="000000"/>
                </a:solidFill>
              </a:rPr>
              <a:t>=0 và a</a:t>
            </a:r>
            <a:r>
              <a:rPr baseline="-25000" lang="en-US" sz="2800">
                <a:solidFill>
                  <a:srgbClr val="000000"/>
                </a:solidFill>
              </a:rPr>
              <a:t>1</a:t>
            </a:r>
            <a:r>
              <a:rPr lang="en-US" sz="2800">
                <a:solidFill>
                  <a:srgbClr val="000000"/>
                </a:solidFill>
              </a:rPr>
              <a:t>=1.</a:t>
            </a:r>
            <a:br>
              <a:rPr lang="en-US" sz="2800">
                <a:solidFill>
                  <a:srgbClr val="000000"/>
                </a:solidFill>
              </a:rPr>
            </a:br>
            <a:endParaRPr sz="2800">
              <a:solidFill>
                <a:srgbClr val="000000"/>
              </a:solidFill>
            </a:endParaRPr>
          </a:p>
          <a:p>
            <a:pPr indent="-4064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AutoNum type="alphaLcPeriod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 hệ thức truy hồi trên.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AutoNum type="alphaLcPeriod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hàm đệ quy A(n) để tính a</a:t>
            </a:r>
            <a:r>
              <a:rPr baseline="-2500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AutoNum type="alphaLcPeriod"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Viết hàm lặp a(n) để tính a</a:t>
            </a:r>
            <a:r>
              <a:rPr baseline="-2500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8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200">
                <a:solidFill>
                  <a:srgbClr val="000000"/>
                </a:solidFill>
              </a:rPr>
              <a:t>Cho dãy số {a</a:t>
            </a:r>
            <a:r>
              <a:rPr baseline="-25000" lang="en-US" sz="3200">
                <a:solidFill>
                  <a:srgbClr val="000000"/>
                </a:solidFill>
              </a:rPr>
              <a:t>n</a:t>
            </a:r>
            <a:r>
              <a:rPr lang="en-US" sz="3200">
                <a:solidFill>
                  <a:srgbClr val="000000"/>
                </a:solidFill>
              </a:rPr>
              <a:t>} </a:t>
            </a:r>
            <a:r>
              <a:rPr lang="en-US" sz="3200">
                <a:solidFill>
                  <a:srgbClr val="000000"/>
                </a:solidFill>
              </a:rPr>
              <a:t>thỏa</a:t>
            </a:r>
            <a:r>
              <a:rPr lang="en-US" sz="3200">
                <a:solidFill>
                  <a:srgbClr val="000000"/>
                </a:solidFill>
              </a:rPr>
              <a:t> mãn hệ thức truy hồi:</a:t>
            </a:r>
            <a:br>
              <a:rPr lang="en-US" sz="3200">
                <a:solidFill>
                  <a:srgbClr val="000000"/>
                </a:solidFill>
              </a:rPr>
            </a:br>
            <a:r>
              <a:rPr lang="en-US" sz="3200">
                <a:solidFill>
                  <a:srgbClr val="000000"/>
                </a:solidFill>
              </a:rPr>
              <a:t>                a</a:t>
            </a:r>
            <a:r>
              <a:rPr baseline="-25000" lang="en-US" sz="3200">
                <a:solidFill>
                  <a:srgbClr val="000000"/>
                </a:solidFill>
              </a:rPr>
              <a:t>n</a:t>
            </a:r>
            <a:r>
              <a:rPr lang="en-US" sz="3200">
                <a:solidFill>
                  <a:srgbClr val="000000"/>
                </a:solidFill>
              </a:rPr>
              <a:t>= 6a</a:t>
            </a:r>
            <a:r>
              <a:rPr baseline="-25000" lang="en-US" sz="3200">
                <a:solidFill>
                  <a:srgbClr val="000000"/>
                </a:solidFill>
              </a:rPr>
              <a:t>n-1</a:t>
            </a:r>
            <a:r>
              <a:rPr lang="en-US" sz="3200">
                <a:solidFill>
                  <a:srgbClr val="000000"/>
                </a:solidFill>
              </a:rPr>
              <a:t>- 9a</a:t>
            </a:r>
            <a:r>
              <a:rPr baseline="-25000" lang="en-US" sz="3200">
                <a:solidFill>
                  <a:srgbClr val="000000"/>
                </a:solidFill>
              </a:rPr>
              <a:t>n-2</a:t>
            </a:r>
            <a:r>
              <a:rPr lang="en-US" sz="3200">
                <a:solidFill>
                  <a:srgbClr val="000000"/>
                </a:solidFill>
              </a:rPr>
              <a:t>; a</a:t>
            </a:r>
            <a:r>
              <a:rPr baseline="-25000" lang="en-US" sz="3200">
                <a:solidFill>
                  <a:srgbClr val="000000"/>
                </a:solidFill>
              </a:rPr>
              <a:t>0</a:t>
            </a:r>
            <a:r>
              <a:rPr lang="en-US" sz="3200">
                <a:solidFill>
                  <a:srgbClr val="000000"/>
                </a:solidFill>
              </a:rPr>
              <a:t>=1 và a</a:t>
            </a:r>
            <a:r>
              <a:rPr baseline="-25000" lang="en-US" sz="3200">
                <a:solidFill>
                  <a:srgbClr val="000000"/>
                </a:solidFill>
              </a:rPr>
              <a:t>1</a:t>
            </a:r>
            <a:r>
              <a:rPr lang="en-US" sz="3200">
                <a:solidFill>
                  <a:srgbClr val="000000"/>
                </a:solidFill>
              </a:rPr>
              <a:t>=3.</a:t>
            </a:r>
            <a:br>
              <a:rPr lang="en-US" sz="3200">
                <a:solidFill>
                  <a:srgbClr val="000000"/>
                </a:solidFill>
              </a:rPr>
            </a:br>
            <a:endParaRPr sz="3200">
              <a:solidFill>
                <a:srgbClr val="000000"/>
              </a:solidFill>
            </a:endParaRPr>
          </a:p>
          <a:p>
            <a:pPr indent="-431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AutoNum type="alphaLcPeriod"/>
            </a:pPr>
            <a:r>
              <a:rPr lang="en-US" sz="3200">
                <a:solidFill>
                  <a:srgbClr val="000000"/>
                </a:solidFill>
              </a:rPr>
              <a:t>Giải hệ thức truy hồi trên.</a:t>
            </a:r>
            <a:endParaRPr sz="3200">
              <a:solidFill>
                <a:srgbClr val="000000"/>
              </a:solidFill>
            </a:endParaRPr>
          </a:p>
          <a:p>
            <a:pPr indent="-431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AutoNum type="alphaLcPeriod"/>
            </a:pPr>
            <a:r>
              <a:rPr lang="en-US" sz="3200">
                <a:solidFill>
                  <a:srgbClr val="000000"/>
                </a:solidFill>
              </a:rPr>
              <a:t>Viết hàm A(n) để tính a</a:t>
            </a:r>
            <a:r>
              <a:rPr baseline="-25000" lang="en-US" sz="3200">
                <a:solidFill>
                  <a:srgbClr val="000000"/>
                </a:solidFill>
              </a:rPr>
              <a:t>n</a:t>
            </a:r>
            <a:r>
              <a:rPr lang="en-US" sz="32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9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25200" y="2185425"/>
            <a:ext cx="8416500" cy="461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Tìm ma trận trọng số X của đồ thị G.</a:t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Tìm đường đi ngắn nhất từ D đến H .</a:t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Tìm đường đi ngắn nhất từ D đến H phải qua cạnh BG.</a:t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Tìm đường đi ngắn nhất từ D đến H phải qua cạnh AB và không qua cạnh CH.</a:t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 Tìm cây khung nhỏ nhất của G.</a:t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Tìm cây khung nhỏ nhất của G không chứa cạnh JK.</a:t>
            </a:r>
            <a:endParaRPr>
              <a:solidFill>
                <a:srgbClr val="000000"/>
              </a:solidFill>
            </a:endParaRPr>
          </a:p>
          <a:p>
            <a:pPr indent="-36576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AutoNum type="alphaLcPeriod"/>
            </a:pPr>
            <a:r>
              <a:rPr lang="en-US">
                <a:solidFill>
                  <a:srgbClr val="000000"/>
                </a:solidFill>
              </a:rPr>
              <a:t>Tìm cây khung nhỏ nhất của G có cạnh AD, AB và không chứa cạnh CH.</a:t>
            </a:r>
            <a:br>
              <a:rPr lang="en-US">
                <a:solidFill>
                  <a:srgbClr val="000000"/>
                </a:solidFill>
              </a:rPr>
            </a:br>
            <a:endParaRPr/>
          </a:p>
        </p:txBody>
      </p:sp>
      <p:pic>
        <p:nvPicPr>
          <p:cNvPr descr="weighted_graph1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000" y="1494275"/>
            <a:ext cx="4417600" cy="22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10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100" y="2185425"/>
            <a:ext cx="7770000" cy="42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11</a:t>
            </a:r>
            <a:endParaRPr/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2281550"/>
            <a:ext cx="7769999" cy="38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12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50" y="2337525"/>
            <a:ext cx="743195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13</a:t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38" y="2269075"/>
            <a:ext cx="7733724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14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00" y="2254550"/>
            <a:ext cx="7664176" cy="17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425196" y="1001018"/>
            <a:ext cx="78501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15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425196" y="2185417"/>
            <a:ext cx="77700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2316050"/>
            <a:ext cx="7634524" cy="129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6"/>
          <p:cNvSpPr/>
          <p:nvPr/>
        </p:nvSpPr>
        <p:spPr>
          <a:xfrm>
            <a:off x="1860650" y="2552725"/>
            <a:ext cx="5161528" cy="10772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Cám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