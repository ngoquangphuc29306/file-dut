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iOcFx3H9yTmrUPDepwUKDM7Ymq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f5093a89a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11f5093a89a_0_1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f5093a89a_0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f5093a89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11f5093a89a_0_1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f5093a89a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11f5093a89a_0_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f5093a89a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f5093a89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11f5093a89a_0_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1f5093a89a_0_2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1f5093a89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11f5093a89a_0_2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f5093a89a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1f5093a89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11f5093a89a_0_2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1f5093a89a_0_2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1f5093a89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11f5093a89a_0_2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1f5093a89a_0_2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1f5093a89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11f5093a89a_0_2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1f5093a89a_0_2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1f5093a89a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11f5093a89a_0_2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f5093a89a_0_2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1f5093a89a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11f5093a89a_0_2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f5093a89a_0_3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1f5093a89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11f5093a89a_0_3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f5093a89a_0_3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1f5093a89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11f5093a89a_0_3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1f5093a89a_0_3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1f5093a89a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11f5093a89a_0_3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1f5093a89a_0_3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1f5093a89a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11f5093a89a_0_3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f5093a89a_0_3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1f5093a89a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11f5093a89a_0_3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f5093a89a_0_3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1f5093a89a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11f5093a89a_0_3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1f5093a89a_0_4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1f5093a89a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11f5093a89a_0_4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1f5093a89a_0_4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1f5093a89a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11f5093a89a_0_4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1f5093a89a_0_4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1f5093a89a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11f5093a89a_0_4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1f5093a89a_0_5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1f5093a89a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11f5093a89a_0_5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1f5093a89a_0_5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1f5093a89a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11f5093a89a_0_5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1f5093a89a_0_5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1f5093a89a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11f5093a89a_0_5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1f5093a89a_0_5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1f5093a89a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11f5093a89a_0_5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1f5093a89a_0_5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1f5093a89a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11f5093a89a_0_5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1f5093a89a_0_5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1f5093a89a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11f5093a89a_0_5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Chứng minh thật đơn giản: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- </a:t>
            </a:r>
            <a:r>
              <a:rPr lang="en-US" sz="1200">
                <a:solidFill>
                  <a:srgbClr val="002060"/>
                </a:solidFill>
              </a:rPr>
              <a:t> </a:t>
            </a:r>
            <a:r>
              <a:rPr b="1" lang="en-US" sz="1200">
                <a:solidFill>
                  <a:srgbClr val="002060"/>
                </a:solidFill>
              </a:rPr>
              <a:t>a</a:t>
            </a:r>
            <a:r>
              <a:rPr b="1" baseline="-25000" lang="en-US" sz="1200">
                <a:solidFill>
                  <a:srgbClr val="002060"/>
                </a:solidFill>
              </a:rPr>
              <a:t>n </a:t>
            </a:r>
            <a:r>
              <a:rPr b="1" lang="en-US" sz="1200">
                <a:solidFill>
                  <a:srgbClr val="002060"/>
                </a:solidFill>
              </a:rPr>
              <a:t>= d</a:t>
            </a:r>
            <a:r>
              <a:rPr b="1" baseline="-25000" lang="en-US" sz="1200">
                <a:solidFill>
                  <a:srgbClr val="002060"/>
                </a:solidFill>
              </a:rPr>
              <a:t>1 </a:t>
            </a:r>
            <a:r>
              <a:rPr b="1" lang="en-US" sz="1200">
                <a:solidFill>
                  <a:srgbClr val="002060"/>
                </a:solidFill>
              </a:rPr>
              <a:t>r</a:t>
            </a:r>
            <a:r>
              <a:rPr b="1" baseline="30000" lang="en-US" sz="1200">
                <a:solidFill>
                  <a:srgbClr val="002060"/>
                </a:solidFill>
              </a:rPr>
              <a:t>n</a:t>
            </a:r>
            <a:r>
              <a:rPr b="1" baseline="-25000" lang="en-US" sz="1200">
                <a:solidFill>
                  <a:srgbClr val="002060"/>
                </a:solidFill>
              </a:rPr>
              <a:t>1</a:t>
            </a:r>
            <a:r>
              <a:rPr b="1" lang="en-US" sz="1200">
                <a:solidFill>
                  <a:srgbClr val="002060"/>
                </a:solidFill>
              </a:rPr>
              <a:t> + d</a:t>
            </a:r>
            <a:r>
              <a:rPr b="1" baseline="-25000" lang="en-US" sz="1200">
                <a:solidFill>
                  <a:srgbClr val="002060"/>
                </a:solidFill>
              </a:rPr>
              <a:t>2 </a:t>
            </a:r>
            <a:r>
              <a:rPr b="1" lang="en-US" sz="1200">
                <a:solidFill>
                  <a:srgbClr val="002060"/>
                </a:solidFill>
              </a:rPr>
              <a:t>r</a:t>
            </a:r>
            <a:r>
              <a:rPr b="1" baseline="30000" lang="en-US" sz="1200">
                <a:solidFill>
                  <a:srgbClr val="002060"/>
                </a:solidFill>
              </a:rPr>
              <a:t>n</a:t>
            </a:r>
            <a:r>
              <a:rPr b="1" baseline="-25000" lang="en-US" sz="1200">
                <a:solidFill>
                  <a:srgbClr val="002060"/>
                </a:solidFill>
              </a:rPr>
              <a:t>2</a:t>
            </a:r>
            <a:r>
              <a:rPr b="1" lang="en-US" sz="1200">
                <a:solidFill>
                  <a:srgbClr val="002060"/>
                </a:solidFill>
              </a:rPr>
              <a:t>  </a:t>
            </a:r>
            <a:r>
              <a:rPr lang="en-US" sz="1200">
                <a:solidFill>
                  <a:srgbClr val="002060"/>
                </a:solidFill>
              </a:rPr>
              <a:t>là nghiệm của  (1):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2060"/>
                </a:solidFill>
              </a:rPr>
              <a:t>         -   </a:t>
            </a:r>
            <a:r>
              <a:rPr b="1" lang="en-US" sz="1200">
                <a:solidFill>
                  <a:srgbClr val="002060"/>
                </a:solidFill>
              </a:rPr>
              <a:t>d</a:t>
            </a:r>
            <a:r>
              <a:rPr b="1" baseline="-25000" lang="en-US" sz="1200">
                <a:solidFill>
                  <a:srgbClr val="002060"/>
                </a:solidFill>
              </a:rPr>
              <a:t>1 </a:t>
            </a:r>
            <a:r>
              <a:rPr b="1" lang="en-US" sz="1200">
                <a:solidFill>
                  <a:srgbClr val="002060"/>
                </a:solidFill>
              </a:rPr>
              <a:t>r</a:t>
            </a:r>
            <a:r>
              <a:rPr b="1" baseline="30000" lang="en-US" sz="1200">
                <a:solidFill>
                  <a:srgbClr val="002060"/>
                </a:solidFill>
              </a:rPr>
              <a:t>n</a:t>
            </a:r>
            <a:r>
              <a:rPr b="1" baseline="-25000" lang="en-US" sz="1200">
                <a:solidFill>
                  <a:srgbClr val="002060"/>
                </a:solidFill>
              </a:rPr>
              <a:t>1</a:t>
            </a:r>
            <a:r>
              <a:rPr b="1" lang="en-US" sz="1200">
                <a:solidFill>
                  <a:srgbClr val="002060"/>
                </a:solidFill>
              </a:rPr>
              <a:t> + d</a:t>
            </a:r>
            <a:r>
              <a:rPr b="1" baseline="-25000" lang="en-US" sz="1200">
                <a:solidFill>
                  <a:srgbClr val="002060"/>
                </a:solidFill>
              </a:rPr>
              <a:t>2 </a:t>
            </a:r>
            <a:r>
              <a:rPr b="1" lang="en-US" sz="1200">
                <a:solidFill>
                  <a:srgbClr val="002060"/>
                </a:solidFill>
              </a:rPr>
              <a:t>r</a:t>
            </a:r>
            <a:r>
              <a:rPr b="1" baseline="30000" lang="en-US" sz="1200">
                <a:solidFill>
                  <a:srgbClr val="002060"/>
                </a:solidFill>
              </a:rPr>
              <a:t>n</a:t>
            </a:r>
            <a:r>
              <a:rPr b="1" baseline="-25000" lang="en-US" sz="1200">
                <a:solidFill>
                  <a:srgbClr val="002060"/>
                </a:solidFill>
              </a:rPr>
              <a:t>2</a:t>
            </a:r>
            <a:r>
              <a:rPr b="1" lang="en-US" sz="1200">
                <a:solidFill>
                  <a:srgbClr val="002060"/>
                </a:solidFill>
              </a:rPr>
              <a:t> 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Điều lý thú ở đây là công thức phải  dùng các phép toán vô tỷ để biểu diễn một giá tri nguyên.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Điều lý thú ở đây là công thức phải  dùng các phép toán vô tỷ để biểu diễn một giá tri nguyên.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án Rời Rạc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0" type="dt"/>
          </p:nvPr>
        </p:nvSpPr>
        <p:spPr>
          <a:xfrm>
            <a:off x="3810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>
  <p:cSld name="Title, Text, and 2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304800" y="381000"/>
            <a:ext cx="3962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2" type="body"/>
          </p:nvPr>
        </p:nvSpPr>
        <p:spPr>
          <a:xfrm>
            <a:off x="4419600" y="3810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3" type="body"/>
          </p:nvPr>
        </p:nvSpPr>
        <p:spPr>
          <a:xfrm>
            <a:off x="4419600" y="33909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 txBox="1"/>
          <p:nvPr>
            <p:ph idx="11" type="ftr"/>
          </p:nvPr>
        </p:nvSpPr>
        <p:spPr>
          <a:xfrm>
            <a:off x="2743200" y="649287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" type="subTitle"/>
          </p:nvPr>
        </p:nvSpPr>
        <p:spPr>
          <a:xfrm>
            <a:off x="13716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7"/>
          <p:cNvSpPr txBox="1"/>
          <p:nvPr>
            <p:ph idx="11" type="ftr"/>
          </p:nvPr>
        </p:nvSpPr>
        <p:spPr>
          <a:xfrm>
            <a:off x="2514600" y="6536938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1" type="ftr"/>
          </p:nvPr>
        </p:nvSpPr>
        <p:spPr>
          <a:xfrm>
            <a:off x="2971800" y="6492875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49"/>
          <p:cNvSpPr txBox="1"/>
          <p:nvPr>
            <p:ph idx="10" type="dt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1" type="ftr"/>
          </p:nvPr>
        </p:nvSpPr>
        <p:spPr>
          <a:xfrm>
            <a:off x="27432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9" name="Google Shape;49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0" name="Google Shape;5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9" name="Google Shape;59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1"/>
          <p:cNvSpPr txBox="1"/>
          <p:nvPr>
            <p:ph idx="11" type="ftr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1" type="ftr"/>
          </p:nvPr>
        </p:nvSpPr>
        <p:spPr>
          <a:xfrm>
            <a:off x="2667000" y="6477000"/>
            <a:ext cx="335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 txBox="1"/>
          <p:nvPr>
            <p:ph idx="11" type="ftr"/>
          </p:nvPr>
        </p:nvSpPr>
        <p:spPr>
          <a:xfrm>
            <a:off x="28956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4" name="Google Shape;74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>
            <a:off x="2819400" y="6492875"/>
            <a:ext cx="342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1" name="Google Shape;81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2" name="Google Shape;82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1" type="ftr"/>
          </p:nvPr>
        </p:nvSpPr>
        <p:spPr>
          <a:xfrm>
            <a:off x="2895600" y="6613525"/>
            <a:ext cx="3429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f5093a89a_0_150"/>
          <p:cNvSpPr txBox="1"/>
          <p:nvPr>
            <p:ph idx="1" type="body"/>
          </p:nvPr>
        </p:nvSpPr>
        <p:spPr>
          <a:xfrm>
            <a:off x="493776" y="3968497"/>
            <a:ext cx="49788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g11f5093a89a_0_150"/>
          <p:cNvSpPr txBox="1"/>
          <p:nvPr>
            <p:ph type="ctrTitle"/>
          </p:nvPr>
        </p:nvSpPr>
        <p:spPr>
          <a:xfrm>
            <a:off x="493776" y="1239123"/>
            <a:ext cx="49788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6" name="Google Shape;96;g11f5093a89a_0_150"/>
          <p:cNvCxnSpPr/>
          <p:nvPr/>
        </p:nvCxnSpPr>
        <p:spPr>
          <a:xfrm>
            <a:off x="276359" y="2216727"/>
            <a:ext cx="0" cy="340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97" name="Google Shape;97;g11f5093a89a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8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1f5093a89a_0_155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36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11f5093a89a_0_155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f5093a89a_0_158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11f5093a89a_0_158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11f5093a89a_0_158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f5093a89a_0_162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11f5093a89a_0_162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1f5093a89a_0_165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11f5093a89a_0_165"/>
          <p:cNvSpPr txBox="1"/>
          <p:nvPr>
            <p:ph idx="1" type="body"/>
          </p:nvPr>
        </p:nvSpPr>
        <p:spPr>
          <a:xfrm>
            <a:off x="425196" y="2185416"/>
            <a:ext cx="37926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11f5093a89a_0_165"/>
          <p:cNvSpPr txBox="1"/>
          <p:nvPr>
            <p:ph idx="2" type="body"/>
          </p:nvPr>
        </p:nvSpPr>
        <p:spPr>
          <a:xfrm>
            <a:off x="4389120" y="2185416"/>
            <a:ext cx="3922800" cy="3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11f5093a89a_0_165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f5093a89a_0_170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11f5093a89a_0_170"/>
          <p:cNvSpPr txBox="1"/>
          <p:nvPr>
            <p:ph idx="1" type="body"/>
          </p:nvPr>
        </p:nvSpPr>
        <p:spPr>
          <a:xfrm>
            <a:off x="425196" y="2185416"/>
            <a:ext cx="3854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g11f5093a89a_0_170"/>
          <p:cNvSpPr txBox="1"/>
          <p:nvPr>
            <p:ph idx="2" type="body"/>
          </p:nvPr>
        </p:nvSpPr>
        <p:spPr>
          <a:xfrm>
            <a:off x="425197" y="2593340"/>
            <a:ext cx="3855300" cy="3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11f5093a89a_0_170"/>
          <p:cNvSpPr txBox="1"/>
          <p:nvPr>
            <p:ph idx="3" type="body"/>
          </p:nvPr>
        </p:nvSpPr>
        <p:spPr>
          <a:xfrm>
            <a:off x="4629150" y="2185416"/>
            <a:ext cx="3854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11f5093a89a_0_170"/>
          <p:cNvSpPr txBox="1"/>
          <p:nvPr>
            <p:ph idx="4" type="body"/>
          </p:nvPr>
        </p:nvSpPr>
        <p:spPr>
          <a:xfrm>
            <a:off x="4629150" y="2590800"/>
            <a:ext cx="38541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11f5093a89a_0_170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0" Type="http://schemas.openxmlformats.org/officeDocument/2006/relationships/theme" Target="../theme/theme3.xml"/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1.png" id="15" name="Google Shape;15;p4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f5093a89a_0_142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11f5093a89a_0_142"/>
          <p:cNvSpPr txBox="1"/>
          <p:nvPr>
            <p:ph idx="1" type="body"/>
          </p:nvPr>
        </p:nvSpPr>
        <p:spPr>
          <a:xfrm>
            <a:off x="425196" y="2185417"/>
            <a:ext cx="78867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11f5093a89a_0_142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11f5093a89a_0_142"/>
          <p:cNvSpPr txBox="1"/>
          <p:nvPr/>
        </p:nvSpPr>
        <p:spPr>
          <a:xfrm>
            <a:off x="5542161" y="217021"/>
            <a:ext cx="276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11f5093a89a_0_142"/>
          <p:cNvSpPr/>
          <p:nvPr/>
        </p:nvSpPr>
        <p:spPr>
          <a:xfrm>
            <a:off x="8311897" y="134971"/>
            <a:ext cx="645300" cy="59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11f5093a89a_0_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6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2" name="Google Shape;92;g11f5093a89a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ebgamesonline.com/towers-of-hanoi/index.php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1f5093a89a_0_137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2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/>
              <a:t>TOÁN RỜI RẠC</a:t>
            </a:r>
            <a:endParaRPr/>
          </a:p>
        </p:txBody>
      </p:sp>
      <p:sp>
        <p:nvSpPr>
          <p:cNvPr id="125" name="Google Shape;125;g11f5093a89a_0_137"/>
          <p:cNvSpPr txBox="1"/>
          <p:nvPr>
            <p:ph idx="1" type="subTitle"/>
          </p:nvPr>
        </p:nvSpPr>
        <p:spPr>
          <a:xfrm>
            <a:off x="493776" y="3793356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Bài 4: BÀI TOÁN </a:t>
            </a:r>
            <a:r>
              <a:rPr lang="en-US"/>
              <a:t>ĐẾM NÂNG CAO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1f5093a89a_0_177"/>
          <p:cNvSpPr txBox="1"/>
          <p:nvPr>
            <p:ph type="title"/>
          </p:nvPr>
        </p:nvSpPr>
        <p:spPr>
          <a:xfrm>
            <a:off x="425200" y="1001022"/>
            <a:ext cx="7850100" cy="69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 đếm cơ bản</a:t>
            </a:r>
            <a:endParaRPr/>
          </a:p>
        </p:txBody>
      </p:sp>
      <p:sp>
        <p:nvSpPr>
          <p:cNvPr id="132" name="Google Shape;132;g11f5093a89a_0_177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g11f5093a89a_0_177"/>
          <p:cNvGrpSpPr/>
          <p:nvPr/>
        </p:nvGrpSpPr>
        <p:grpSpPr>
          <a:xfrm>
            <a:off x="1143000" y="1696345"/>
            <a:ext cx="7010400" cy="5068440"/>
            <a:chOff x="0" y="94680"/>
            <a:chExt cx="7010400" cy="5068440"/>
          </a:xfrm>
        </p:grpSpPr>
        <p:sp>
          <p:nvSpPr>
            <p:cNvPr id="134" name="Google Shape;134;g11f5093a89a_0_177"/>
            <p:cNvSpPr/>
            <p:nvPr/>
          </p:nvSpPr>
          <p:spPr>
            <a:xfrm>
              <a:off x="0" y="37512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g11f5093a89a_0_177"/>
            <p:cNvSpPr/>
            <p:nvPr/>
          </p:nvSpPr>
          <p:spPr>
            <a:xfrm>
              <a:off x="350520" y="9468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g11f5093a89a_0_177"/>
            <p:cNvSpPr txBox="1"/>
            <p:nvPr/>
          </p:nvSpPr>
          <p:spPr>
            <a:xfrm>
              <a:off x="377900" y="12206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Quy tắc nhân  </a:t>
              </a:r>
              <a:endParaRPr>
                <a:highlight>
                  <a:srgbClr val="000000"/>
                </a:highlight>
              </a:endParaRPr>
            </a:p>
          </p:txBody>
        </p:sp>
        <p:sp>
          <p:nvSpPr>
            <p:cNvPr id="137" name="Google Shape;137;g11f5093a89a_0_177"/>
            <p:cNvSpPr/>
            <p:nvPr/>
          </p:nvSpPr>
          <p:spPr>
            <a:xfrm>
              <a:off x="0" y="123696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11f5093a89a_0_177"/>
            <p:cNvSpPr/>
            <p:nvPr/>
          </p:nvSpPr>
          <p:spPr>
            <a:xfrm>
              <a:off x="350520" y="95652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g11f5093a89a_0_177"/>
            <p:cNvSpPr txBox="1"/>
            <p:nvPr/>
          </p:nvSpPr>
          <p:spPr>
            <a:xfrm>
              <a:off x="377900" y="98390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Quy tắc cộng</a:t>
              </a:r>
              <a:endParaRPr b="0" i="0" sz="28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g11f5093a89a_0_177"/>
            <p:cNvSpPr/>
            <p:nvPr/>
          </p:nvSpPr>
          <p:spPr>
            <a:xfrm>
              <a:off x="0" y="209880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g11f5093a89a_0_177"/>
            <p:cNvSpPr/>
            <p:nvPr/>
          </p:nvSpPr>
          <p:spPr>
            <a:xfrm>
              <a:off x="350520" y="181836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g11f5093a89a_0_177"/>
            <p:cNvSpPr txBox="1"/>
            <p:nvPr/>
          </p:nvSpPr>
          <p:spPr>
            <a:xfrm>
              <a:off x="377900" y="184574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HV, CH, TH</a:t>
              </a:r>
              <a:endParaRPr>
                <a:highlight>
                  <a:srgbClr val="000000"/>
                </a:highlight>
              </a:endParaRPr>
            </a:p>
          </p:txBody>
        </p:sp>
        <p:sp>
          <p:nvSpPr>
            <p:cNvPr id="143" name="Google Shape;143;g11f5093a89a_0_177"/>
            <p:cNvSpPr/>
            <p:nvPr/>
          </p:nvSpPr>
          <p:spPr>
            <a:xfrm>
              <a:off x="0" y="296064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g11f5093a89a_0_177"/>
            <p:cNvSpPr/>
            <p:nvPr/>
          </p:nvSpPr>
          <p:spPr>
            <a:xfrm>
              <a:off x="350520" y="268020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g11f5093a89a_0_177"/>
            <p:cNvSpPr txBox="1"/>
            <p:nvPr/>
          </p:nvSpPr>
          <p:spPr>
            <a:xfrm>
              <a:off x="377900" y="270758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Chỉnh hợp lặp</a:t>
              </a:r>
              <a:endParaRPr b="0" i="0" sz="28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g11f5093a89a_0_177"/>
            <p:cNvSpPr/>
            <p:nvPr/>
          </p:nvSpPr>
          <p:spPr>
            <a:xfrm>
              <a:off x="0" y="382248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g11f5093a89a_0_177"/>
            <p:cNvSpPr/>
            <p:nvPr/>
          </p:nvSpPr>
          <p:spPr>
            <a:xfrm>
              <a:off x="350520" y="354204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g11f5093a89a_0_177"/>
            <p:cNvSpPr txBox="1"/>
            <p:nvPr/>
          </p:nvSpPr>
          <p:spPr>
            <a:xfrm>
              <a:off x="377900" y="356942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Tổ hợp lặp</a:t>
              </a:r>
              <a:endParaRPr b="0" i="0" sz="28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g11f5093a89a_0_177"/>
            <p:cNvSpPr/>
            <p:nvPr/>
          </p:nvSpPr>
          <p:spPr>
            <a:xfrm>
              <a:off x="0" y="468432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11f5093a89a_0_177"/>
            <p:cNvSpPr/>
            <p:nvPr/>
          </p:nvSpPr>
          <p:spPr>
            <a:xfrm>
              <a:off x="350520" y="440388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g11f5093a89a_0_177"/>
            <p:cNvSpPr txBox="1"/>
            <p:nvPr/>
          </p:nvSpPr>
          <p:spPr>
            <a:xfrm>
              <a:off x="377900" y="443126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Nguyên lý bù trừ</a:t>
              </a:r>
              <a:endParaRPr b="0" i="0" sz="28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f5093a89a_0_47"/>
          <p:cNvSpPr txBox="1"/>
          <p:nvPr>
            <p:ph type="title"/>
          </p:nvPr>
        </p:nvSpPr>
        <p:spPr>
          <a:xfrm>
            <a:off x="425196" y="1499616"/>
            <a:ext cx="5213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57" name="Google Shape;157;g11f5093a89a_0_47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AutoNum type="arabicPeriod"/>
            </a:pPr>
            <a:r>
              <a:rPr lang="en-US" sz="2400"/>
              <a:t>GIỚI THIỆU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MÔ HÌNH HÓA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HỆ THỨC TRUY HỒI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THẾ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TRÌNH ĐẶC TRƯNG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BÀI TẬP</a:t>
            </a:r>
            <a:endParaRPr sz="2400"/>
          </a:p>
        </p:txBody>
      </p:sp>
      <p:sp>
        <p:nvSpPr>
          <p:cNvPr id="158" name="Google Shape;158;g11f5093a89a_0_47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f5093a89a_0_53"/>
          <p:cNvSpPr txBox="1"/>
          <p:nvPr>
            <p:ph type="title"/>
          </p:nvPr>
        </p:nvSpPr>
        <p:spPr>
          <a:xfrm>
            <a:off x="425200" y="1001023"/>
            <a:ext cx="7850100" cy="832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65" name="Google Shape;165;g11f5093a89a_0_53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11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●"/>
            </a:pPr>
            <a:r>
              <a:rPr lang="en-US" sz="2200"/>
              <a:t>Khó khăn định nghĩa đối tượng một cách tường minh </a:t>
            </a:r>
            <a:endParaRPr sz="2200"/>
          </a:p>
          <a:p>
            <a:pPr indent="-3911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●"/>
            </a:pPr>
            <a:r>
              <a:rPr lang="en-US" sz="2200"/>
              <a:t>Định nghĩa đối tượng qua chính nó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g11f5093a89a_0_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125" y="3263401"/>
            <a:ext cx="7010400" cy="3048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f5093a89a_0_209"/>
          <p:cNvSpPr txBox="1"/>
          <p:nvPr>
            <p:ph type="title"/>
          </p:nvPr>
        </p:nvSpPr>
        <p:spPr>
          <a:xfrm>
            <a:off x="425200" y="1001023"/>
            <a:ext cx="7850100" cy="832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73" name="Google Shape;173;g11f5093a89a_0_209"/>
          <p:cNvSpPr txBox="1"/>
          <p:nvPr>
            <p:ph idx="1" type="body"/>
          </p:nvPr>
        </p:nvSpPr>
        <p:spPr>
          <a:xfrm>
            <a:off x="465246" y="19216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Định nghĩa </a:t>
            </a:r>
            <a:r>
              <a:rPr lang="en-US" sz="2200"/>
              <a:t>số đối tượng vi khuẩn tăng lên sau n giờ 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g11f5093a89a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2662" y="2713313"/>
            <a:ext cx="3486775" cy="11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11f5093a89a_0_209"/>
          <p:cNvSpPr/>
          <p:nvPr/>
        </p:nvSpPr>
        <p:spPr>
          <a:xfrm rot="2108238">
            <a:off x="336549" y="4815914"/>
            <a:ext cx="1598613" cy="1236663"/>
          </a:xfrm>
          <a:custGeom>
            <a:rect b="b" l="l" r="r" t="t"/>
            <a:pathLst>
              <a:path extrusionOk="0" h="923" w="793">
                <a:moveTo>
                  <a:pt x="158" y="135"/>
                </a:moveTo>
                <a:cubicBezTo>
                  <a:pt x="197" y="96"/>
                  <a:pt x="231" y="64"/>
                  <a:pt x="284" y="51"/>
                </a:cubicBezTo>
                <a:cubicBezTo>
                  <a:pt x="345" y="11"/>
                  <a:pt x="349" y="10"/>
                  <a:pt x="426" y="1"/>
                </a:cubicBezTo>
                <a:cubicBezTo>
                  <a:pt x="451" y="4"/>
                  <a:pt x="477" y="0"/>
                  <a:pt x="501" y="9"/>
                </a:cubicBezTo>
                <a:cubicBezTo>
                  <a:pt x="513" y="13"/>
                  <a:pt x="522" y="50"/>
                  <a:pt x="526" y="59"/>
                </a:cubicBezTo>
                <a:cubicBezTo>
                  <a:pt x="551" y="114"/>
                  <a:pt x="574" y="165"/>
                  <a:pt x="601" y="218"/>
                </a:cubicBezTo>
                <a:cubicBezTo>
                  <a:pt x="614" y="270"/>
                  <a:pt x="647" y="316"/>
                  <a:pt x="676" y="360"/>
                </a:cubicBezTo>
                <a:cubicBezTo>
                  <a:pt x="700" y="397"/>
                  <a:pt x="741" y="416"/>
                  <a:pt x="768" y="452"/>
                </a:cubicBezTo>
                <a:cubicBezTo>
                  <a:pt x="775" y="475"/>
                  <a:pt x="793" y="495"/>
                  <a:pt x="793" y="519"/>
                </a:cubicBezTo>
                <a:cubicBezTo>
                  <a:pt x="793" y="595"/>
                  <a:pt x="739" y="733"/>
                  <a:pt x="693" y="794"/>
                </a:cubicBezTo>
                <a:cubicBezTo>
                  <a:pt x="677" y="840"/>
                  <a:pt x="695" y="813"/>
                  <a:pt x="626" y="827"/>
                </a:cubicBezTo>
                <a:cubicBezTo>
                  <a:pt x="581" y="836"/>
                  <a:pt x="526" y="857"/>
                  <a:pt x="484" y="877"/>
                </a:cubicBezTo>
                <a:cubicBezTo>
                  <a:pt x="455" y="907"/>
                  <a:pt x="441" y="909"/>
                  <a:pt x="401" y="919"/>
                </a:cubicBezTo>
                <a:cubicBezTo>
                  <a:pt x="307" y="912"/>
                  <a:pt x="304" y="923"/>
                  <a:pt x="250" y="869"/>
                </a:cubicBezTo>
                <a:cubicBezTo>
                  <a:pt x="226" y="821"/>
                  <a:pt x="200" y="774"/>
                  <a:pt x="175" y="727"/>
                </a:cubicBezTo>
                <a:cubicBezTo>
                  <a:pt x="152" y="685"/>
                  <a:pt x="111" y="632"/>
                  <a:pt x="92" y="585"/>
                </a:cubicBezTo>
                <a:cubicBezTo>
                  <a:pt x="47" y="476"/>
                  <a:pt x="88" y="541"/>
                  <a:pt x="50" y="485"/>
                </a:cubicBezTo>
                <a:cubicBezTo>
                  <a:pt x="35" y="422"/>
                  <a:pt x="12" y="365"/>
                  <a:pt x="0" y="301"/>
                </a:cubicBezTo>
                <a:cubicBezTo>
                  <a:pt x="3" y="262"/>
                  <a:pt x="1" y="223"/>
                  <a:pt x="8" y="185"/>
                </a:cubicBezTo>
                <a:cubicBezTo>
                  <a:pt x="19" y="123"/>
                  <a:pt x="125" y="135"/>
                  <a:pt x="158" y="135"/>
                </a:cubicBezTo>
                <a:close/>
              </a:path>
            </a:pathLst>
          </a:custGeom>
          <a:solidFill>
            <a:srgbClr val="007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g11f5093a89a_0_209"/>
          <p:cNvSpPr/>
          <p:nvPr/>
        </p:nvSpPr>
        <p:spPr>
          <a:xfrm>
            <a:off x="2706688" y="4696851"/>
            <a:ext cx="1560513" cy="1905000"/>
          </a:xfrm>
          <a:custGeom>
            <a:rect b="b" l="l" r="r" t="t"/>
            <a:pathLst>
              <a:path extrusionOk="0" h="1332" w="1078">
                <a:moveTo>
                  <a:pt x="335" y="42"/>
                </a:moveTo>
                <a:cubicBezTo>
                  <a:pt x="343" y="34"/>
                  <a:pt x="349" y="22"/>
                  <a:pt x="360" y="17"/>
                </a:cubicBezTo>
                <a:cubicBezTo>
                  <a:pt x="381" y="7"/>
                  <a:pt x="427" y="0"/>
                  <a:pt x="427" y="0"/>
                </a:cubicBezTo>
                <a:cubicBezTo>
                  <a:pt x="609" y="39"/>
                  <a:pt x="798" y="107"/>
                  <a:pt x="920" y="259"/>
                </a:cubicBezTo>
                <a:cubicBezTo>
                  <a:pt x="964" y="314"/>
                  <a:pt x="1037" y="434"/>
                  <a:pt x="1037" y="434"/>
                </a:cubicBezTo>
                <a:cubicBezTo>
                  <a:pt x="1049" y="472"/>
                  <a:pt x="1066" y="506"/>
                  <a:pt x="1078" y="543"/>
                </a:cubicBezTo>
                <a:cubicBezTo>
                  <a:pt x="1075" y="551"/>
                  <a:pt x="1075" y="561"/>
                  <a:pt x="1070" y="568"/>
                </a:cubicBezTo>
                <a:cubicBezTo>
                  <a:pt x="1064" y="578"/>
                  <a:pt x="1045" y="593"/>
                  <a:pt x="1045" y="593"/>
                </a:cubicBezTo>
                <a:cubicBezTo>
                  <a:pt x="279" y="1332"/>
                  <a:pt x="744" y="1194"/>
                  <a:pt x="394" y="1077"/>
                </a:cubicBezTo>
                <a:cubicBezTo>
                  <a:pt x="295" y="978"/>
                  <a:pt x="196" y="886"/>
                  <a:pt x="85" y="802"/>
                </a:cubicBezTo>
                <a:cubicBezTo>
                  <a:pt x="63" y="748"/>
                  <a:pt x="55" y="692"/>
                  <a:pt x="43" y="635"/>
                </a:cubicBezTo>
                <a:cubicBezTo>
                  <a:pt x="44" y="608"/>
                  <a:pt x="0" y="403"/>
                  <a:pt x="85" y="376"/>
                </a:cubicBezTo>
                <a:cubicBezTo>
                  <a:pt x="125" y="349"/>
                  <a:pt x="111" y="336"/>
                  <a:pt x="127" y="292"/>
                </a:cubicBezTo>
                <a:cubicBezTo>
                  <a:pt x="140" y="258"/>
                  <a:pt x="163" y="222"/>
                  <a:pt x="185" y="192"/>
                </a:cubicBezTo>
                <a:cubicBezTo>
                  <a:pt x="198" y="153"/>
                  <a:pt x="191" y="141"/>
                  <a:pt x="227" y="117"/>
                </a:cubicBezTo>
                <a:cubicBezTo>
                  <a:pt x="229" y="114"/>
                  <a:pt x="268" y="48"/>
                  <a:pt x="285" y="42"/>
                </a:cubicBezTo>
                <a:cubicBezTo>
                  <a:pt x="301" y="37"/>
                  <a:pt x="318" y="42"/>
                  <a:pt x="335" y="42"/>
                </a:cubicBezTo>
                <a:close/>
              </a:path>
            </a:pathLst>
          </a:custGeom>
          <a:solidFill>
            <a:srgbClr val="007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11f5093a89a_0_209"/>
          <p:cNvSpPr/>
          <p:nvPr/>
        </p:nvSpPr>
        <p:spPr>
          <a:xfrm>
            <a:off x="7024688" y="4620651"/>
            <a:ext cx="1473200" cy="1538287"/>
          </a:xfrm>
          <a:custGeom>
            <a:rect b="b" l="l" r="r" t="t"/>
            <a:pathLst>
              <a:path extrusionOk="0" h="1081" w="736">
                <a:moveTo>
                  <a:pt x="333" y="86"/>
                </a:moveTo>
                <a:cubicBezTo>
                  <a:pt x="454" y="0"/>
                  <a:pt x="368" y="41"/>
                  <a:pt x="617" y="70"/>
                </a:cubicBezTo>
                <a:cubicBezTo>
                  <a:pt x="680" y="110"/>
                  <a:pt x="700" y="166"/>
                  <a:pt x="717" y="236"/>
                </a:cubicBezTo>
                <a:cubicBezTo>
                  <a:pt x="736" y="461"/>
                  <a:pt x="736" y="585"/>
                  <a:pt x="726" y="854"/>
                </a:cubicBezTo>
                <a:cubicBezTo>
                  <a:pt x="724" y="907"/>
                  <a:pt x="685" y="988"/>
                  <a:pt x="634" y="1004"/>
                </a:cubicBezTo>
                <a:cubicBezTo>
                  <a:pt x="588" y="1035"/>
                  <a:pt x="529" y="1066"/>
                  <a:pt x="475" y="1080"/>
                </a:cubicBezTo>
                <a:cubicBezTo>
                  <a:pt x="439" y="1077"/>
                  <a:pt x="402" y="1081"/>
                  <a:pt x="367" y="1071"/>
                </a:cubicBezTo>
                <a:cubicBezTo>
                  <a:pt x="293" y="1050"/>
                  <a:pt x="225" y="974"/>
                  <a:pt x="183" y="913"/>
                </a:cubicBezTo>
                <a:cubicBezTo>
                  <a:pt x="166" y="859"/>
                  <a:pt x="123" y="817"/>
                  <a:pt x="91" y="771"/>
                </a:cubicBezTo>
                <a:cubicBezTo>
                  <a:pt x="81" y="730"/>
                  <a:pt x="60" y="696"/>
                  <a:pt x="49" y="654"/>
                </a:cubicBezTo>
                <a:cubicBezTo>
                  <a:pt x="53" y="464"/>
                  <a:pt x="0" y="273"/>
                  <a:pt x="116" y="120"/>
                </a:cubicBezTo>
                <a:cubicBezTo>
                  <a:pt x="136" y="65"/>
                  <a:pt x="158" y="45"/>
                  <a:pt x="208" y="19"/>
                </a:cubicBezTo>
                <a:cubicBezTo>
                  <a:pt x="241" y="22"/>
                  <a:pt x="275" y="23"/>
                  <a:pt x="308" y="28"/>
                </a:cubicBezTo>
                <a:cubicBezTo>
                  <a:pt x="336" y="32"/>
                  <a:pt x="347" y="53"/>
                  <a:pt x="375" y="53"/>
                </a:cubicBezTo>
              </a:path>
            </a:pathLst>
          </a:custGeom>
          <a:solidFill>
            <a:srgbClr val="007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11f5093a89a_0_209"/>
          <p:cNvSpPr txBox="1"/>
          <p:nvPr/>
        </p:nvSpPr>
        <p:spPr>
          <a:xfrm>
            <a:off x="2819400" y="5001651"/>
            <a:ext cx="12588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phiên bản đơn giản có thể được giải </a:t>
            </a:r>
            <a:endParaRPr/>
          </a:p>
        </p:txBody>
      </p:sp>
      <p:sp>
        <p:nvSpPr>
          <p:cNvPr id="179" name="Google Shape;179;g11f5093a89a_0_209"/>
          <p:cNvSpPr txBox="1"/>
          <p:nvPr/>
        </p:nvSpPr>
        <p:spPr>
          <a:xfrm>
            <a:off x="7126288" y="5001651"/>
            <a:ext cx="14478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phiên bản đơn giản có thể được giải </a:t>
            </a:r>
            <a:endParaRPr/>
          </a:p>
        </p:txBody>
      </p:sp>
      <p:sp>
        <p:nvSpPr>
          <p:cNvPr id="180" name="Google Shape;180;g11f5093a89a_0_209"/>
          <p:cNvSpPr txBox="1"/>
          <p:nvPr/>
        </p:nvSpPr>
        <p:spPr>
          <a:xfrm>
            <a:off x="1792288" y="4785751"/>
            <a:ext cx="106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thể 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nếu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11f5093a89a_0_209"/>
          <p:cNvSpPr txBox="1"/>
          <p:nvPr/>
        </p:nvSpPr>
        <p:spPr>
          <a:xfrm>
            <a:off x="6135688" y="4773051"/>
            <a:ext cx="106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thể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nếu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11f5093a89a_0_209"/>
          <p:cNvSpPr txBox="1"/>
          <p:nvPr/>
        </p:nvSpPr>
        <p:spPr>
          <a:xfrm>
            <a:off x="4230688" y="4773051"/>
            <a:ext cx="106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thể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nếu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g11f5093a89a_0_209"/>
          <p:cNvCxnSpPr/>
          <p:nvPr/>
        </p:nvCxnSpPr>
        <p:spPr>
          <a:xfrm>
            <a:off x="5221288" y="5306451"/>
            <a:ext cx="990600" cy="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4" name="Google Shape;184;g11f5093a89a_0_209"/>
          <p:cNvSpPr/>
          <p:nvPr/>
        </p:nvSpPr>
        <p:spPr>
          <a:xfrm>
            <a:off x="457200" y="6373251"/>
            <a:ext cx="825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2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 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2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                            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2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      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=5</a:t>
            </a:r>
            <a:endParaRPr/>
          </a:p>
        </p:txBody>
      </p:sp>
      <p:sp>
        <p:nvSpPr>
          <p:cNvPr id="185" name="Google Shape;185;g11f5093a89a_0_209"/>
          <p:cNvSpPr txBox="1"/>
          <p:nvPr/>
        </p:nvSpPr>
        <p:spPr>
          <a:xfrm>
            <a:off x="640556" y="5016891"/>
            <a:ext cx="9906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Đưa ra vấn đề phức tạp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11f5093a89a_0_209"/>
          <p:cNvCxnSpPr/>
          <p:nvPr/>
        </p:nvCxnSpPr>
        <p:spPr>
          <a:xfrm>
            <a:off x="1792288" y="5389795"/>
            <a:ext cx="798600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7" name="Google Shape;187;g11f5093a89a_0_209"/>
          <p:cNvCxnSpPr/>
          <p:nvPr/>
        </p:nvCxnSpPr>
        <p:spPr>
          <a:xfrm>
            <a:off x="4267200" y="5306451"/>
            <a:ext cx="798600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8" name="Google Shape;188;g11f5093a89a_0_209"/>
          <p:cNvCxnSpPr/>
          <p:nvPr/>
        </p:nvCxnSpPr>
        <p:spPr>
          <a:xfrm>
            <a:off x="6226176" y="5265176"/>
            <a:ext cx="798600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1f5093a89a_0_231"/>
          <p:cNvSpPr txBox="1"/>
          <p:nvPr>
            <p:ph type="title"/>
          </p:nvPr>
        </p:nvSpPr>
        <p:spPr>
          <a:xfrm>
            <a:off x="425200" y="1001023"/>
            <a:ext cx="7850100" cy="832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95" name="Google Shape;195;g11f5093a89a_0_231"/>
          <p:cNvSpPr txBox="1"/>
          <p:nvPr>
            <p:ph idx="1" type="body"/>
          </p:nvPr>
        </p:nvSpPr>
        <p:spPr>
          <a:xfrm>
            <a:off x="465246" y="19216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Xác định</a:t>
            </a:r>
            <a:r>
              <a:rPr lang="en-US" sz="2200"/>
              <a:t> </a:t>
            </a:r>
            <a:r>
              <a:rPr lang="en-US" sz="2200"/>
              <a:t>số tiền của ông già có trong ngân hàng sau 30 năm.</a:t>
            </a:r>
            <a:endParaRPr/>
          </a:p>
        </p:txBody>
      </p:sp>
      <p:sp>
        <p:nvSpPr>
          <p:cNvPr id="196" name="Google Shape;196;g11f5093a89a_0_231"/>
          <p:cNvSpPr/>
          <p:nvPr/>
        </p:nvSpPr>
        <p:spPr>
          <a:xfrm>
            <a:off x="2432538" y="2639156"/>
            <a:ext cx="3962400" cy="836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11f5093a89a_0_231"/>
          <p:cNvSpPr txBox="1"/>
          <p:nvPr/>
        </p:nvSpPr>
        <p:spPr>
          <a:xfrm>
            <a:off x="3766038" y="2872519"/>
            <a:ext cx="1295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10 000$</a:t>
            </a:r>
            <a:endParaRPr/>
          </a:p>
        </p:txBody>
      </p:sp>
      <p:sp>
        <p:nvSpPr>
          <p:cNvPr id="198" name="Google Shape;198;g11f5093a89a_0_231"/>
          <p:cNvSpPr txBox="1"/>
          <p:nvPr/>
        </p:nvSpPr>
        <p:spPr>
          <a:xfrm>
            <a:off x="3385038" y="386715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11 % tính gộp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g11f5093a89a_0_231"/>
          <p:cNvSpPr/>
          <p:nvPr/>
        </p:nvSpPr>
        <p:spPr>
          <a:xfrm flipH="1">
            <a:off x="2356338" y="4391758"/>
            <a:ext cx="3886200" cy="8382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7030A0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g11f5093a89a_0_231"/>
          <p:cNvSpPr txBox="1"/>
          <p:nvPr/>
        </p:nvSpPr>
        <p:spPr>
          <a:xfrm>
            <a:off x="3804138" y="4810858"/>
            <a:ext cx="9906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năm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g11f5093a89a_0_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4338" y="3477358"/>
            <a:ext cx="1295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11f5093a89a_0_2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5798" y="3475771"/>
            <a:ext cx="1257300" cy="915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1f5093a89a_0_265"/>
          <p:cNvSpPr txBox="1"/>
          <p:nvPr>
            <p:ph type="title"/>
          </p:nvPr>
        </p:nvSpPr>
        <p:spPr>
          <a:xfrm>
            <a:off x="425200" y="1001023"/>
            <a:ext cx="7850100" cy="832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grpSp>
        <p:nvGrpSpPr>
          <p:cNvPr id="209" name="Google Shape;209;g11f5093a89a_0_265"/>
          <p:cNvGrpSpPr/>
          <p:nvPr/>
        </p:nvGrpSpPr>
        <p:grpSpPr>
          <a:xfrm>
            <a:off x="458132" y="2090233"/>
            <a:ext cx="8227731" cy="3630942"/>
            <a:chOff x="907" y="447558"/>
            <a:chExt cx="8227731" cy="3630942"/>
          </a:xfrm>
        </p:grpSpPr>
        <p:sp>
          <p:nvSpPr>
            <p:cNvPr id="210" name="Google Shape;210;g11f5093a89a_0_265"/>
            <p:cNvSpPr/>
            <p:nvPr/>
          </p:nvSpPr>
          <p:spPr>
            <a:xfrm>
              <a:off x="907" y="447558"/>
              <a:ext cx="3432300" cy="11145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US" sz="2000">
                  <a:solidFill>
                    <a:srgbClr val="0000CC"/>
                  </a:solidFill>
                  <a:highlight>
                    <a:schemeClr val="lt1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Xác định một hay nhiều số hạng đầu tiên</a:t>
              </a:r>
              <a:endParaRPr/>
            </a:p>
          </p:txBody>
        </p:sp>
        <p:sp>
          <p:nvSpPr>
            <p:cNvPr id="211" name="Google Shape;211;g11f5093a89a_0_265"/>
            <p:cNvSpPr/>
            <p:nvPr/>
          </p:nvSpPr>
          <p:spPr>
            <a:xfrm>
              <a:off x="1182161" y="1711783"/>
              <a:ext cx="1069800" cy="1069800"/>
            </a:xfrm>
            <a:prstGeom prst="mathPlus">
              <a:avLst>
                <a:gd fmla="val 23520" name="adj1"/>
              </a:avLst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g11f5093a89a_0_265"/>
            <p:cNvSpPr txBox="1"/>
            <p:nvPr/>
          </p:nvSpPr>
          <p:spPr>
            <a:xfrm>
              <a:off x="1323959" y="2120862"/>
              <a:ext cx="786300" cy="2517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" name="Google Shape;213;g11f5093a89a_0_265"/>
            <p:cNvSpPr/>
            <p:nvPr/>
          </p:nvSpPr>
          <p:spPr>
            <a:xfrm>
              <a:off x="130900" y="2931300"/>
              <a:ext cx="3172200" cy="11472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CC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US" sz="2000">
                  <a:solidFill>
                    <a:srgbClr val="0000CC"/>
                  </a:solidFill>
                  <a:highlight>
                    <a:schemeClr val="lt1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Xác định số hạng tiếp theo từ số hạng đi trước</a:t>
              </a:r>
              <a:endParaRPr sz="2000">
                <a:solidFill>
                  <a:srgbClr val="0000CC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CC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214" name="Google Shape;214;g11f5093a89a_0_265"/>
            <p:cNvSpPr/>
            <p:nvPr/>
          </p:nvSpPr>
          <p:spPr>
            <a:xfrm>
              <a:off x="3709846" y="1919918"/>
              <a:ext cx="586500" cy="6861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g11f5093a89a_0_265"/>
            <p:cNvSpPr txBox="1"/>
            <p:nvPr/>
          </p:nvSpPr>
          <p:spPr>
            <a:xfrm>
              <a:off x="3709846" y="2057143"/>
              <a:ext cx="410700" cy="4116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g11f5093a89a_0_265"/>
            <p:cNvSpPr/>
            <p:nvPr/>
          </p:nvSpPr>
          <p:spPr>
            <a:xfrm>
              <a:off x="4539838" y="1249358"/>
              <a:ext cx="3688800" cy="20271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b="1" lang="en-US" sz="2400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Hệ thức truy hồi</a:t>
              </a:r>
              <a:endParaRPr>
                <a:solidFill>
                  <a:srgbClr val="0000CC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1f5093a89a_0_203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223" name="Google Shape;223;g11f5093a89a_0_203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b="1" lang="en-US" sz="2400">
                <a:solidFill>
                  <a:schemeClr val="dk2"/>
                </a:solidFill>
              </a:rPr>
              <a:t>Hệ thức truy hồi </a:t>
            </a:r>
            <a:r>
              <a:rPr lang="en-US" sz="2400">
                <a:solidFill>
                  <a:schemeClr val="dk2"/>
                </a:solidFill>
              </a:rPr>
              <a:t>của dãy {a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} là công thức biểu diễn a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qua một hay nhiều số hạng đi trước của dãy.</a:t>
            </a:r>
            <a:endParaRPr sz="2400">
              <a:solidFill>
                <a:schemeClr val="dk2"/>
              </a:solidFill>
            </a:endParaRPr>
          </a:p>
          <a:p>
            <a:pPr indent="-3175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b="1" lang="en-US" sz="2400">
                <a:solidFill>
                  <a:schemeClr val="dk2"/>
                </a:solidFill>
              </a:rPr>
              <a:t>Nghiệm hệ thức truy hồi </a:t>
            </a:r>
            <a:r>
              <a:rPr lang="en-US" sz="2400">
                <a:solidFill>
                  <a:schemeClr val="dk2"/>
                </a:solidFill>
              </a:rPr>
              <a:t>của  dãy {a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}  là dãy {b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} nếu các số hạng thỏa của dãy mãn hệ thức truy hồi.</a:t>
            </a:r>
            <a:endParaRPr sz="2400">
              <a:solidFill>
                <a:schemeClr val="dk2"/>
              </a:solidFill>
            </a:endParaRPr>
          </a:p>
          <a:p>
            <a:pPr indent="-3175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b="1" lang="en-US" sz="2400">
                <a:solidFill>
                  <a:schemeClr val="dk2"/>
                </a:solidFill>
              </a:rPr>
              <a:t>Giải hệ thức truy hồi </a:t>
            </a:r>
            <a:r>
              <a:rPr lang="en-US" sz="2400">
                <a:solidFill>
                  <a:schemeClr val="dk2"/>
                </a:solidFill>
              </a:rPr>
              <a:t>của dãy {a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} là đi tìm công thức biểu diễn các số hạng của dãy mà không thông qua các số hạng phía trước.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1f5093a89a_0_291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230" name="Google Shape;230;g11f5093a89a_0_291"/>
          <p:cNvSpPr txBox="1"/>
          <p:nvPr>
            <p:ph idx="1" type="body"/>
          </p:nvPr>
        </p:nvSpPr>
        <p:spPr>
          <a:xfrm>
            <a:off x="425200" y="1846950"/>
            <a:ext cx="8463900" cy="478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•"/>
            </a:pPr>
            <a:r>
              <a:rPr i="1" lang="en-US" sz="2300">
                <a:solidFill>
                  <a:schemeClr val="dk2"/>
                </a:solidFill>
              </a:rPr>
              <a:t>Cho dãy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3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 với mọi n nguyên không âm, </a:t>
            </a:r>
            <a:r>
              <a:rPr b="1" lang="en-US" sz="2300">
                <a:solidFill>
                  <a:schemeClr val="dk2"/>
                </a:solidFill>
              </a:rPr>
              <a:t>có là lời giải của hệ thức truy hồi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2</a:t>
            </a:r>
            <a:r>
              <a:rPr i="1" lang="en-US" sz="2300">
                <a:solidFill>
                  <a:schemeClr val="dk2"/>
                </a:solidFill>
              </a:rPr>
              <a:t> a</a:t>
            </a:r>
            <a:r>
              <a:rPr baseline="-25000" i="1" lang="en-US" sz="2300">
                <a:solidFill>
                  <a:schemeClr val="dk2"/>
                </a:solidFill>
              </a:rPr>
              <a:t>n-1</a:t>
            </a:r>
            <a:r>
              <a:rPr lang="en-US" sz="2300">
                <a:solidFill>
                  <a:schemeClr val="dk2"/>
                </a:solidFill>
              </a:rPr>
              <a:t> –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n-2</a:t>
            </a:r>
            <a:r>
              <a:rPr lang="en-US" sz="2300">
                <a:solidFill>
                  <a:schemeClr val="dk2"/>
                </a:solidFill>
              </a:rPr>
              <a:t>  với 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2, 3, 4, …hay không?</a:t>
            </a:r>
            <a:endParaRPr sz="2300">
              <a:solidFill>
                <a:schemeClr val="dk2"/>
              </a:solidFill>
            </a:endParaRPr>
          </a:p>
          <a:p>
            <a:pPr indent="-31750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–"/>
            </a:pPr>
            <a:r>
              <a:rPr lang="en-US" sz="2300">
                <a:solidFill>
                  <a:schemeClr val="dk2"/>
                </a:solidFill>
              </a:rPr>
              <a:t> Giả sử </a:t>
            </a:r>
            <a:r>
              <a:rPr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3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 với mọi 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, 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≥ 2;</a:t>
            </a:r>
            <a:endParaRPr sz="2300">
              <a:solidFill>
                <a:schemeClr val="dk2"/>
              </a:solidFill>
            </a:endParaRPr>
          </a:p>
          <a:p>
            <a:pPr indent="-31750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–"/>
            </a:pPr>
            <a:r>
              <a:rPr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baseline="-25000"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n-2</a:t>
            </a:r>
            <a:r>
              <a:rPr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>
                <a:solidFill>
                  <a:schemeClr val="dk2"/>
                </a:solidFill>
              </a:rPr>
              <a:t> = ___________________</a:t>
            </a:r>
            <a:endParaRPr sz="2300">
              <a:solidFill>
                <a:schemeClr val="dk2"/>
              </a:solidFill>
            </a:endParaRPr>
          </a:p>
          <a:p>
            <a:pPr indent="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  <a:p>
            <a:pPr indent="-37465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•"/>
            </a:pPr>
            <a:r>
              <a:rPr lang="en-US" sz="2300">
                <a:solidFill>
                  <a:schemeClr val="dk2"/>
                </a:solidFill>
              </a:rPr>
              <a:t>	Cho dãy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5 với mọi n nguyên không âm, </a:t>
            </a:r>
            <a:r>
              <a:rPr b="1" lang="en-US" sz="2300">
                <a:solidFill>
                  <a:schemeClr val="dk2"/>
                </a:solidFill>
              </a:rPr>
              <a:t>có là lời giải của hệ thức truy hồi</a:t>
            </a:r>
            <a:r>
              <a:rPr lang="en-US" sz="2300">
                <a:solidFill>
                  <a:schemeClr val="dk2"/>
                </a:solidFill>
              </a:rPr>
              <a:t>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2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n-1</a:t>
            </a:r>
            <a:r>
              <a:rPr lang="en-US" sz="2300">
                <a:solidFill>
                  <a:schemeClr val="dk2"/>
                </a:solidFill>
              </a:rPr>
              <a:t> –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n-2</a:t>
            </a:r>
            <a:r>
              <a:rPr i="1" lang="en-US" sz="2300">
                <a:solidFill>
                  <a:schemeClr val="dk2"/>
                </a:solidFill>
              </a:rPr>
              <a:t>  </a:t>
            </a:r>
            <a:r>
              <a:rPr lang="en-US" sz="2300">
                <a:solidFill>
                  <a:schemeClr val="dk2"/>
                </a:solidFill>
              </a:rPr>
              <a:t>với 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2, 3, 4, …hay không?</a:t>
            </a:r>
            <a:endParaRPr sz="2300">
              <a:solidFill>
                <a:schemeClr val="dk2"/>
              </a:solidFill>
            </a:endParaRPr>
          </a:p>
          <a:p>
            <a:pPr indent="-317500" lvl="1" marL="74295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–"/>
            </a:pPr>
            <a:r>
              <a:rPr lang="en-US" sz="2300">
                <a:solidFill>
                  <a:schemeClr val="dk2"/>
                </a:solidFill>
              </a:rPr>
              <a:t> 2</a:t>
            </a:r>
            <a:r>
              <a:rPr i="1" lang="en-US" sz="2300">
                <a:solidFill>
                  <a:schemeClr val="dk2"/>
                </a:solidFill>
              </a:rPr>
              <a:t>an</a:t>
            </a:r>
            <a:r>
              <a:rPr lang="en-US" sz="2300">
                <a:solidFill>
                  <a:schemeClr val="dk2"/>
                </a:solidFill>
              </a:rPr>
              <a:t>-1 – </a:t>
            </a:r>
            <a:r>
              <a:rPr i="1" lang="en-US" sz="2300">
                <a:solidFill>
                  <a:schemeClr val="dk2"/>
                </a:solidFill>
              </a:rPr>
              <a:t>an</a:t>
            </a:r>
            <a:r>
              <a:rPr lang="en-US" sz="2300">
                <a:solidFill>
                  <a:schemeClr val="dk2"/>
                </a:solidFill>
              </a:rPr>
              <a:t>-2</a:t>
            </a:r>
            <a:r>
              <a:rPr i="1" lang="en-US" sz="2300">
                <a:solidFill>
                  <a:schemeClr val="dk2"/>
                </a:solidFill>
              </a:rPr>
              <a:t> </a:t>
            </a:r>
            <a:r>
              <a:rPr lang="en-US" sz="2300">
                <a:solidFill>
                  <a:schemeClr val="dk2"/>
                </a:solidFill>
              </a:rPr>
              <a:t> = ___________________</a:t>
            </a:r>
            <a:endParaRPr sz="2300">
              <a:solidFill>
                <a:schemeClr val="dk2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1f5093a89a_0_297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37" name="Google Shape;237;g11f5093a89a_0_297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 hợp C(n,k), k ≤ n,</a:t>
            </a:r>
            <a:endParaRPr sz="2400">
              <a:solidFill>
                <a:schemeClr val="dk2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tháp Hà nội,</a:t>
            </a:r>
            <a:endParaRPr sz="2400">
              <a:solidFill>
                <a:schemeClr val="dk2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họ nhà thỏ.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1f5093a89a_0_303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44" name="Google Shape;244;g11f5093a89a_0_303"/>
          <p:cNvSpPr txBox="1"/>
          <p:nvPr>
            <p:ph idx="1" type="body"/>
          </p:nvPr>
        </p:nvSpPr>
        <p:spPr>
          <a:xfrm>
            <a:off x="425200" y="1899700"/>
            <a:ext cx="7770000" cy="4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 hợp C(n,k), k ≤ n</a:t>
            </a:r>
            <a:r>
              <a:rPr lang="en-US" sz="2400">
                <a:solidFill>
                  <a:schemeClr val="dk2"/>
                </a:solidFill>
              </a:rPr>
              <a:t>.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Ứng dụng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Xây dựng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                       C</a:t>
            </a:r>
            <a:r>
              <a:rPr baseline="30000" lang="en-US" sz="2400">
                <a:solidFill>
                  <a:schemeClr val="dk2"/>
                </a:solidFill>
              </a:rPr>
              <a:t>k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=  C</a:t>
            </a:r>
            <a:r>
              <a:rPr baseline="30000" lang="en-US" sz="2400">
                <a:solidFill>
                  <a:schemeClr val="dk2"/>
                </a:solidFill>
              </a:rPr>
              <a:t>k-1</a:t>
            </a:r>
            <a:r>
              <a:rPr baseline="-25000" lang="en-US" sz="2400">
                <a:solidFill>
                  <a:schemeClr val="dk2"/>
                </a:solidFill>
              </a:rPr>
              <a:t>n-1</a:t>
            </a:r>
            <a:r>
              <a:rPr baseline="30000" lang="en-US" sz="2400">
                <a:solidFill>
                  <a:schemeClr val="dk2"/>
                </a:solidFill>
              </a:rPr>
              <a:t>    </a:t>
            </a:r>
            <a:r>
              <a:rPr lang="en-US" sz="2400">
                <a:solidFill>
                  <a:schemeClr val="dk2"/>
                </a:solidFill>
              </a:rPr>
              <a:t>+    C</a:t>
            </a:r>
            <a:r>
              <a:rPr baseline="30000" lang="en-US" sz="2400">
                <a:solidFill>
                  <a:schemeClr val="dk2"/>
                </a:solidFill>
              </a:rPr>
              <a:t>k-1</a:t>
            </a:r>
            <a:r>
              <a:rPr baseline="-25000" lang="en-US" sz="2400">
                <a:solidFill>
                  <a:schemeClr val="dk2"/>
                </a:solidFill>
              </a:rPr>
              <a:t>n </a:t>
            </a:r>
            <a:r>
              <a:rPr lang="en-US" sz="2400">
                <a:solidFill>
                  <a:schemeClr val="dk2"/>
                </a:solidFill>
              </a:rPr>
              <a:t>,  C</a:t>
            </a:r>
            <a:r>
              <a:rPr baseline="30000" lang="en-US" sz="2400">
                <a:solidFill>
                  <a:schemeClr val="dk2"/>
                </a:solidFill>
              </a:rPr>
              <a:t>0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= C</a:t>
            </a:r>
            <a:r>
              <a:rPr baseline="30000" lang="en-US" sz="2400">
                <a:solidFill>
                  <a:schemeClr val="dk2"/>
                </a:solidFill>
              </a:rPr>
              <a:t>n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= 1.</a:t>
            </a:r>
            <a:endParaRPr baseline="-25000"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descr="1.jpg" id="245" name="Google Shape;245;g11f5093a89a_0_3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1875" y="2915225"/>
            <a:ext cx="4925000" cy="2268425"/>
          </a:xfrm>
          <a:prstGeom prst="rect">
            <a:avLst/>
          </a:prstGeom>
          <a:noFill/>
          <a:ln cap="flat" cmpd="sng" w="9525">
            <a:solidFill>
              <a:srgbClr val="2416D4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f5093a89a_0_310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52" name="Google Shape;252;g11f5093a89a_0_310"/>
          <p:cNvSpPr txBox="1"/>
          <p:nvPr>
            <p:ph idx="1" type="body"/>
          </p:nvPr>
        </p:nvSpPr>
        <p:spPr>
          <a:xfrm>
            <a:off x="425200" y="1899700"/>
            <a:ext cx="7770000" cy="4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 hợp C(n,k), k ≤ n</a:t>
            </a:r>
            <a:r>
              <a:rPr lang="en-US" sz="2400">
                <a:solidFill>
                  <a:schemeClr val="dk2"/>
                </a:solidFill>
              </a:rPr>
              <a:t>.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             </a:t>
            </a:r>
            <a:r>
              <a:rPr b="1" lang="en-US" sz="2400">
                <a:solidFill>
                  <a:schemeClr val="dk2"/>
                </a:solidFill>
              </a:rPr>
              <a:t>  </a:t>
            </a:r>
            <a:r>
              <a:rPr b="1" lang="en-US" sz="2400">
                <a:solidFill>
                  <a:schemeClr val="dk2"/>
                </a:solidFill>
              </a:rPr>
              <a:t>C</a:t>
            </a:r>
            <a:r>
              <a:rPr b="1" baseline="30000" lang="en-US" sz="2400">
                <a:solidFill>
                  <a:schemeClr val="dk2"/>
                </a:solidFill>
              </a:rPr>
              <a:t>k</a:t>
            </a:r>
            <a:r>
              <a:rPr b="1" baseline="-25000" lang="en-US" sz="2400">
                <a:solidFill>
                  <a:schemeClr val="dk2"/>
                </a:solidFill>
              </a:rPr>
              <a:t>n</a:t>
            </a:r>
            <a:r>
              <a:rPr b="1" lang="en-US" sz="2400">
                <a:solidFill>
                  <a:schemeClr val="dk2"/>
                </a:solidFill>
              </a:rPr>
              <a:t> =  C</a:t>
            </a:r>
            <a:r>
              <a:rPr b="1" baseline="30000" lang="en-US" sz="2400">
                <a:solidFill>
                  <a:schemeClr val="dk2"/>
                </a:solidFill>
              </a:rPr>
              <a:t>k-1</a:t>
            </a:r>
            <a:r>
              <a:rPr b="1" baseline="-25000" lang="en-US" sz="2400">
                <a:solidFill>
                  <a:schemeClr val="dk2"/>
                </a:solidFill>
              </a:rPr>
              <a:t>n-1</a:t>
            </a:r>
            <a:r>
              <a:rPr b="1" baseline="30000" lang="en-US" sz="2400">
                <a:solidFill>
                  <a:schemeClr val="dk2"/>
                </a:solidFill>
              </a:rPr>
              <a:t>    </a:t>
            </a:r>
            <a:r>
              <a:rPr b="1" lang="en-US" sz="2400">
                <a:solidFill>
                  <a:schemeClr val="dk2"/>
                </a:solidFill>
              </a:rPr>
              <a:t>+    C</a:t>
            </a:r>
            <a:r>
              <a:rPr b="1" baseline="30000" lang="en-US" sz="2400">
                <a:solidFill>
                  <a:schemeClr val="dk2"/>
                </a:solidFill>
              </a:rPr>
              <a:t>k</a:t>
            </a:r>
            <a:r>
              <a:rPr b="1" baseline="-25000" lang="en-US" sz="2400">
                <a:solidFill>
                  <a:schemeClr val="dk2"/>
                </a:solidFill>
              </a:rPr>
              <a:t>n-1 </a:t>
            </a:r>
            <a:r>
              <a:rPr b="1" lang="en-US" sz="2400">
                <a:solidFill>
                  <a:schemeClr val="dk2"/>
                </a:solidFill>
              </a:rPr>
              <a:t>,  C</a:t>
            </a:r>
            <a:r>
              <a:rPr b="1" baseline="30000" lang="en-US" sz="2400">
                <a:solidFill>
                  <a:schemeClr val="dk2"/>
                </a:solidFill>
              </a:rPr>
              <a:t>0</a:t>
            </a:r>
            <a:r>
              <a:rPr b="1" baseline="-25000" lang="en-US" sz="2400">
                <a:solidFill>
                  <a:schemeClr val="dk2"/>
                </a:solidFill>
              </a:rPr>
              <a:t>n</a:t>
            </a:r>
            <a:r>
              <a:rPr b="1" lang="en-US" sz="2400">
                <a:solidFill>
                  <a:schemeClr val="dk2"/>
                </a:solidFill>
              </a:rPr>
              <a:t> = C</a:t>
            </a:r>
            <a:r>
              <a:rPr b="1" baseline="30000" lang="en-US" sz="2400">
                <a:solidFill>
                  <a:schemeClr val="dk2"/>
                </a:solidFill>
              </a:rPr>
              <a:t>n</a:t>
            </a:r>
            <a:r>
              <a:rPr b="1" baseline="-25000" lang="en-US" sz="2400">
                <a:solidFill>
                  <a:schemeClr val="dk2"/>
                </a:solidFill>
              </a:rPr>
              <a:t>n</a:t>
            </a:r>
            <a:r>
              <a:rPr b="1" lang="en-US" sz="2400">
                <a:solidFill>
                  <a:schemeClr val="dk2"/>
                </a:solidFill>
              </a:rPr>
              <a:t> = 1.</a:t>
            </a:r>
            <a:endParaRPr b="1" baseline="-25000" sz="24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-"/>
            </a:pPr>
            <a:r>
              <a:rPr lang="en-US" sz="2200">
                <a:solidFill>
                  <a:schemeClr val="dk2"/>
                </a:solidFill>
              </a:rPr>
              <a:t>Cố định a trong n phần tử</a:t>
            </a:r>
            <a:endParaRPr sz="22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-"/>
            </a:pPr>
            <a:r>
              <a:rPr lang="en-US" sz="2200">
                <a:solidFill>
                  <a:schemeClr val="dk2"/>
                </a:solidFill>
              </a:rPr>
              <a:t>Chia cách chọn tập con k phần tử  của tập n phần tử thành 2 lớp: </a:t>
            </a:r>
            <a:endParaRPr sz="2200">
              <a:solidFill>
                <a:schemeClr val="dk2"/>
              </a:solidFill>
            </a:endParaRPr>
          </a:p>
          <a:p>
            <a:pPr indent="-368300" lvl="1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b="1"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 chứa a</a:t>
            </a: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30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k-1</a:t>
            </a:r>
            <a:r>
              <a:rPr b="1" baseline="-25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b="1" baseline="30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13716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b="1"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 không chứa a:</a:t>
            </a: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30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baseline="-25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 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-"/>
            </a:pPr>
            <a:r>
              <a:rPr lang="en-US" sz="2200">
                <a:solidFill>
                  <a:schemeClr val="dk2"/>
                </a:solidFill>
              </a:rPr>
              <a:t>Nguyên lý cộng: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</a:rPr>
              <a:t>                 C</a:t>
            </a:r>
            <a:r>
              <a:rPr b="1" baseline="30000" lang="en-US" sz="2400">
                <a:solidFill>
                  <a:schemeClr val="dk2"/>
                </a:solidFill>
              </a:rPr>
              <a:t>k</a:t>
            </a:r>
            <a:r>
              <a:rPr b="1" baseline="-25000" lang="en-US" sz="2400">
                <a:solidFill>
                  <a:schemeClr val="dk2"/>
                </a:solidFill>
              </a:rPr>
              <a:t>n</a:t>
            </a:r>
            <a:r>
              <a:rPr b="1" lang="en-US" sz="2400">
                <a:solidFill>
                  <a:schemeClr val="dk2"/>
                </a:solidFill>
              </a:rPr>
              <a:t> =  C</a:t>
            </a:r>
            <a:r>
              <a:rPr b="1" baseline="30000" lang="en-US" sz="2400">
                <a:solidFill>
                  <a:schemeClr val="dk2"/>
                </a:solidFill>
              </a:rPr>
              <a:t>k-1</a:t>
            </a:r>
            <a:r>
              <a:rPr b="1" baseline="-25000" lang="en-US" sz="2400">
                <a:solidFill>
                  <a:schemeClr val="dk2"/>
                </a:solidFill>
              </a:rPr>
              <a:t>n-1</a:t>
            </a:r>
            <a:r>
              <a:rPr b="1" baseline="30000" lang="en-US" sz="2400">
                <a:solidFill>
                  <a:schemeClr val="dk2"/>
                </a:solidFill>
              </a:rPr>
              <a:t>    </a:t>
            </a:r>
            <a:r>
              <a:rPr b="1" lang="en-US" sz="2400">
                <a:solidFill>
                  <a:schemeClr val="dk2"/>
                </a:solidFill>
              </a:rPr>
              <a:t>+    C</a:t>
            </a:r>
            <a:r>
              <a:rPr b="1" baseline="30000" lang="en-US" sz="2400">
                <a:solidFill>
                  <a:schemeClr val="dk2"/>
                </a:solidFill>
              </a:rPr>
              <a:t>k</a:t>
            </a:r>
            <a:r>
              <a:rPr b="1" baseline="-25000" lang="en-US" sz="2400">
                <a:solidFill>
                  <a:schemeClr val="dk2"/>
                </a:solidFill>
              </a:rPr>
              <a:t>n-1 </a:t>
            </a:r>
            <a:r>
              <a:rPr b="1" lang="en-US" sz="2400">
                <a:solidFill>
                  <a:schemeClr val="dk2"/>
                </a:solidFill>
              </a:rPr>
              <a:t>,</a:t>
            </a:r>
            <a:endParaRPr sz="2200">
              <a:solidFill>
                <a:schemeClr val="dk2"/>
              </a:solidFill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253" name="Google Shape;253;g11f5093a89a_0_310"/>
          <p:cNvSpPr txBox="1"/>
          <p:nvPr/>
        </p:nvSpPr>
        <p:spPr>
          <a:xfrm>
            <a:off x="5407425" y="4787417"/>
            <a:ext cx="3429000" cy="1816200"/>
          </a:xfrm>
          <a:prstGeom prst="rect">
            <a:avLst/>
          </a:prstGeom>
          <a:solidFill>
            <a:srgbClr val="60B5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 c(int m,int n){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	if(m==0) return 1;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	else if(m==n) return 1;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	else return (c(m-1,n-1)+c(m,n-1));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endParaRPr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1f5093a89a_0_319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60" name="Google Shape;260;g11f5093a89a_0_319"/>
          <p:cNvSpPr txBox="1"/>
          <p:nvPr>
            <p:ph idx="1" type="body"/>
          </p:nvPr>
        </p:nvSpPr>
        <p:spPr>
          <a:xfrm>
            <a:off x="425200" y="1899700"/>
            <a:ext cx="7976100" cy="4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Bài toán tháp Hà nội</a:t>
            </a:r>
            <a:endParaRPr baseline="-25000" sz="2400">
              <a:solidFill>
                <a:schemeClr val="dk2"/>
              </a:solidFill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>
                <a:solidFill>
                  <a:schemeClr val="dk2"/>
                </a:solidFill>
              </a:rPr>
              <a:t>Cho n cái đĩa có kích thước khác nhau được 3 cái cọc   A, B, C.</a:t>
            </a:r>
            <a:endParaRPr sz="2300">
              <a:solidFill>
                <a:schemeClr val="dk2"/>
              </a:solidFill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-"/>
            </a:pPr>
            <a:r>
              <a:rPr lang="en-US" sz="2300">
                <a:solidFill>
                  <a:schemeClr val="dk2"/>
                </a:solidFill>
              </a:rPr>
              <a:t>n đĩa được xếp trên cọc A;</a:t>
            </a:r>
            <a:endParaRPr sz="2300">
              <a:solidFill>
                <a:schemeClr val="dk2"/>
              </a:solidFill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-"/>
            </a:pPr>
            <a:r>
              <a:rPr lang="en-US" sz="2300">
                <a:solidFill>
                  <a:schemeClr val="dk2"/>
                </a:solidFill>
              </a:rPr>
              <a:t>Đĩ được bố trí theo thứ tự kích thước giảm dần từ dưới lên trên.</a:t>
            </a:r>
            <a:endParaRPr sz="2300">
              <a:solidFill>
                <a:schemeClr val="dk2"/>
              </a:solidFill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>
                <a:solidFill>
                  <a:schemeClr val="dk2"/>
                </a:solidFill>
              </a:rPr>
              <a:t>Mục đích:  </a:t>
            </a:r>
            <a:r>
              <a:rPr b="1" lang="en-US" sz="2300">
                <a:solidFill>
                  <a:schemeClr val="dk2"/>
                </a:solidFill>
              </a:rPr>
              <a:t>xếp được tất cả đĩa lên cọc C</a:t>
            </a:r>
            <a:endParaRPr b="1" sz="2300">
              <a:solidFill>
                <a:schemeClr val="dk2"/>
              </a:solidFill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•"/>
            </a:pPr>
            <a:r>
              <a:rPr lang="en-US" sz="2300">
                <a:solidFill>
                  <a:schemeClr val="dk2"/>
                </a:solidFill>
              </a:rPr>
              <a:t>Game online(7 phút):</a:t>
            </a:r>
            <a:endParaRPr sz="23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2"/>
                </a:solidFill>
              </a:rPr>
              <a:t>            </a:t>
            </a:r>
            <a:r>
              <a:rPr lang="en-US" sz="14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https://webgamesonline.com/towers-of-hanoi/index.php</a:t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f5093a89a_0_327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67" name="Google Shape;267;g11f5093a89a_0_327"/>
          <p:cNvSpPr txBox="1"/>
          <p:nvPr>
            <p:ph idx="1" type="body"/>
          </p:nvPr>
        </p:nvSpPr>
        <p:spPr>
          <a:xfrm>
            <a:off x="425200" y="1899700"/>
            <a:ext cx="8305800" cy="485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Bài toán tháp Hà nội</a:t>
            </a:r>
            <a:endParaRPr baseline="-25000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</a:rPr>
              <a:t>       </a:t>
            </a:r>
            <a:r>
              <a:rPr b="1" lang="en-US" sz="2200">
                <a:solidFill>
                  <a:schemeClr val="dk2"/>
                </a:solidFill>
              </a:rPr>
              <a:t> Quy tắc chơi </a:t>
            </a:r>
            <a:endParaRPr b="1" sz="2200">
              <a:solidFill>
                <a:schemeClr val="dk2"/>
              </a:solidFill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Mỗi lần chuyển chỉ được chuyển 1 đĩa và chỉ được xếp đĩa nhỏ lên trên đĩa lớn hơn.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Mỗi đĩa có thể chuyển từ cột này sang cột khác;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quá trình chuyển được phép sử dụng cọc B làm trung gian.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</a:rPr>
              <a:t>         </a:t>
            </a:r>
            <a:r>
              <a:rPr b="1" lang="en-US" sz="2200">
                <a:solidFill>
                  <a:schemeClr val="dk2"/>
                </a:solidFill>
              </a:rPr>
              <a:t>Mục đích :  </a:t>
            </a:r>
            <a:endParaRPr b="1" sz="2200">
              <a:solidFill>
                <a:schemeClr val="dk2"/>
              </a:solidFill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>
                <a:solidFill>
                  <a:schemeClr val="dk2"/>
                </a:solidFill>
              </a:rPr>
              <a:t>x</a:t>
            </a: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ếp toàn bộ đĩa lên cọc C, sao cho số lần dịch chuyển đĩa ít nhất 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f5093a89a_0_339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74" name="Google Shape;274;g11f5093a89a_0_339"/>
          <p:cNvSpPr/>
          <p:nvPr/>
        </p:nvSpPr>
        <p:spPr>
          <a:xfrm>
            <a:off x="7010400" y="3049465"/>
            <a:ext cx="381000" cy="1600200"/>
          </a:xfrm>
          <a:prstGeom prst="downArrow">
            <a:avLst>
              <a:gd fmla="val 50000" name="adj1"/>
              <a:gd fmla="val 10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11f5093a89a_0_339"/>
          <p:cNvSpPr/>
          <p:nvPr/>
        </p:nvSpPr>
        <p:spPr>
          <a:xfrm>
            <a:off x="1289050" y="1819152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276" name="Google Shape;276;g11f5093a89a_0_339"/>
          <p:cNvSpPr/>
          <p:nvPr/>
        </p:nvSpPr>
        <p:spPr>
          <a:xfrm>
            <a:off x="922337" y="3003427"/>
            <a:ext cx="838188" cy="182574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277" name="Google Shape;277;g11f5093a89a_0_339"/>
          <p:cNvSpPr/>
          <p:nvPr/>
        </p:nvSpPr>
        <p:spPr>
          <a:xfrm>
            <a:off x="1125537" y="2698627"/>
            <a:ext cx="482598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8" name="Google Shape;278;g11f5093a89a_0_339"/>
          <p:cNvGrpSpPr/>
          <p:nvPr/>
        </p:nvGrpSpPr>
        <p:grpSpPr>
          <a:xfrm>
            <a:off x="2751137" y="1845529"/>
            <a:ext cx="952500" cy="1428750"/>
            <a:chOff x="2299" y="1174"/>
            <a:chExt cx="600" cy="900"/>
          </a:xfrm>
        </p:grpSpPr>
        <p:sp>
          <p:nvSpPr>
            <p:cNvPr id="279" name="Google Shape;279;g11f5093a89a_0_339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g11f5093a89a_0_339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1" name="Google Shape;281;g11f5093a89a_0_339"/>
          <p:cNvGrpSpPr/>
          <p:nvPr/>
        </p:nvGrpSpPr>
        <p:grpSpPr>
          <a:xfrm>
            <a:off x="4608635" y="1854933"/>
            <a:ext cx="952500" cy="1428750"/>
            <a:chOff x="2299" y="1174"/>
            <a:chExt cx="600" cy="900"/>
          </a:xfrm>
        </p:grpSpPr>
        <p:sp>
          <p:nvSpPr>
            <p:cNvPr id="282" name="Google Shape;282;g11f5093a89a_0_339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3" name="Google Shape;283;g11f5093a89a_0_339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84" name="Google Shape;284;g11f5093a89a_0_339"/>
          <p:cNvSpPr/>
          <p:nvPr/>
        </p:nvSpPr>
        <p:spPr>
          <a:xfrm>
            <a:off x="769937" y="5711703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g11f5093a89a_0_339"/>
          <p:cNvSpPr/>
          <p:nvPr/>
        </p:nvSpPr>
        <p:spPr>
          <a:xfrm>
            <a:off x="1296987" y="4328990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g11f5093a89a_0_339"/>
          <p:cNvSpPr txBox="1"/>
          <p:nvPr/>
        </p:nvSpPr>
        <p:spPr>
          <a:xfrm>
            <a:off x="1058862" y="5894265"/>
            <a:ext cx="40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87" name="Google Shape;287;g11f5093a89a_0_339"/>
          <p:cNvSpPr txBox="1"/>
          <p:nvPr/>
        </p:nvSpPr>
        <p:spPr>
          <a:xfrm>
            <a:off x="3141662" y="5894265"/>
            <a:ext cx="38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88" name="Google Shape;288;g11f5093a89a_0_339"/>
          <p:cNvSpPr txBox="1"/>
          <p:nvPr/>
        </p:nvSpPr>
        <p:spPr>
          <a:xfrm>
            <a:off x="4945062" y="5894265"/>
            <a:ext cx="40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grpSp>
        <p:nvGrpSpPr>
          <p:cNvPr id="289" name="Google Shape;289;g11f5093a89a_0_339"/>
          <p:cNvGrpSpPr/>
          <p:nvPr/>
        </p:nvGrpSpPr>
        <p:grpSpPr>
          <a:xfrm>
            <a:off x="2745886" y="4368556"/>
            <a:ext cx="952500" cy="1428750"/>
            <a:chOff x="2299" y="1174"/>
            <a:chExt cx="600" cy="900"/>
          </a:xfrm>
        </p:grpSpPr>
        <p:sp>
          <p:nvSpPr>
            <p:cNvPr id="290" name="Google Shape;290;g11f5093a89a_0_339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1" name="Google Shape;291;g11f5093a89a_0_339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92" name="Google Shape;292;g11f5093a89a_0_339"/>
          <p:cNvSpPr/>
          <p:nvPr/>
        </p:nvSpPr>
        <p:spPr>
          <a:xfrm>
            <a:off x="5102225" y="4312016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g11f5093a89a_0_339"/>
          <p:cNvSpPr/>
          <p:nvPr/>
        </p:nvSpPr>
        <p:spPr>
          <a:xfrm>
            <a:off x="4579937" y="5701445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g11f5093a89a_0_339"/>
          <p:cNvSpPr txBox="1"/>
          <p:nvPr/>
        </p:nvSpPr>
        <p:spPr>
          <a:xfrm>
            <a:off x="1608125" y="6370525"/>
            <a:ext cx="4208100" cy="369300"/>
          </a:xfrm>
          <a:prstGeom prst="rect">
            <a:avLst/>
          </a:prstGeom>
          <a:solidFill>
            <a:srgbClr val="ECC7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 trí trung gian trên tháp Hà Nội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11f5093a89a_0_339"/>
          <p:cNvSpPr txBox="1"/>
          <p:nvPr/>
        </p:nvSpPr>
        <p:spPr>
          <a:xfrm>
            <a:off x="617537" y="2179515"/>
            <a:ext cx="914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đĩa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11f5093a89a_0_339"/>
          <p:cNvSpPr txBox="1"/>
          <p:nvPr/>
        </p:nvSpPr>
        <p:spPr>
          <a:xfrm>
            <a:off x="2065337" y="4846515"/>
            <a:ext cx="1295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đĩa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g11f5093a89a_0_339"/>
          <p:cNvSpPr txBox="1"/>
          <p:nvPr/>
        </p:nvSpPr>
        <p:spPr>
          <a:xfrm>
            <a:off x="6553200" y="5868865"/>
            <a:ext cx="1828800" cy="708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i="1" lang="en-US"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n-</a:t>
            </a:r>
            <a:r>
              <a:rPr lang="en-US"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số lần chuyển n-1 đĩa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11f5093a89a_0_339"/>
          <p:cNvSpPr/>
          <p:nvPr/>
        </p:nvSpPr>
        <p:spPr>
          <a:xfrm>
            <a:off x="6477000" y="1830265"/>
            <a:ext cx="1508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Gọi </a:t>
            </a:r>
            <a:r>
              <a:rPr i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i="1"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Số lần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chuyển </a:t>
            </a:r>
            <a:r>
              <a:rPr i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đĩa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11f5093a89a_0_339"/>
          <p:cNvSpPr txBox="1"/>
          <p:nvPr/>
        </p:nvSpPr>
        <p:spPr>
          <a:xfrm rot="5400000">
            <a:off x="6500850" y="3654265"/>
            <a:ext cx="140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g11f5093a89a_0_339"/>
          <p:cNvSpPr/>
          <p:nvPr/>
        </p:nvSpPr>
        <p:spPr>
          <a:xfrm>
            <a:off x="6172200" y="4878265"/>
            <a:ext cx="2613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Chuyển </a:t>
            </a:r>
            <a:r>
              <a:rPr i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-1 đĩa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ở phần trên sang cọc B</a:t>
            </a:r>
            <a:endParaRPr/>
          </a:p>
        </p:txBody>
      </p:sp>
      <p:sp>
        <p:nvSpPr>
          <p:cNvPr id="301" name="Google Shape;301;g11f5093a89a_0_339"/>
          <p:cNvSpPr/>
          <p:nvPr/>
        </p:nvSpPr>
        <p:spPr>
          <a:xfrm>
            <a:off x="2628975" y="3185995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02" name="Google Shape;302;g11f5093a89a_0_339"/>
          <p:cNvSpPr/>
          <p:nvPr/>
        </p:nvSpPr>
        <p:spPr>
          <a:xfrm>
            <a:off x="1037481" y="2846364"/>
            <a:ext cx="685800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g11f5093a89a_0_339"/>
          <p:cNvSpPr/>
          <p:nvPr/>
        </p:nvSpPr>
        <p:spPr>
          <a:xfrm>
            <a:off x="804975" y="3186003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11f5093a89a_0_339"/>
          <p:cNvSpPr/>
          <p:nvPr/>
        </p:nvSpPr>
        <p:spPr>
          <a:xfrm>
            <a:off x="4452975" y="3174807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11f5093a89a_0_339"/>
          <p:cNvSpPr/>
          <p:nvPr/>
        </p:nvSpPr>
        <p:spPr>
          <a:xfrm>
            <a:off x="2628987" y="5711130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06" name="Google Shape;306;g11f5093a89a_0_339"/>
          <p:cNvSpPr/>
          <p:nvPr/>
        </p:nvSpPr>
        <p:spPr>
          <a:xfrm>
            <a:off x="990637" y="5507147"/>
            <a:ext cx="838188" cy="182574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11f5093a89a_0_339"/>
          <p:cNvSpPr/>
          <p:nvPr/>
        </p:nvSpPr>
        <p:spPr>
          <a:xfrm>
            <a:off x="3146850" y="1819153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g11f5093a89a_0_339"/>
          <p:cNvSpPr/>
          <p:nvPr/>
        </p:nvSpPr>
        <p:spPr>
          <a:xfrm>
            <a:off x="5006913" y="1819153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g11f5093a89a_0_339"/>
          <p:cNvSpPr/>
          <p:nvPr/>
        </p:nvSpPr>
        <p:spPr>
          <a:xfrm>
            <a:off x="3098800" y="4327978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10" name="Google Shape;310;g11f5093a89a_0_339"/>
          <p:cNvSpPr/>
          <p:nvPr/>
        </p:nvSpPr>
        <p:spPr>
          <a:xfrm>
            <a:off x="2927362" y="5405290"/>
            <a:ext cx="482598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11" name="Google Shape;311;g11f5093a89a_0_339"/>
          <p:cNvSpPr/>
          <p:nvPr/>
        </p:nvSpPr>
        <p:spPr>
          <a:xfrm>
            <a:off x="2839306" y="5553027"/>
            <a:ext cx="685800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1f5093a89a_0_385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318" name="Google Shape;318;g11f5093a89a_0_385"/>
          <p:cNvSpPr/>
          <p:nvPr/>
        </p:nvSpPr>
        <p:spPr>
          <a:xfrm>
            <a:off x="7010400" y="3049465"/>
            <a:ext cx="381000" cy="1600200"/>
          </a:xfrm>
          <a:prstGeom prst="downArrow">
            <a:avLst>
              <a:gd fmla="val 50000" name="adj1"/>
              <a:gd fmla="val 10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11f5093a89a_0_385"/>
          <p:cNvSpPr/>
          <p:nvPr/>
        </p:nvSpPr>
        <p:spPr>
          <a:xfrm>
            <a:off x="1289050" y="1819152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0" name="Google Shape;320;g11f5093a89a_0_385"/>
          <p:cNvGrpSpPr/>
          <p:nvPr/>
        </p:nvGrpSpPr>
        <p:grpSpPr>
          <a:xfrm>
            <a:off x="2751137" y="1845529"/>
            <a:ext cx="952500" cy="1428750"/>
            <a:chOff x="2299" y="1174"/>
            <a:chExt cx="600" cy="900"/>
          </a:xfrm>
        </p:grpSpPr>
        <p:sp>
          <p:nvSpPr>
            <p:cNvPr id="321" name="Google Shape;321;g11f5093a89a_0_385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g11f5093a89a_0_385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3" name="Google Shape;323;g11f5093a89a_0_385"/>
          <p:cNvGrpSpPr/>
          <p:nvPr/>
        </p:nvGrpSpPr>
        <p:grpSpPr>
          <a:xfrm>
            <a:off x="4608635" y="1854933"/>
            <a:ext cx="952500" cy="1428750"/>
            <a:chOff x="2299" y="1174"/>
            <a:chExt cx="600" cy="900"/>
          </a:xfrm>
        </p:grpSpPr>
        <p:sp>
          <p:nvSpPr>
            <p:cNvPr id="324" name="Google Shape;324;g11f5093a89a_0_385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g11f5093a89a_0_385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26" name="Google Shape;326;g11f5093a89a_0_385"/>
          <p:cNvSpPr/>
          <p:nvPr/>
        </p:nvSpPr>
        <p:spPr>
          <a:xfrm>
            <a:off x="769937" y="5711703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g11f5093a89a_0_385"/>
          <p:cNvSpPr/>
          <p:nvPr/>
        </p:nvSpPr>
        <p:spPr>
          <a:xfrm>
            <a:off x="1296987" y="4328990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g11f5093a89a_0_385"/>
          <p:cNvSpPr txBox="1"/>
          <p:nvPr/>
        </p:nvSpPr>
        <p:spPr>
          <a:xfrm>
            <a:off x="1058862" y="5894265"/>
            <a:ext cx="40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329" name="Google Shape;329;g11f5093a89a_0_385"/>
          <p:cNvSpPr txBox="1"/>
          <p:nvPr/>
        </p:nvSpPr>
        <p:spPr>
          <a:xfrm>
            <a:off x="3141662" y="5894265"/>
            <a:ext cx="38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30" name="Google Shape;330;g11f5093a89a_0_385"/>
          <p:cNvSpPr txBox="1"/>
          <p:nvPr/>
        </p:nvSpPr>
        <p:spPr>
          <a:xfrm>
            <a:off x="4945062" y="5894265"/>
            <a:ext cx="40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grpSp>
        <p:nvGrpSpPr>
          <p:cNvPr id="331" name="Google Shape;331;g11f5093a89a_0_385"/>
          <p:cNvGrpSpPr/>
          <p:nvPr/>
        </p:nvGrpSpPr>
        <p:grpSpPr>
          <a:xfrm>
            <a:off x="2745886" y="4368556"/>
            <a:ext cx="952500" cy="1428750"/>
            <a:chOff x="2299" y="1174"/>
            <a:chExt cx="600" cy="900"/>
          </a:xfrm>
        </p:grpSpPr>
        <p:sp>
          <p:nvSpPr>
            <p:cNvPr id="332" name="Google Shape;332;g11f5093a89a_0_385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g11f5093a89a_0_385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4" name="Google Shape;334;g11f5093a89a_0_385"/>
          <p:cNvSpPr/>
          <p:nvPr/>
        </p:nvSpPr>
        <p:spPr>
          <a:xfrm>
            <a:off x="5102225" y="4312016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g11f5093a89a_0_385"/>
          <p:cNvSpPr/>
          <p:nvPr/>
        </p:nvSpPr>
        <p:spPr>
          <a:xfrm>
            <a:off x="4579937" y="5701445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g11f5093a89a_0_385"/>
          <p:cNvSpPr txBox="1"/>
          <p:nvPr/>
        </p:nvSpPr>
        <p:spPr>
          <a:xfrm>
            <a:off x="1608125" y="6370525"/>
            <a:ext cx="4208100" cy="369300"/>
          </a:xfrm>
          <a:prstGeom prst="rect">
            <a:avLst/>
          </a:prstGeom>
          <a:solidFill>
            <a:srgbClr val="ECC7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 trí  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cuối cùng 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tháp Hà Nội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g11f5093a89a_0_385"/>
          <p:cNvSpPr txBox="1"/>
          <p:nvPr/>
        </p:nvSpPr>
        <p:spPr>
          <a:xfrm>
            <a:off x="2065337" y="4846515"/>
            <a:ext cx="1295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đĩa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g11f5093a89a_0_385"/>
          <p:cNvSpPr/>
          <p:nvPr/>
        </p:nvSpPr>
        <p:spPr>
          <a:xfrm>
            <a:off x="5895242" y="1830275"/>
            <a:ext cx="271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Chuyển đĩa lớn nhất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sang cọc C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11f5093a89a_0_385"/>
          <p:cNvSpPr txBox="1"/>
          <p:nvPr/>
        </p:nvSpPr>
        <p:spPr>
          <a:xfrm rot="5400000">
            <a:off x="6500850" y="3654265"/>
            <a:ext cx="140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g11f5093a89a_0_385"/>
          <p:cNvSpPr/>
          <p:nvPr/>
        </p:nvSpPr>
        <p:spPr>
          <a:xfrm>
            <a:off x="6172200" y="4878265"/>
            <a:ext cx="2613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Chuyển phần trên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n-1 đĩa sang cọc 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11f5093a89a_0_385"/>
          <p:cNvSpPr/>
          <p:nvPr/>
        </p:nvSpPr>
        <p:spPr>
          <a:xfrm>
            <a:off x="2628975" y="3185995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g11f5093a89a_0_385"/>
          <p:cNvSpPr/>
          <p:nvPr/>
        </p:nvSpPr>
        <p:spPr>
          <a:xfrm>
            <a:off x="804975" y="3186003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g11f5093a89a_0_385"/>
          <p:cNvSpPr/>
          <p:nvPr/>
        </p:nvSpPr>
        <p:spPr>
          <a:xfrm>
            <a:off x="4452975" y="3174807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g11f5093a89a_0_385"/>
          <p:cNvSpPr/>
          <p:nvPr/>
        </p:nvSpPr>
        <p:spPr>
          <a:xfrm>
            <a:off x="2628987" y="5711130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45" name="Google Shape;345;g11f5093a89a_0_385"/>
          <p:cNvSpPr/>
          <p:nvPr/>
        </p:nvSpPr>
        <p:spPr>
          <a:xfrm>
            <a:off x="4766537" y="5508747"/>
            <a:ext cx="838188" cy="182574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g11f5093a89a_0_385"/>
          <p:cNvSpPr/>
          <p:nvPr/>
        </p:nvSpPr>
        <p:spPr>
          <a:xfrm>
            <a:off x="3146850" y="1819153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g11f5093a89a_0_385"/>
          <p:cNvSpPr/>
          <p:nvPr/>
        </p:nvSpPr>
        <p:spPr>
          <a:xfrm>
            <a:off x="5006913" y="1819153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g11f5093a89a_0_385"/>
          <p:cNvSpPr/>
          <p:nvPr/>
        </p:nvSpPr>
        <p:spPr>
          <a:xfrm>
            <a:off x="3098800" y="4327978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49" name="Google Shape;349;g11f5093a89a_0_385"/>
          <p:cNvSpPr/>
          <p:nvPr/>
        </p:nvSpPr>
        <p:spPr>
          <a:xfrm>
            <a:off x="2969302" y="2877392"/>
            <a:ext cx="482598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50" name="Google Shape;350;g11f5093a89a_0_385"/>
          <p:cNvSpPr/>
          <p:nvPr/>
        </p:nvSpPr>
        <p:spPr>
          <a:xfrm>
            <a:off x="2881246" y="3025129"/>
            <a:ext cx="685800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51" name="Google Shape;351;g11f5093a89a_0_385"/>
          <p:cNvSpPr/>
          <p:nvPr/>
        </p:nvSpPr>
        <p:spPr>
          <a:xfrm>
            <a:off x="4648237" y="3001411"/>
            <a:ext cx="838188" cy="182574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52" name="Google Shape;352;g11f5093a89a_0_385"/>
          <p:cNvSpPr/>
          <p:nvPr/>
        </p:nvSpPr>
        <p:spPr>
          <a:xfrm>
            <a:off x="4932118" y="5198492"/>
            <a:ext cx="482598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53" name="Google Shape;353;g11f5093a89a_0_385"/>
          <p:cNvSpPr/>
          <p:nvPr/>
        </p:nvSpPr>
        <p:spPr>
          <a:xfrm>
            <a:off x="4844062" y="5346229"/>
            <a:ext cx="685800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g11f5093a89a_0_385"/>
          <p:cNvSpPr txBox="1"/>
          <p:nvPr/>
        </p:nvSpPr>
        <p:spPr>
          <a:xfrm>
            <a:off x="6286500" y="2593925"/>
            <a:ext cx="1828800" cy="39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 lần chuyển</a:t>
            </a:r>
            <a:endParaRPr/>
          </a:p>
        </p:txBody>
      </p:sp>
      <p:sp>
        <p:nvSpPr>
          <p:cNvPr id="355" name="Google Shape;355;g11f5093a89a_0_385"/>
          <p:cNvSpPr txBox="1"/>
          <p:nvPr/>
        </p:nvSpPr>
        <p:spPr>
          <a:xfrm>
            <a:off x="6400800" y="5665421"/>
            <a:ext cx="1828800" cy="39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i="1" lang="en-US"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n-</a:t>
            </a:r>
            <a:r>
              <a:rPr b="1" lang="en-US"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lần chuyển</a:t>
            </a:r>
            <a:endParaRPr/>
          </a:p>
        </p:txBody>
      </p:sp>
      <p:sp>
        <p:nvSpPr>
          <p:cNvPr id="356" name="Google Shape;356;g11f5093a89a_0_385"/>
          <p:cNvSpPr txBox="1"/>
          <p:nvPr/>
        </p:nvSpPr>
        <p:spPr>
          <a:xfrm>
            <a:off x="1296975" y="3560125"/>
            <a:ext cx="4208100" cy="369300"/>
          </a:xfrm>
          <a:prstGeom prst="rect">
            <a:avLst/>
          </a:prstGeom>
          <a:solidFill>
            <a:srgbClr val="ECC7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 trí trung gian trên tháp Hà Nội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1f5093a89a_0_438"/>
          <p:cNvSpPr txBox="1"/>
          <p:nvPr>
            <p:ph type="title"/>
          </p:nvPr>
        </p:nvSpPr>
        <p:spPr>
          <a:xfrm>
            <a:off x="425200" y="1001023"/>
            <a:ext cx="7850100" cy="838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grpSp>
        <p:nvGrpSpPr>
          <p:cNvPr id="363" name="Google Shape;363;g11f5093a89a_0_438"/>
          <p:cNvGrpSpPr/>
          <p:nvPr/>
        </p:nvGrpSpPr>
        <p:grpSpPr>
          <a:xfrm>
            <a:off x="466122" y="2763715"/>
            <a:ext cx="8287826" cy="2819400"/>
            <a:chOff x="8922" y="0"/>
            <a:chExt cx="8287826" cy="2819400"/>
          </a:xfrm>
        </p:grpSpPr>
        <p:sp>
          <p:nvSpPr>
            <p:cNvPr id="364" name="Google Shape;364;g11f5093a89a_0_438"/>
            <p:cNvSpPr/>
            <p:nvPr/>
          </p:nvSpPr>
          <p:spPr>
            <a:xfrm>
              <a:off x="622934" y="0"/>
              <a:ext cx="7059900" cy="2819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ACACA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g11f5093a89a_0_438"/>
            <p:cNvSpPr/>
            <p:nvPr/>
          </p:nvSpPr>
          <p:spPr>
            <a:xfrm>
              <a:off x="8922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g11f5093a89a_0_438"/>
            <p:cNvSpPr txBox="1"/>
            <p:nvPr/>
          </p:nvSpPr>
          <p:spPr>
            <a:xfrm>
              <a:off x="63975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</a:t>
              </a: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 đĩa phần trên sang cọc B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7" name="Google Shape;367;g11f5093a89a_0_438"/>
            <p:cNvSpPr/>
            <p:nvPr/>
          </p:nvSpPr>
          <p:spPr>
            <a:xfrm>
              <a:off x="2816185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g11f5093a89a_0_438"/>
            <p:cNvSpPr txBox="1"/>
            <p:nvPr/>
          </p:nvSpPr>
          <p:spPr>
            <a:xfrm>
              <a:off x="2871238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đĩa lớn nhất sang cọc  C 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9" name="Google Shape;369;g11f5093a89a_0_438"/>
            <p:cNvSpPr/>
            <p:nvPr/>
          </p:nvSpPr>
          <p:spPr>
            <a:xfrm>
              <a:off x="5623448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g11f5093a89a_0_438"/>
            <p:cNvSpPr txBox="1"/>
            <p:nvPr/>
          </p:nvSpPr>
          <p:spPr>
            <a:xfrm>
              <a:off x="5678501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</a:t>
              </a:r>
              <a:r>
                <a:rPr i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 đĩa phần trên sang cọc C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71" name="Google Shape;371;g11f5093a89a_0_4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925515"/>
            <a:ext cx="6781797" cy="83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g11f5093a89a_0_438"/>
          <p:cNvGrpSpPr/>
          <p:nvPr/>
        </p:nvGrpSpPr>
        <p:grpSpPr>
          <a:xfrm>
            <a:off x="457204" y="5506919"/>
            <a:ext cx="8049294" cy="1309200"/>
            <a:chOff x="76204" y="152404"/>
            <a:chExt cx="8049294" cy="1309200"/>
          </a:xfrm>
        </p:grpSpPr>
        <p:sp>
          <p:nvSpPr>
            <p:cNvPr id="373" name="Google Shape;373;g11f5093a89a_0_438"/>
            <p:cNvSpPr/>
            <p:nvPr/>
          </p:nvSpPr>
          <p:spPr>
            <a:xfrm>
              <a:off x="76204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g11f5093a89a_0_438"/>
            <p:cNvSpPr txBox="1"/>
            <p:nvPr/>
          </p:nvSpPr>
          <p:spPr>
            <a:xfrm>
              <a:off x="114547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aseline="-25000"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n-1</a:t>
              </a:r>
              <a:endPara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5" name="Google Shape;375;g11f5093a89a_0_438"/>
            <p:cNvSpPr/>
            <p:nvPr/>
          </p:nvSpPr>
          <p:spPr>
            <a:xfrm>
              <a:off x="2455573" y="536418"/>
              <a:ext cx="418500" cy="5412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g11f5093a89a_0_438"/>
            <p:cNvSpPr txBox="1"/>
            <p:nvPr/>
          </p:nvSpPr>
          <p:spPr>
            <a:xfrm>
              <a:off x="2455573" y="644640"/>
              <a:ext cx="293100" cy="3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" name="Google Shape;377;g11f5093a89a_0_438"/>
            <p:cNvSpPr/>
            <p:nvPr/>
          </p:nvSpPr>
          <p:spPr>
            <a:xfrm>
              <a:off x="3047997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g11f5093a89a_0_438"/>
            <p:cNvSpPr txBox="1"/>
            <p:nvPr/>
          </p:nvSpPr>
          <p:spPr>
            <a:xfrm>
              <a:off x="3086340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79" name="Google Shape;379;g11f5093a89a_0_438"/>
            <p:cNvSpPr/>
            <p:nvPr/>
          </p:nvSpPr>
          <p:spPr>
            <a:xfrm>
              <a:off x="5408318" y="536418"/>
              <a:ext cx="378300" cy="5412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g11f5093a89a_0_438"/>
            <p:cNvSpPr txBox="1"/>
            <p:nvPr/>
          </p:nvSpPr>
          <p:spPr>
            <a:xfrm>
              <a:off x="5408318" y="644640"/>
              <a:ext cx="264900" cy="3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g11f5093a89a_0_438"/>
            <p:cNvSpPr/>
            <p:nvPr/>
          </p:nvSpPr>
          <p:spPr>
            <a:xfrm>
              <a:off x="5943598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g11f5093a89a_0_438"/>
            <p:cNvSpPr txBox="1"/>
            <p:nvPr/>
          </p:nvSpPr>
          <p:spPr>
            <a:xfrm>
              <a:off x="5981941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aseline="-25000"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n-1</a:t>
              </a:r>
              <a:endPara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83" name="Google Shape;383;g11f5093a89a_0_438"/>
          <p:cNvCxnSpPr/>
          <p:nvPr/>
        </p:nvCxnSpPr>
        <p:spPr>
          <a:xfrm rot="5400000">
            <a:off x="1333544" y="5087860"/>
            <a:ext cx="685800" cy="15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84" name="Google Shape;384;g11f5093a89a_0_438"/>
          <p:cNvCxnSpPr/>
          <p:nvPr/>
        </p:nvCxnSpPr>
        <p:spPr>
          <a:xfrm rot="5400000">
            <a:off x="4343444" y="5125960"/>
            <a:ext cx="609600" cy="15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85" name="Google Shape;385;g11f5093a89a_0_438"/>
          <p:cNvCxnSpPr/>
          <p:nvPr/>
        </p:nvCxnSpPr>
        <p:spPr>
          <a:xfrm rot="5400000">
            <a:off x="7239044" y="5125960"/>
            <a:ext cx="762000" cy="15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1f5093a89a_0_467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392" name="Google Shape;392;g11f5093a89a_0_467"/>
          <p:cNvSpPr txBox="1"/>
          <p:nvPr>
            <p:ph idx="1" type="body"/>
          </p:nvPr>
        </p:nvSpPr>
        <p:spPr>
          <a:xfrm>
            <a:off x="425200" y="1899700"/>
            <a:ext cx="8305800" cy="485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Bài toán tháp Hà nội</a:t>
            </a:r>
            <a:endParaRPr baseline="-25000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</a:rPr>
              <a:t>       </a:t>
            </a:r>
            <a:r>
              <a:rPr b="1" lang="en-US" sz="2200">
                <a:solidFill>
                  <a:schemeClr val="dk2"/>
                </a:solidFill>
              </a:rPr>
              <a:t> </a:t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393" name="Google Shape;393;g11f5093a89a_0_467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4900" y="4340025"/>
            <a:ext cx="3086100" cy="245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g11f5093a89a_0_467"/>
          <p:cNvGrpSpPr/>
          <p:nvPr/>
        </p:nvGrpSpPr>
        <p:grpSpPr>
          <a:xfrm>
            <a:off x="462888" y="2763725"/>
            <a:ext cx="5287633" cy="2242269"/>
            <a:chOff x="8922" y="0"/>
            <a:chExt cx="8287826" cy="2819400"/>
          </a:xfrm>
        </p:grpSpPr>
        <p:sp>
          <p:nvSpPr>
            <p:cNvPr id="395" name="Google Shape;395;g11f5093a89a_0_467"/>
            <p:cNvSpPr/>
            <p:nvPr/>
          </p:nvSpPr>
          <p:spPr>
            <a:xfrm>
              <a:off x="622934" y="0"/>
              <a:ext cx="7059900" cy="2819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ACACA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g11f5093a89a_0_467"/>
            <p:cNvSpPr/>
            <p:nvPr/>
          </p:nvSpPr>
          <p:spPr>
            <a:xfrm>
              <a:off x="8922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g11f5093a89a_0_467"/>
            <p:cNvSpPr txBox="1"/>
            <p:nvPr/>
          </p:nvSpPr>
          <p:spPr>
            <a:xfrm>
              <a:off x="63975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 đĩa phần trên sang cọc B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8" name="Google Shape;398;g11f5093a89a_0_467"/>
            <p:cNvSpPr/>
            <p:nvPr/>
          </p:nvSpPr>
          <p:spPr>
            <a:xfrm>
              <a:off x="2816185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g11f5093a89a_0_467"/>
            <p:cNvSpPr txBox="1"/>
            <p:nvPr/>
          </p:nvSpPr>
          <p:spPr>
            <a:xfrm>
              <a:off x="2871238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đĩa lớn nhất sang cọc  C 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" name="Google Shape;400;g11f5093a89a_0_467"/>
            <p:cNvSpPr/>
            <p:nvPr/>
          </p:nvSpPr>
          <p:spPr>
            <a:xfrm>
              <a:off x="5623448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g11f5093a89a_0_467"/>
            <p:cNvSpPr txBox="1"/>
            <p:nvPr/>
          </p:nvSpPr>
          <p:spPr>
            <a:xfrm>
              <a:off x="5678501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 đĩa phần trên sang cọc C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02" name="Google Shape;402;g11f5093a89a_0_467"/>
          <p:cNvGrpSpPr/>
          <p:nvPr/>
        </p:nvGrpSpPr>
        <p:grpSpPr>
          <a:xfrm>
            <a:off x="457200" y="4945409"/>
            <a:ext cx="5135450" cy="1041207"/>
            <a:chOff x="76204" y="152404"/>
            <a:chExt cx="8049294" cy="1309200"/>
          </a:xfrm>
        </p:grpSpPr>
        <p:sp>
          <p:nvSpPr>
            <p:cNvPr id="403" name="Google Shape;403;g11f5093a89a_0_467"/>
            <p:cNvSpPr/>
            <p:nvPr/>
          </p:nvSpPr>
          <p:spPr>
            <a:xfrm>
              <a:off x="76204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g11f5093a89a_0_467"/>
            <p:cNvSpPr txBox="1"/>
            <p:nvPr/>
          </p:nvSpPr>
          <p:spPr>
            <a:xfrm>
              <a:off x="114547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aseline="-25000"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n-1</a:t>
              </a:r>
              <a:endPara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g11f5093a89a_0_467"/>
            <p:cNvSpPr/>
            <p:nvPr/>
          </p:nvSpPr>
          <p:spPr>
            <a:xfrm>
              <a:off x="2455573" y="536418"/>
              <a:ext cx="418500" cy="5412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g11f5093a89a_0_467"/>
            <p:cNvSpPr txBox="1"/>
            <p:nvPr/>
          </p:nvSpPr>
          <p:spPr>
            <a:xfrm>
              <a:off x="2455573" y="644640"/>
              <a:ext cx="293100" cy="3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g11f5093a89a_0_467"/>
            <p:cNvSpPr/>
            <p:nvPr/>
          </p:nvSpPr>
          <p:spPr>
            <a:xfrm>
              <a:off x="3047997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g11f5093a89a_0_467"/>
            <p:cNvSpPr txBox="1"/>
            <p:nvPr/>
          </p:nvSpPr>
          <p:spPr>
            <a:xfrm>
              <a:off x="3086340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09" name="Google Shape;409;g11f5093a89a_0_467"/>
            <p:cNvSpPr/>
            <p:nvPr/>
          </p:nvSpPr>
          <p:spPr>
            <a:xfrm>
              <a:off x="5408318" y="536418"/>
              <a:ext cx="378300" cy="5412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g11f5093a89a_0_467"/>
            <p:cNvSpPr txBox="1"/>
            <p:nvPr/>
          </p:nvSpPr>
          <p:spPr>
            <a:xfrm>
              <a:off x="5408318" y="644640"/>
              <a:ext cx="264900" cy="3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1" name="Google Shape;411;g11f5093a89a_0_467"/>
            <p:cNvSpPr/>
            <p:nvPr/>
          </p:nvSpPr>
          <p:spPr>
            <a:xfrm>
              <a:off x="5943598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g11f5093a89a_0_467"/>
            <p:cNvSpPr txBox="1"/>
            <p:nvPr/>
          </p:nvSpPr>
          <p:spPr>
            <a:xfrm>
              <a:off x="5981941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aseline="-25000"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n-1</a:t>
              </a:r>
              <a:endPara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413" name="Google Shape;413;g11f5093a89a_0_467"/>
          <p:cNvCxnSpPr/>
          <p:nvPr/>
        </p:nvCxnSpPr>
        <p:spPr>
          <a:xfrm rot="5400000">
            <a:off x="962373" y="4612266"/>
            <a:ext cx="545400" cy="9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4" name="Google Shape;414;g11f5093a89a_0_467"/>
          <p:cNvCxnSpPr/>
          <p:nvPr/>
        </p:nvCxnSpPr>
        <p:spPr>
          <a:xfrm rot="5400000">
            <a:off x="2888612" y="4642568"/>
            <a:ext cx="484800" cy="9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5" name="Google Shape;415;g11f5093a89a_0_467"/>
          <p:cNvCxnSpPr/>
          <p:nvPr/>
        </p:nvCxnSpPr>
        <p:spPr>
          <a:xfrm rot="5400000">
            <a:off x="4723951" y="4642566"/>
            <a:ext cx="606000" cy="9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1f5093a89a_0_496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422" name="Google Shape;422;g11f5093a89a_0_496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họ nhà thỏ.</a:t>
            </a:r>
            <a:endParaRPr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23" name="Google Shape;423;g11f5093a89a_0_4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725" y="2756950"/>
            <a:ext cx="8110901" cy="38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1f5093a89a_0_503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430" name="Google Shape;430;g11f5093a89a_0_503"/>
          <p:cNvSpPr txBox="1"/>
          <p:nvPr>
            <p:ph idx="1" type="body"/>
          </p:nvPr>
        </p:nvSpPr>
        <p:spPr>
          <a:xfrm>
            <a:off x="425200" y="1820626"/>
            <a:ext cx="7770000" cy="422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họ nhà thỏ.</a:t>
            </a:r>
            <a:endParaRPr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cxnSp>
        <p:nvCxnSpPr>
          <p:cNvPr id="431" name="Google Shape;431;g11f5093a89a_0_503"/>
          <p:cNvCxnSpPr>
            <a:endCxn id="432" idx="1"/>
          </p:cNvCxnSpPr>
          <p:nvPr/>
        </p:nvCxnSpPr>
        <p:spPr>
          <a:xfrm>
            <a:off x="2463475" y="6153169"/>
            <a:ext cx="1236600" cy="3810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3" name="Google Shape;433;g11f5093a89a_0_503"/>
          <p:cNvSpPr/>
          <p:nvPr/>
        </p:nvSpPr>
        <p:spPr>
          <a:xfrm>
            <a:off x="791325" y="2312351"/>
            <a:ext cx="80010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1" baseline="-25000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f </a:t>
            </a:r>
            <a:r>
              <a:rPr b="1" baseline="-25000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 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 f</a:t>
            </a:r>
            <a:r>
              <a:rPr b="1" baseline="-25000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n-2 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 n≥ 3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34" name="Google Shape;434;g11f5093a89a_0_503"/>
          <p:cNvGrpSpPr/>
          <p:nvPr/>
        </p:nvGrpSpPr>
        <p:grpSpPr>
          <a:xfrm>
            <a:off x="734625" y="3242398"/>
            <a:ext cx="7231250" cy="2902762"/>
            <a:chOff x="270550" y="1441"/>
            <a:chExt cx="7231250" cy="2902762"/>
          </a:xfrm>
        </p:grpSpPr>
        <p:sp>
          <p:nvSpPr>
            <p:cNvPr id="435" name="Google Shape;435;g11f5093a89a_0_503"/>
            <p:cNvSpPr/>
            <p:nvPr/>
          </p:nvSpPr>
          <p:spPr>
            <a:xfrm>
              <a:off x="270550" y="1441"/>
              <a:ext cx="3338700" cy="9483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g11f5093a89a_0_503"/>
            <p:cNvSpPr txBox="1"/>
            <p:nvPr/>
          </p:nvSpPr>
          <p:spPr>
            <a:xfrm>
              <a:off x="759492" y="39543"/>
              <a:ext cx="2360700" cy="94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2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Số đôi thỏ sau n-1 tháng </a:t>
              </a:r>
              <a:endParaRPr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7" name="Google Shape;437;g11f5093a89a_0_503"/>
            <p:cNvSpPr/>
            <p:nvPr/>
          </p:nvSpPr>
          <p:spPr>
            <a:xfrm>
              <a:off x="1505693" y="1094627"/>
              <a:ext cx="868500" cy="8685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g11f5093a89a_0_503"/>
            <p:cNvSpPr txBox="1"/>
            <p:nvPr/>
          </p:nvSpPr>
          <p:spPr>
            <a:xfrm>
              <a:off x="1620794" y="1426688"/>
              <a:ext cx="638100" cy="20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9" name="Google Shape;439;g11f5093a89a_0_503"/>
            <p:cNvSpPr/>
            <p:nvPr/>
          </p:nvSpPr>
          <p:spPr>
            <a:xfrm>
              <a:off x="270550" y="2069891"/>
              <a:ext cx="3234900" cy="7962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g11f5093a89a_0_503"/>
            <p:cNvSpPr txBox="1"/>
            <p:nvPr/>
          </p:nvSpPr>
          <p:spPr>
            <a:xfrm>
              <a:off x="796102" y="2108003"/>
              <a:ext cx="2287500" cy="7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2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số đôi thỏ mới sinh</a:t>
              </a:r>
              <a:endParaRPr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1" name="Google Shape;441;g11f5093a89a_0_503"/>
            <p:cNvSpPr/>
            <p:nvPr/>
          </p:nvSpPr>
          <p:spPr>
            <a:xfrm>
              <a:off x="3608077" y="1158386"/>
              <a:ext cx="476100" cy="556800"/>
            </a:xfrm>
            <a:prstGeom prst="mathEqual">
              <a:avLst>
                <a:gd fmla="val 23520" name="adj1"/>
                <a:gd fmla="val 11760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g11f5093a89a_0_503"/>
            <p:cNvSpPr txBox="1"/>
            <p:nvPr/>
          </p:nvSpPr>
          <p:spPr>
            <a:xfrm>
              <a:off x="3505452" y="1158401"/>
              <a:ext cx="3333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3" name="Google Shape;443;g11f5093a89a_0_503"/>
            <p:cNvSpPr/>
            <p:nvPr/>
          </p:nvSpPr>
          <p:spPr>
            <a:xfrm>
              <a:off x="4507500" y="293520"/>
              <a:ext cx="2994300" cy="23202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g11f5093a89a_0_503"/>
            <p:cNvSpPr txBox="1"/>
            <p:nvPr/>
          </p:nvSpPr>
          <p:spPr>
            <a:xfrm>
              <a:off x="5025126" y="470138"/>
              <a:ext cx="2117400" cy="211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Số đôi thỏ trên đảo sau </a:t>
              </a:r>
              <a:r>
                <a:rPr i="1"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 </a:t>
              </a:r>
              <a:r>
                <a:rPr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tháng</a:t>
              </a:r>
              <a:r>
                <a:rPr b="1"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32" name="Google Shape;432;g11f5093a89a_0_503"/>
          <p:cNvSpPr/>
          <p:nvPr/>
        </p:nvSpPr>
        <p:spPr>
          <a:xfrm>
            <a:off x="3700075" y="6303319"/>
            <a:ext cx="3488400" cy="4617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 đôi thỏ sau n-2 tháng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1f5093a89a_0_524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HỆ THỨC TRUY HỒI</a:t>
            </a:r>
            <a:endParaRPr/>
          </a:p>
        </p:txBody>
      </p:sp>
      <p:sp>
        <p:nvSpPr>
          <p:cNvPr id="451" name="Google Shape;451;g11f5093a89a_0_524"/>
          <p:cNvSpPr txBox="1"/>
          <p:nvPr>
            <p:ph idx="1" type="body"/>
          </p:nvPr>
        </p:nvSpPr>
        <p:spPr>
          <a:xfrm>
            <a:off x="465246" y="207989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Hệ thức truy hồi </a:t>
            </a:r>
            <a:r>
              <a:rPr b="1" lang="en-US" sz="2400">
                <a:solidFill>
                  <a:schemeClr val="dk2"/>
                </a:solidFill>
              </a:rPr>
              <a:t>tuyến tính thuần nhất bậc k hệ số hằng</a:t>
            </a:r>
            <a:r>
              <a:rPr lang="en-US" sz="2400">
                <a:solidFill>
                  <a:schemeClr val="dk2"/>
                </a:solidFill>
              </a:rPr>
              <a:t>:</a:t>
            </a:r>
            <a:endParaRPr sz="28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i="1" lang="en-US" sz="2800">
                <a:solidFill>
                  <a:schemeClr val="dk2"/>
                </a:solidFill>
              </a:rPr>
              <a:t>             </a:t>
            </a:r>
            <a:r>
              <a:rPr b="1" i="1" lang="en-US" sz="2800">
                <a:solidFill>
                  <a:schemeClr val="dk2"/>
                </a:solidFill>
              </a:rPr>
              <a:t>a</a:t>
            </a:r>
            <a:r>
              <a:rPr b="1" baseline="-25000" i="1" lang="en-US" sz="2800">
                <a:solidFill>
                  <a:schemeClr val="dk2"/>
                </a:solidFill>
              </a:rPr>
              <a:t>n  </a:t>
            </a:r>
            <a:r>
              <a:rPr b="1" i="1" lang="en-US" sz="2800">
                <a:solidFill>
                  <a:schemeClr val="dk2"/>
                </a:solidFill>
              </a:rPr>
              <a:t>= c</a:t>
            </a:r>
            <a:r>
              <a:rPr b="1" baseline="-25000" i="1" lang="en-US" sz="2800">
                <a:solidFill>
                  <a:schemeClr val="dk2"/>
                </a:solidFill>
              </a:rPr>
              <a:t>1</a:t>
            </a:r>
            <a:r>
              <a:rPr b="1" i="1" lang="en-US" sz="2800">
                <a:solidFill>
                  <a:schemeClr val="dk2"/>
                </a:solidFill>
              </a:rPr>
              <a:t> a</a:t>
            </a:r>
            <a:r>
              <a:rPr b="1" baseline="-25000" i="1" lang="en-US" sz="2800">
                <a:solidFill>
                  <a:schemeClr val="dk2"/>
                </a:solidFill>
              </a:rPr>
              <a:t>n-1   </a:t>
            </a:r>
            <a:r>
              <a:rPr b="1" i="1" lang="en-US" sz="2800">
                <a:solidFill>
                  <a:schemeClr val="dk2"/>
                </a:solidFill>
              </a:rPr>
              <a:t>+ c</a:t>
            </a:r>
            <a:r>
              <a:rPr b="1" baseline="-25000" i="1" lang="en-US" sz="2800">
                <a:solidFill>
                  <a:schemeClr val="dk2"/>
                </a:solidFill>
              </a:rPr>
              <a:t>2</a:t>
            </a:r>
            <a:r>
              <a:rPr b="1" i="1" lang="en-US" sz="2800">
                <a:solidFill>
                  <a:schemeClr val="dk2"/>
                </a:solidFill>
              </a:rPr>
              <a:t> a</a:t>
            </a:r>
            <a:r>
              <a:rPr b="1" baseline="-25000" i="1" lang="en-US" sz="2800">
                <a:solidFill>
                  <a:schemeClr val="dk2"/>
                </a:solidFill>
              </a:rPr>
              <a:t>n-2 </a:t>
            </a:r>
            <a:r>
              <a:rPr b="1" i="1" lang="en-US" sz="2800">
                <a:solidFill>
                  <a:schemeClr val="dk2"/>
                </a:solidFill>
              </a:rPr>
              <a:t>+…+  c</a:t>
            </a:r>
            <a:r>
              <a:rPr b="1" baseline="-25000" i="1" lang="en-US" sz="2800">
                <a:solidFill>
                  <a:schemeClr val="dk2"/>
                </a:solidFill>
              </a:rPr>
              <a:t>k</a:t>
            </a:r>
            <a:r>
              <a:rPr b="1" i="1" lang="en-US" sz="2800">
                <a:solidFill>
                  <a:schemeClr val="dk2"/>
                </a:solidFill>
              </a:rPr>
              <a:t> a</a:t>
            </a:r>
            <a:r>
              <a:rPr b="1" baseline="-25000" i="1" lang="en-US" sz="2800">
                <a:solidFill>
                  <a:schemeClr val="dk2"/>
                </a:solidFill>
              </a:rPr>
              <a:t>n-k </a:t>
            </a:r>
            <a:endParaRPr sz="32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2"/>
                </a:solidFill>
              </a:rPr>
              <a:t>      </a:t>
            </a:r>
            <a:r>
              <a:rPr i="1" lang="en-US" sz="2200">
                <a:solidFill>
                  <a:schemeClr val="dk2"/>
                </a:solidFill>
              </a:rPr>
              <a:t>c</a:t>
            </a:r>
            <a:r>
              <a:rPr baseline="-25000" i="1" lang="en-US" sz="2200">
                <a:solidFill>
                  <a:schemeClr val="dk2"/>
                </a:solidFill>
              </a:rPr>
              <a:t>k </a:t>
            </a:r>
            <a:r>
              <a:rPr i="1" lang="en-US" sz="2200">
                <a:solidFill>
                  <a:schemeClr val="dk2"/>
                </a:solidFill>
              </a:rPr>
              <a:t> ≠ 0 ; </a:t>
            </a:r>
            <a:r>
              <a:rPr i="1" lang="en-US" sz="2800">
                <a:solidFill>
                  <a:schemeClr val="dk2"/>
                </a:solidFill>
              </a:rPr>
              <a:t> </a:t>
            </a:r>
            <a:r>
              <a:rPr i="1" lang="en-US" sz="2200">
                <a:solidFill>
                  <a:schemeClr val="dk2"/>
                </a:solidFill>
              </a:rPr>
              <a:t>c</a:t>
            </a:r>
            <a:r>
              <a:rPr baseline="-25000" i="1" lang="en-US" sz="2200">
                <a:solidFill>
                  <a:schemeClr val="dk2"/>
                </a:solidFill>
              </a:rPr>
              <a:t>1</a:t>
            </a:r>
            <a:r>
              <a:rPr i="1" lang="en-US" sz="2200">
                <a:solidFill>
                  <a:schemeClr val="dk2"/>
                </a:solidFill>
              </a:rPr>
              <a:t>,…,c</a:t>
            </a:r>
            <a:r>
              <a:rPr baseline="-25000" i="1" lang="en-US" sz="2200">
                <a:solidFill>
                  <a:schemeClr val="dk2"/>
                </a:solidFill>
              </a:rPr>
              <a:t>k</a:t>
            </a:r>
            <a:r>
              <a:rPr i="1" lang="en-US" sz="2200">
                <a:solidFill>
                  <a:schemeClr val="dk2"/>
                </a:solidFill>
              </a:rPr>
              <a:t>  - hằng số, </a:t>
            </a:r>
            <a:endParaRPr sz="24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lang="en-US" sz="2400">
                <a:solidFill>
                  <a:schemeClr val="dk2"/>
                </a:solidFill>
              </a:rPr>
              <a:t>Hệ thức truy hồi bậc k cần k điều kiện: </a:t>
            </a:r>
            <a:endParaRPr sz="32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i="1" lang="en-US" sz="2800">
                <a:solidFill>
                  <a:schemeClr val="dk2"/>
                </a:solidFill>
              </a:rPr>
              <a:t> 			a</a:t>
            </a:r>
            <a:r>
              <a:rPr baseline="-25000" i="1" lang="en-US" sz="2800">
                <a:solidFill>
                  <a:schemeClr val="dk2"/>
                </a:solidFill>
              </a:rPr>
              <a:t>0</a:t>
            </a:r>
            <a:r>
              <a:rPr i="1" lang="en-US" sz="2800">
                <a:solidFill>
                  <a:schemeClr val="dk2"/>
                </a:solidFill>
              </a:rPr>
              <a:t>= I</a:t>
            </a:r>
            <a:r>
              <a:rPr baseline="-25000" i="1" lang="en-US" sz="2800">
                <a:solidFill>
                  <a:schemeClr val="dk2"/>
                </a:solidFill>
              </a:rPr>
              <a:t>0</a:t>
            </a:r>
            <a:r>
              <a:rPr i="1" lang="en-US" sz="2800">
                <a:solidFill>
                  <a:schemeClr val="dk2"/>
                </a:solidFill>
              </a:rPr>
              <a:t> ,  a</a:t>
            </a:r>
            <a:r>
              <a:rPr baseline="-25000" i="1" lang="en-US" sz="2800">
                <a:solidFill>
                  <a:schemeClr val="dk2"/>
                </a:solidFill>
              </a:rPr>
              <a:t>1</a:t>
            </a:r>
            <a:r>
              <a:rPr i="1" lang="en-US" sz="2800">
                <a:solidFill>
                  <a:schemeClr val="dk2"/>
                </a:solidFill>
              </a:rPr>
              <a:t> = I</a:t>
            </a:r>
            <a:r>
              <a:rPr baseline="-25000" i="1" lang="en-US" sz="2800">
                <a:solidFill>
                  <a:schemeClr val="dk2"/>
                </a:solidFill>
              </a:rPr>
              <a:t>1</a:t>
            </a:r>
            <a:r>
              <a:rPr i="1" lang="en-US" sz="2800">
                <a:solidFill>
                  <a:schemeClr val="dk2"/>
                </a:solidFill>
              </a:rPr>
              <a:t> ,…, a</a:t>
            </a:r>
            <a:r>
              <a:rPr baseline="-25000" i="1" lang="en-US" sz="2800">
                <a:solidFill>
                  <a:schemeClr val="dk2"/>
                </a:solidFill>
              </a:rPr>
              <a:t>k-1</a:t>
            </a:r>
            <a:r>
              <a:rPr i="1" lang="en-US" sz="2800">
                <a:solidFill>
                  <a:schemeClr val="dk2"/>
                </a:solidFill>
              </a:rPr>
              <a:t> = I </a:t>
            </a:r>
            <a:r>
              <a:rPr baseline="-25000" i="1" lang="en-US" sz="2800">
                <a:solidFill>
                  <a:schemeClr val="dk2"/>
                </a:solidFill>
              </a:rPr>
              <a:t>k-1</a:t>
            </a:r>
            <a:r>
              <a:rPr i="1" lang="en-US" sz="2800">
                <a:solidFill>
                  <a:schemeClr val="dk2"/>
                </a:solidFill>
              </a:rPr>
              <a:t> </a:t>
            </a:r>
            <a:endParaRPr sz="32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i="1" lang="en-US" sz="2800">
                <a:solidFill>
                  <a:schemeClr val="dk2"/>
                </a:solidFill>
              </a:rPr>
              <a:t>      </a:t>
            </a:r>
            <a:r>
              <a:rPr lang="en-US" sz="2400">
                <a:solidFill>
                  <a:schemeClr val="dk2"/>
                </a:solidFill>
              </a:rPr>
              <a:t> để xác định duy nhất một dãy</a:t>
            </a:r>
            <a:r>
              <a:rPr lang="en-US" sz="2800">
                <a:solidFill>
                  <a:schemeClr val="dk2"/>
                </a:solidFill>
              </a:rPr>
              <a:t> {a</a:t>
            </a:r>
            <a:r>
              <a:rPr baseline="-25000" lang="en-US" sz="2800">
                <a:solidFill>
                  <a:schemeClr val="dk2"/>
                </a:solidFill>
              </a:rPr>
              <a:t>n</a:t>
            </a:r>
            <a:r>
              <a:rPr lang="en-US" sz="2800">
                <a:solidFill>
                  <a:schemeClr val="dk2"/>
                </a:solidFill>
              </a:rPr>
              <a:t>}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1f5093a89a_0_531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HỆ THỨC TRUY HỒI</a:t>
            </a:r>
            <a:endParaRPr/>
          </a:p>
        </p:txBody>
      </p:sp>
      <p:sp>
        <p:nvSpPr>
          <p:cNvPr id="458" name="Google Shape;458;g11f5093a89a_0_531"/>
          <p:cNvSpPr txBox="1"/>
          <p:nvPr>
            <p:ph idx="1" type="body"/>
          </p:nvPr>
        </p:nvSpPr>
        <p:spPr>
          <a:xfrm>
            <a:off x="465250" y="2079901"/>
            <a:ext cx="7770000" cy="447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●"/>
            </a:pPr>
            <a:r>
              <a:rPr lang="en-US" sz="2400">
                <a:solidFill>
                  <a:srgbClr val="0000CC"/>
                </a:solidFill>
              </a:rPr>
              <a:t>Hệ thức truy hồi tuyến tính thuần nhất có hệ số hằng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P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(1.11) </a:t>
            </a:r>
            <a:r>
              <a:rPr i="1" lang="en-US" sz="2400">
                <a:solidFill>
                  <a:schemeClr val="dk2"/>
                </a:solidFill>
              </a:rPr>
              <a:t>P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endParaRPr sz="2400">
              <a:solidFill>
                <a:schemeClr val="dk2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f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</a:t>
            </a:r>
            <a:r>
              <a:rPr i="1" lang="en-US" sz="2400">
                <a:solidFill>
                  <a:schemeClr val="dk2"/>
                </a:solidFill>
              </a:rPr>
              <a:t>f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r>
              <a:rPr lang="en-US" sz="2400">
                <a:solidFill>
                  <a:schemeClr val="dk2"/>
                </a:solidFill>
              </a:rPr>
              <a:t> + </a:t>
            </a:r>
            <a:r>
              <a:rPr i="1" lang="en-US" sz="2400">
                <a:solidFill>
                  <a:schemeClr val="dk2"/>
                </a:solidFill>
              </a:rPr>
              <a:t>f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-2           </a:t>
            </a:r>
            <a:endParaRPr sz="2400">
              <a:solidFill>
                <a:schemeClr val="dk2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</a:t>
            </a: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-5</a:t>
            </a:r>
            <a:r>
              <a:rPr lang="en-US" sz="2400">
                <a:solidFill>
                  <a:schemeClr val="dk2"/>
                </a:solidFill>
              </a:rPr>
              <a:t> 	</a:t>
            </a:r>
            <a:endParaRPr sz="2400">
              <a:solidFill>
                <a:srgbClr val="0000CC"/>
              </a:solidFill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●"/>
            </a:pPr>
            <a:r>
              <a:rPr lang="en-US" sz="2400">
                <a:solidFill>
                  <a:srgbClr val="0000CC"/>
                </a:solidFill>
              </a:rPr>
              <a:t>Hệ thức truy hồi không tuyến tính, không thuần nhất, không hệ số hằng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H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2</a:t>
            </a:r>
            <a:r>
              <a:rPr i="1" lang="en-US" sz="2400">
                <a:solidFill>
                  <a:schemeClr val="dk2"/>
                </a:solidFill>
              </a:rPr>
              <a:t>H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r>
              <a:rPr lang="en-US" sz="2400">
                <a:solidFill>
                  <a:schemeClr val="dk2"/>
                </a:solidFill>
              </a:rPr>
              <a:t> + 1</a:t>
            </a:r>
            <a:endParaRPr sz="3200">
              <a:solidFill>
                <a:schemeClr val="dk2"/>
              </a:solidFill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B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</a:t>
            </a:r>
            <a:r>
              <a:rPr i="1" lang="en-US" sz="2400">
                <a:solidFill>
                  <a:schemeClr val="dk2"/>
                </a:solidFill>
              </a:rPr>
              <a:t>nB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endParaRPr sz="3200">
              <a:solidFill>
                <a:schemeClr val="dk2"/>
              </a:solidFill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</a:t>
            </a: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r>
              <a:rPr lang="en-US" sz="2400">
                <a:solidFill>
                  <a:schemeClr val="dk2"/>
                </a:solidFill>
              </a:rPr>
              <a:t> + </a:t>
            </a: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lang="en-US" sz="2400">
                <a:solidFill>
                  <a:schemeClr val="dk2"/>
                </a:solidFill>
              </a:rPr>
              <a:t>²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-2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1f5093a89a_0_537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HỆ THỨC TRUY HỒI</a:t>
            </a:r>
            <a:endParaRPr/>
          </a:p>
        </p:txBody>
      </p:sp>
      <p:sp>
        <p:nvSpPr>
          <p:cNvPr id="465" name="Google Shape;465;g11f5093a89a_0_537"/>
          <p:cNvSpPr txBox="1"/>
          <p:nvPr>
            <p:ph idx="1" type="body"/>
          </p:nvPr>
        </p:nvSpPr>
        <p:spPr>
          <a:xfrm>
            <a:off x="465250" y="2079901"/>
            <a:ext cx="7770000" cy="447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16D4"/>
              </a:buClr>
              <a:buSzPts val="2800"/>
              <a:buChar char="•"/>
            </a:pPr>
            <a:r>
              <a:rPr lang="en-US" sz="2800">
                <a:solidFill>
                  <a:srgbClr val="2416D4"/>
                </a:solidFill>
              </a:rPr>
              <a:t>Giải hệ thức truy hồi</a:t>
            </a:r>
            <a:endParaRPr sz="2800">
              <a:solidFill>
                <a:srgbClr val="2416D4"/>
              </a:solidFill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Tìm công thức tổng quát cho số hạng a</a:t>
            </a:r>
            <a:r>
              <a:rPr baseline="-25000"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Số hạng a</a:t>
            </a:r>
            <a:r>
              <a:rPr baseline="-25000"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không phải tính qua k phần tử trước nó.</a:t>
            </a:r>
            <a:endParaRPr sz="28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2416D4"/>
              </a:buClr>
              <a:buSzPts val="2800"/>
              <a:buChar char="•"/>
            </a:pPr>
            <a:r>
              <a:rPr lang="en-US" sz="2800">
                <a:solidFill>
                  <a:srgbClr val="2416D4"/>
                </a:solidFill>
              </a:rPr>
              <a:t>Phương pháp giải:</a:t>
            </a:r>
            <a:endParaRPr sz="3200">
              <a:solidFill>
                <a:srgbClr val="2416D4"/>
              </a:solidFill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thế</a:t>
            </a:r>
            <a:endParaRPr sz="24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phương trình đặc trưng</a:t>
            </a:r>
            <a:endParaRPr sz="24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1f5093a89a_0_543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THẾ</a:t>
            </a:r>
            <a:endParaRPr/>
          </a:p>
        </p:txBody>
      </p:sp>
      <p:sp>
        <p:nvSpPr>
          <p:cNvPr id="472" name="Google Shape;472;g11f5093a89a_0_543"/>
          <p:cNvSpPr txBox="1"/>
          <p:nvPr>
            <p:ph idx="1" type="body"/>
          </p:nvPr>
        </p:nvSpPr>
        <p:spPr>
          <a:xfrm>
            <a:off x="583950" y="1895276"/>
            <a:ext cx="7770000" cy="447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</a:pPr>
            <a:r>
              <a:rPr lang="en-US" sz="2800">
                <a:solidFill>
                  <a:srgbClr val="0000CC"/>
                </a:solidFill>
              </a:rPr>
              <a:t>Dùng để giải hệ thức truy hồi bậc 1</a:t>
            </a:r>
            <a:endParaRPr sz="2800">
              <a:solidFill>
                <a:srgbClr val="0000CC"/>
              </a:solidFill>
            </a:endParaRPr>
          </a:p>
          <a:p>
            <a:pPr indent="-4064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</a:pPr>
            <a:r>
              <a:rPr lang="en-US" sz="2800">
                <a:solidFill>
                  <a:srgbClr val="0000CC"/>
                </a:solidFill>
              </a:rPr>
              <a:t>Các bước giải:</a:t>
            </a:r>
            <a:endParaRPr sz="2800">
              <a:solidFill>
                <a:srgbClr val="0000CC"/>
              </a:solidFill>
            </a:endParaRPr>
          </a:p>
          <a:p>
            <a:pPr indent="-2667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•"/>
            </a:pP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•"/>
            </a:pP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n-2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•"/>
            </a:pP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</a:t>
            </a:r>
            <a:endParaRPr sz="20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•"/>
            </a:pP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I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</a:pPr>
            <a:r>
              <a:rPr lang="en-US" sz="2800">
                <a:solidFill>
                  <a:srgbClr val="0000CC"/>
                </a:solidFill>
              </a:rPr>
              <a:t>Tính được công thức trực tiếp cho a</a:t>
            </a:r>
            <a:r>
              <a:rPr baseline="-25000" lang="en-US" sz="2800">
                <a:solidFill>
                  <a:srgbClr val="0000CC"/>
                </a:solidFill>
              </a:rPr>
              <a:t>n</a:t>
            </a:r>
            <a:endParaRPr sz="2800">
              <a:solidFill>
                <a:srgbClr val="0000CC"/>
              </a:solidFill>
            </a:endParaRPr>
          </a:p>
          <a:p>
            <a:pPr indent="-4064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</a:pPr>
            <a:r>
              <a:rPr lang="en-US" sz="2800">
                <a:solidFill>
                  <a:srgbClr val="0000CC"/>
                </a:solidFill>
              </a:rPr>
              <a:t>Chứng minh tính đúng đắn ( sử dụng quy nạp)</a:t>
            </a:r>
            <a:endParaRPr sz="2800">
              <a:solidFill>
                <a:srgbClr val="0000C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1f5093a89a_0_549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THẾ</a:t>
            </a:r>
            <a:endParaRPr/>
          </a:p>
        </p:txBody>
      </p:sp>
      <p:sp>
        <p:nvSpPr>
          <p:cNvPr id="479" name="Google Shape;479;g11f5093a89a_0_549"/>
          <p:cNvSpPr txBox="1"/>
          <p:nvPr>
            <p:ph idx="1" type="body"/>
          </p:nvPr>
        </p:nvSpPr>
        <p:spPr>
          <a:xfrm>
            <a:off x="583950" y="1895276"/>
            <a:ext cx="7770000" cy="447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●"/>
            </a:pPr>
            <a:r>
              <a:rPr lang="en-US" sz="2400">
                <a:solidFill>
                  <a:srgbClr val="0000CC"/>
                </a:solidFill>
              </a:rPr>
              <a:t>Bài toán tháp Hà nội với 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là số lần chuyển đĩa ít nhất</a:t>
            </a:r>
            <a:r>
              <a:rPr lang="en-US" sz="2400">
                <a:solidFill>
                  <a:srgbClr val="0000CC"/>
                </a:solidFill>
              </a:rPr>
              <a:t>: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</a:rPr>
              <a:t>          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H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2H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+ 1, n ≥1,với H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●"/>
            </a:pPr>
            <a:r>
              <a:rPr lang="en-US" sz="2400">
                <a:solidFill>
                  <a:srgbClr val="0000CC"/>
                </a:solidFill>
              </a:rPr>
              <a:t>Phương</a:t>
            </a:r>
            <a:r>
              <a:rPr lang="en-US" sz="2800">
                <a:solidFill>
                  <a:srgbClr val="0000CC"/>
                </a:solidFill>
              </a:rPr>
              <a:t> pháp thế</a:t>
            </a:r>
            <a:endParaRPr sz="2800">
              <a:solidFill>
                <a:srgbClr val="0000CC"/>
              </a:solidFill>
            </a:endParaRPr>
          </a:p>
        </p:txBody>
      </p:sp>
      <p:pic>
        <p:nvPicPr>
          <p:cNvPr id="480" name="Google Shape;480;g11f5093a89a_0_5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574650"/>
            <a:ext cx="6096000" cy="282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11f5093a89a_0_549"/>
          <p:cNvSpPr txBox="1"/>
          <p:nvPr/>
        </p:nvSpPr>
        <p:spPr>
          <a:xfrm>
            <a:off x="2897050" y="6370675"/>
            <a:ext cx="17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Chứng minh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  <p:sp>
        <p:nvSpPr>
          <p:cNvPr id="487" name="Google Shape;487;p29"/>
          <p:cNvSpPr txBox="1"/>
          <p:nvPr>
            <p:ph idx="1" type="body"/>
          </p:nvPr>
        </p:nvSpPr>
        <p:spPr>
          <a:xfrm>
            <a:off x="457200" y="12954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1800"/>
              <a:buChar char="•"/>
            </a:pPr>
            <a:r>
              <a:rPr lang="en-US">
                <a:solidFill>
                  <a:srgbClr val="0000CC"/>
                </a:solidFill>
              </a:rPr>
              <a:t>G</a:t>
            </a:r>
            <a:r>
              <a:rPr lang="en-US">
                <a:solidFill>
                  <a:srgbClr val="0000CC"/>
                </a:solidFill>
              </a:rPr>
              <a:t>iải hệ thức truy hồi bậc 2 tuyến tính thuần nhất hệ số hằng.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i="1" lang="en-US">
                <a:solidFill>
                  <a:srgbClr val="0000CC"/>
                </a:solidFill>
              </a:rPr>
              <a:t>                       </a:t>
            </a:r>
            <a:r>
              <a:rPr b="1" i="1" lang="en-US">
                <a:solidFill>
                  <a:srgbClr val="0000CC"/>
                </a:solidFill>
              </a:rPr>
              <a:t>a</a:t>
            </a:r>
            <a:r>
              <a:rPr b="1" baseline="-25000" i="1" lang="en-US">
                <a:solidFill>
                  <a:srgbClr val="0000CC"/>
                </a:solidFill>
              </a:rPr>
              <a:t>n  </a:t>
            </a:r>
            <a:r>
              <a:rPr b="1" i="1" lang="en-US">
                <a:solidFill>
                  <a:srgbClr val="0000CC"/>
                </a:solidFill>
              </a:rPr>
              <a:t>= c</a:t>
            </a:r>
            <a:r>
              <a:rPr b="1" baseline="-25000" i="1" lang="en-US">
                <a:solidFill>
                  <a:srgbClr val="0000CC"/>
                </a:solidFill>
              </a:rPr>
              <a:t>1</a:t>
            </a:r>
            <a:r>
              <a:rPr b="1" i="1" lang="en-US">
                <a:solidFill>
                  <a:srgbClr val="0000CC"/>
                </a:solidFill>
              </a:rPr>
              <a:t> a</a:t>
            </a:r>
            <a:r>
              <a:rPr b="1" baseline="-25000" i="1" lang="en-US">
                <a:solidFill>
                  <a:srgbClr val="0000CC"/>
                </a:solidFill>
              </a:rPr>
              <a:t>n-1   </a:t>
            </a:r>
            <a:r>
              <a:rPr b="1" i="1" lang="en-US">
                <a:solidFill>
                  <a:srgbClr val="0000CC"/>
                </a:solidFill>
              </a:rPr>
              <a:t>+ c</a:t>
            </a:r>
            <a:r>
              <a:rPr b="1" baseline="-25000" i="1" lang="en-US">
                <a:solidFill>
                  <a:srgbClr val="0000CC"/>
                </a:solidFill>
              </a:rPr>
              <a:t>2</a:t>
            </a:r>
            <a:r>
              <a:rPr b="1" i="1" lang="en-US">
                <a:solidFill>
                  <a:srgbClr val="0000CC"/>
                </a:solidFill>
              </a:rPr>
              <a:t> a</a:t>
            </a:r>
            <a:r>
              <a:rPr b="1" baseline="-25000" i="1" lang="en-US">
                <a:solidFill>
                  <a:srgbClr val="0000CC"/>
                </a:solidFill>
              </a:rPr>
              <a:t>n-2  ,</a:t>
            </a:r>
            <a:r>
              <a:rPr b="1" i="1" lang="en-US">
                <a:solidFill>
                  <a:srgbClr val="0000CC"/>
                </a:solidFill>
              </a:rPr>
              <a:t> n ≥2</a:t>
            </a:r>
            <a:r>
              <a:rPr b="1" baseline="-25000" i="1" lang="en-US">
                <a:solidFill>
                  <a:srgbClr val="0000CC"/>
                </a:solidFill>
              </a:rPr>
              <a:t>      </a:t>
            </a:r>
            <a:r>
              <a:rPr i="1" lang="en-US">
                <a:solidFill>
                  <a:srgbClr val="0000CC"/>
                </a:solidFill>
              </a:rPr>
              <a:t>  (1)</a:t>
            </a:r>
            <a:endParaRPr b="1" baseline="-25000" i="1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i="1" lang="en-US">
                <a:solidFill>
                  <a:srgbClr val="0000CC"/>
                </a:solidFill>
              </a:rPr>
              <a:t>           c</a:t>
            </a:r>
            <a:r>
              <a:rPr baseline="-25000" i="1" lang="en-US">
                <a:solidFill>
                  <a:srgbClr val="0000CC"/>
                </a:solidFill>
              </a:rPr>
              <a:t>1</a:t>
            </a:r>
            <a:r>
              <a:rPr i="1" lang="en-US">
                <a:solidFill>
                  <a:srgbClr val="0000CC"/>
                </a:solidFill>
              </a:rPr>
              <a:t>, c</a:t>
            </a:r>
            <a:r>
              <a:rPr baseline="-25000" i="1" lang="en-US">
                <a:solidFill>
                  <a:srgbClr val="0000CC"/>
                </a:solidFill>
              </a:rPr>
              <a:t>2</a:t>
            </a:r>
            <a:r>
              <a:rPr i="1" lang="en-US">
                <a:solidFill>
                  <a:srgbClr val="0000CC"/>
                </a:solidFill>
              </a:rPr>
              <a:t>- hằng số, c</a:t>
            </a:r>
            <a:r>
              <a:rPr baseline="-25000" i="1" lang="en-US">
                <a:solidFill>
                  <a:srgbClr val="0000CC"/>
                </a:solidFill>
              </a:rPr>
              <a:t>2</a:t>
            </a:r>
            <a:r>
              <a:rPr i="1" lang="en-US">
                <a:solidFill>
                  <a:srgbClr val="0000CC"/>
                </a:solidFill>
              </a:rPr>
              <a:t> ≠ 0 .</a:t>
            </a:r>
            <a:endParaRPr i="1">
              <a:solidFill>
                <a:srgbClr val="0000CC"/>
              </a:solidFill>
            </a:endParaRPr>
          </a:p>
          <a:p>
            <a:pPr indent="0" lvl="0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0000CC"/>
                </a:solidFill>
              </a:rPr>
              <a:t>P</a:t>
            </a:r>
            <a:r>
              <a:rPr b="1" i="1" lang="en-US">
                <a:solidFill>
                  <a:srgbClr val="0000CC"/>
                </a:solidFill>
              </a:rPr>
              <a:t>hương trình đặc trưng</a:t>
            </a:r>
            <a:r>
              <a:rPr i="1" lang="en-US">
                <a:solidFill>
                  <a:srgbClr val="0000CC"/>
                </a:solidFill>
              </a:rPr>
              <a:t>: 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i="1" lang="en-US">
                <a:solidFill>
                  <a:srgbClr val="0000CC"/>
                </a:solidFill>
              </a:rPr>
              <a:t>                    r</a:t>
            </a:r>
            <a:r>
              <a:rPr b="1" baseline="30000" i="1" lang="en-US">
                <a:solidFill>
                  <a:srgbClr val="0000CC"/>
                </a:solidFill>
              </a:rPr>
              <a:t>2</a:t>
            </a:r>
            <a:r>
              <a:rPr b="1" i="1" lang="en-US">
                <a:solidFill>
                  <a:srgbClr val="0000CC"/>
                </a:solidFill>
              </a:rPr>
              <a:t> = c</a:t>
            </a:r>
            <a:r>
              <a:rPr b="1" baseline="-25000" i="1" lang="en-US">
                <a:solidFill>
                  <a:srgbClr val="0000CC"/>
                </a:solidFill>
              </a:rPr>
              <a:t>1</a:t>
            </a:r>
            <a:r>
              <a:rPr b="1" i="1" lang="en-US">
                <a:solidFill>
                  <a:srgbClr val="0000CC"/>
                </a:solidFill>
              </a:rPr>
              <a:t> r</a:t>
            </a:r>
            <a:r>
              <a:rPr b="1" baseline="-25000" i="1" lang="en-US">
                <a:solidFill>
                  <a:srgbClr val="0000CC"/>
                </a:solidFill>
              </a:rPr>
              <a:t>   </a:t>
            </a:r>
            <a:r>
              <a:rPr b="1" i="1" lang="en-US">
                <a:solidFill>
                  <a:srgbClr val="0000CC"/>
                </a:solidFill>
              </a:rPr>
              <a:t>+ c</a:t>
            </a:r>
            <a:r>
              <a:rPr b="1" baseline="-25000" i="1" lang="en-US">
                <a:solidFill>
                  <a:srgbClr val="0000CC"/>
                </a:solidFill>
              </a:rPr>
              <a:t>2</a:t>
            </a:r>
            <a:r>
              <a:rPr b="1" i="1" lang="en-US">
                <a:solidFill>
                  <a:srgbClr val="0000CC"/>
                </a:solidFill>
              </a:rPr>
              <a:t> </a:t>
            </a:r>
            <a:r>
              <a:rPr i="1" lang="en-US">
                <a:solidFill>
                  <a:srgbClr val="0000CC"/>
                </a:solidFill>
              </a:rPr>
              <a:t>                            (2)</a:t>
            </a:r>
            <a:endParaRPr b="1" baseline="-25000" i="1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i="1" lang="en-US">
                <a:solidFill>
                  <a:srgbClr val="0000CC"/>
                </a:solidFill>
              </a:rPr>
              <a:t>             r - hằng số.</a:t>
            </a:r>
            <a:endParaRPr>
              <a:solidFill>
                <a:srgbClr val="0000CC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 sz="2800">
              <a:solidFill>
                <a:srgbClr val="00206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</p:txBody>
      </p:sp>
      <p:sp>
        <p:nvSpPr>
          <p:cNvPr id="488" name="Google Shape;488;p29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489" name="Google Shape;489;p2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="1" lang="en-US" sz="2400">
                <a:solidFill>
                  <a:srgbClr val="0000CC"/>
                </a:solidFill>
              </a:rPr>
              <a:t>Nếu (2</a:t>
            </a:r>
            <a:r>
              <a:rPr lang="en-US" sz="2400">
                <a:solidFill>
                  <a:srgbClr val="0000CC"/>
                </a:solidFill>
              </a:rPr>
              <a:t>) có </a:t>
            </a:r>
            <a:r>
              <a:rPr i="1" lang="en-US" sz="2400">
                <a:solidFill>
                  <a:srgbClr val="0000CC"/>
                </a:solidFill>
              </a:rPr>
              <a:t>hai nghiệm thực phân biệt r</a:t>
            </a:r>
            <a:r>
              <a:rPr baseline="-25000" i="1" lang="en-US" sz="2400">
                <a:solidFill>
                  <a:srgbClr val="0000CC"/>
                </a:solidFill>
              </a:rPr>
              <a:t>1</a:t>
            </a:r>
            <a:r>
              <a:rPr i="1" lang="en-US" sz="2400">
                <a:solidFill>
                  <a:srgbClr val="0000CC"/>
                </a:solidFill>
              </a:rPr>
              <a:t>,</a:t>
            </a:r>
            <a:r>
              <a:rPr baseline="-25000" i="1" lang="en-US" sz="2400">
                <a:solidFill>
                  <a:srgbClr val="0000CC"/>
                </a:solidFill>
              </a:rPr>
              <a:t> </a:t>
            </a:r>
            <a:r>
              <a:rPr i="1" lang="en-US" sz="2400">
                <a:solidFill>
                  <a:srgbClr val="0000CC"/>
                </a:solidFill>
              </a:rPr>
              <a:t>r</a:t>
            </a:r>
            <a:r>
              <a:rPr baseline="-25000" lang="en-US" sz="2400">
                <a:solidFill>
                  <a:srgbClr val="0000CC"/>
                </a:solidFill>
              </a:rPr>
              <a:t>2</a:t>
            </a:r>
            <a:r>
              <a:rPr lang="en-US" sz="2400">
                <a:solidFill>
                  <a:srgbClr val="0000CC"/>
                </a:solidFill>
              </a:rPr>
              <a:t>  và có </a:t>
            </a:r>
            <a:r>
              <a:rPr lang="en-US" sz="2400">
                <a:solidFill>
                  <a:srgbClr val="0000CC"/>
                </a:solidFill>
              </a:rPr>
              <a:t>hai điều kiện đầu </a:t>
            </a:r>
            <a:r>
              <a:rPr lang="en-US" sz="2400">
                <a:solidFill>
                  <a:srgbClr val="0000CC"/>
                </a:solidFill>
              </a:rPr>
              <a:t>a</a:t>
            </a:r>
            <a:r>
              <a:rPr baseline="-25000" lang="en-US" sz="2400">
                <a:solidFill>
                  <a:srgbClr val="0000CC"/>
                </a:solidFill>
              </a:rPr>
              <a:t>0 </a:t>
            </a:r>
            <a:r>
              <a:rPr lang="en-US" sz="2400">
                <a:solidFill>
                  <a:srgbClr val="0000CC"/>
                </a:solidFill>
              </a:rPr>
              <a:t>=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I</a:t>
            </a:r>
            <a:r>
              <a:rPr baseline="-25000" lang="en-US" sz="2400">
                <a:solidFill>
                  <a:srgbClr val="0000CC"/>
                </a:solidFill>
              </a:rPr>
              <a:t>0</a:t>
            </a:r>
            <a:r>
              <a:rPr lang="en-US" sz="2400">
                <a:solidFill>
                  <a:srgbClr val="0000CC"/>
                </a:solidFill>
              </a:rPr>
              <a:t> ,a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=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I</a:t>
            </a:r>
            <a:r>
              <a:rPr baseline="-25000" lang="en-US" sz="2400">
                <a:solidFill>
                  <a:srgbClr val="0000CC"/>
                </a:solidFill>
              </a:rPr>
              <a:t>1</a:t>
            </a:r>
            <a:r>
              <a:rPr lang="en-US" sz="2400">
                <a:solidFill>
                  <a:srgbClr val="0000CC"/>
                </a:solidFill>
              </a:rPr>
              <a:t>, thì tồn tại duy nhất hằng số d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,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d</a:t>
            </a:r>
            <a:r>
              <a:rPr baseline="-25000" lang="en-US" sz="2400">
                <a:solidFill>
                  <a:srgbClr val="0000CC"/>
                </a:solidFill>
              </a:rPr>
              <a:t>2</a:t>
            </a:r>
            <a:r>
              <a:rPr lang="en-US" sz="2400">
                <a:solidFill>
                  <a:srgbClr val="0000CC"/>
                </a:solidFill>
              </a:rPr>
              <a:t>: 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400">
                <a:solidFill>
                  <a:srgbClr val="0000CC"/>
                </a:solidFill>
              </a:rPr>
              <a:t>              </a:t>
            </a:r>
            <a:r>
              <a:rPr b="1" lang="en-US" sz="2400">
                <a:solidFill>
                  <a:srgbClr val="0000CC"/>
                </a:solidFill>
              </a:rPr>
              <a:t>a</a:t>
            </a:r>
            <a:r>
              <a:rPr b="1" baseline="-25000" lang="en-US" sz="2400">
                <a:solidFill>
                  <a:srgbClr val="0000CC"/>
                </a:solidFill>
              </a:rPr>
              <a:t>n </a:t>
            </a:r>
            <a:r>
              <a:rPr b="1" lang="en-US" sz="2400">
                <a:solidFill>
                  <a:srgbClr val="0000CC"/>
                </a:solidFill>
              </a:rPr>
              <a:t>= d</a:t>
            </a:r>
            <a:r>
              <a:rPr b="1" baseline="-25000" lang="en-US" sz="2400">
                <a:solidFill>
                  <a:srgbClr val="0000CC"/>
                </a:solidFill>
              </a:rPr>
              <a:t>1 </a:t>
            </a:r>
            <a:r>
              <a:rPr b="1" lang="en-US" sz="2400">
                <a:solidFill>
                  <a:srgbClr val="0000CC"/>
                </a:solidFill>
              </a:rPr>
              <a:t>r</a:t>
            </a:r>
            <a:r>
              <a:rPr b="1" baseline="30000" lang="en-US" sz="2400">
                <a:solidFill>
                  <a:srgbClr val="0000CC"/>
                </a:solidFill>
              </a:rPr>
              <a:t>n</a:t>
            </a:r>
            <a:r>
              <a:rPr b="1" baseline="-25000" lang="en-US" sz="2400">
                <a:solidFill>
                  <a:srgbClr val="0000CC"/>
                </a:solidFill>
              </a:rPr>
              <a:t>1</a:t>
            </a:r>
            <a:r>
              <a:rPr b="1" lang="en-US" sz="2400">
                <a:solidFill>
                  <a:srgbClr val="0000CC"/>
                </a:solidFill>
              </a:rPr>
              <a:t> + d</a:t>
            </a:r>
            <a:r>
              <a:rPr b="1" baseline="-25000" lang="en-US" sz="2400">
                <a:solidFill>
                  <a:srgbClr val="0000CC"/>
                </a:solidFill>
              </a:rPr>
              <a:t>2 </a:t>
            </a:r>
            <a:r>
              <a:rPr b="1" lang="en-US" sz="2400">
                <a:solidFill>
                  <a:srgbClr val="0000CC"/>
                </a:solidFill>
              </a:rPr>
              <a:t>r</a:t>
            </a:r>
            <a:r>
              <a:rPr b="1" baseline="30000" lang="en-US" sz="2400">
                <a:solidFill>
                  <a:srgbClr val="0000CC"/>
                </a:solidFill>
              </a:rPr>
              <a:t>n</a:t>
            </a:r>
            <a:r>
              <a:rPr b="1" baseline="-25000" lang="en-US" sz="2400">
                <a:solidFill>
                  <a:srgbClr val="0000CC"/>
                </a:solidFill>
              </a:rPr>
              <a:t>2</a:t>
            </a:r>
            <a:r>
              <a:rPr b="1" lang="en-US" sz="2400">
                <a:solidFill>
                  <a:srgbClr val="0000CC"/>
                </a:solidFill>
              </a:rPr>
              <a:t>  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400">
                <a:solidFill>
                  <a:srgbClr val="0000CC"/>
                </a:solidFill>
              </a:rPr>
              <a:t>              </a:t>
            </a:r>
            <a:r>
              <a:rPr lang="en-US" sz="2400">
                <a:solidFill>
                  <a:srgbClr val="0000CC"/>
                </a:solidFill>
              </a:rPr>
              <a:t>là </a:t>
            </a:r>
            <a:r>
              <a:rPr b="1" lang="en-US" sz="2400">
                <a:solidFill>
                  <a:srgbClr val="0000CC"/>
                </a:solidFill>
              </a:rPr>
              <a:t>nghiệm của  (1)</a:t>
            </a:r>
            <a:endParaRPr b="1" sz="2400">
              <a:solidFill>
                <a:srgbClr val="0000CC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="1" lang="en-US" sz="2400">
                <a:solidFill>
                  <a:srgbClr val="0000CC"/>
                </a:solidFill>
              </a:rPr>
              <a:t>Nếu (2) </a:t>
            </a:r>
            <a:r>
              <a:rPr lang="en-US" sz="2400">
                <a:solidFill>
                  <a:srgbClr val="0000CC"/>
                </a:solidFill>
              </a:rPr>
              <a:t>có </a:t>
            </a:r>
            <a:r>
              <a:rPr i="1" lang="en-US" sz="2400">
                <a:solidFill>
                  <a:srgbClr val="0000CC"/>
                </a:solidFill>
              </a:rPr>
              <a:t>nghiệm thực kép r</a:t>
            </a:r>
            <a:r>
              <a:rPr baseline="-25000" i="1" lang="en-US" sz="2400">
                <a:solidFill>
                  <a:srgbClr val="0000CC"/>
                </a:solidFill>
              </a:rPr>
              <a:t>1,</a:t>
            </a:r>
            <a:r>
              <a:rPr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và có hai điều kiện đầu </a:t>
            </a:r>
            <a:r>
              <a:rPr lang="en-US" sz="2400">
                <a:solidFill>
                  <a:srgbClr val="0000CC"/>
                </a:solidFill>
              </a:rPr>
              <a:t> a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=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I</a:t>
            </a:r>
            <a:r>
              <a:rPr baseline="-25000" lang="en-US" sz="2400">
                <a:solidFill>
                  <a:srgbClr val="0000CC"/>
                </a:solidFill>
              </a:rPr>
              <a:t>0</a:t>
            </a:r>
            <a:r>
              <a:rPr lang="en-US" sz="2400">
                <a:solidFill>
                  <a:srgbClr val="0000CC"/>
                </a:solidFill>
              </a:rPr>
              <a:t> ,a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=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I</a:t>
            </a:r>
            <a:r>
              <a:rPr baseline="-25000" lang="en-US" sz="2400">
                <a:solidFill>
                  <a:srgbClr val="0000CC"/>
                </a:solidFill>
              </a:rPr>
              <a:t>1</a:t>
            </a:r>
            <a:r>
              <a:rPr lang="en-US" sz="2400">
                <a:solidFill>
                  <a:srgbClr val="0000CC"/>
                </a:solidFill>
              </a:rPr>
              <a:t> thì tồn tại duy nhất hằng số d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,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d</a:t>
            </a:r>
            <a:r>
              <a:rPr baseline="-25000" lang="en-US" sz="2400">
                <a:solidFill>
                  <a:srgbClr val="0000CC"/>
                </a:solidFill>
              </a:rPr>
              <a:t>2</a:t>
            </a:r>
            <a:r>
              <a:rPr lang="en-US" sz="2400">
                <a:solidFill>
                  <a:srgbClr val="0000CC"/>
                </a:solidFill>
              </a:rPr>
              <a:t>: 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400">
                <a:solidFill>
                  <a:srgbClr val="0000CC"/>
                </a:solidFill>
              </a:rPr>
              <a:t>               a</a:t>
            </a:r>
            <a:r>
              <a:rPr b="1" baseline="-25000" lang="en-US" sz="2400">
                <a:solidFill>
                  <a:srgbClr val="0000CC"/>
                </a:solidFill>
              </a:rPr>
              <a:t>n </a:t>
            </a:r>
            <a:r>
              <a:rPr b="1" lang="en-US" sz="2400">
                <a:solidFill>
                  <a:srgbClr val="0000CC"/>
                </a:solidFill>
              </a:rPr>
              <a:t>= (d</a:t>
            </a:r>
            <a:r>
              <a:rPr b="1" baseline="-25000" lang="en-US" sz="2400">
                <a:solidFill>
                  <a:srgbClr val="0000CC"/>
                </a:solidFill>
              </a:rPr>
              <a:t>1</a:t>
            </a:r>
            <a:r>
              <a:rPr b="1" lang="en-US" sz="2400">
                <a:solidFill>
                  <a:srgbClr val="0000CC"/>
                </a:solidFill>
              </a:rPr>
              <a:t> + d</a:t>
            </a:r>
            <a:r>
              <a:rPr b="1" baseline="-25000" lang="en-US" sz="2400">
                <a:solidFill>
                  <a:srgbClr val="0000CC"/>
                </a:solidFill>
              </a:rPr>
              <a:t>2 </a:t>
            </a:r>
            <a:r>
              <a:rPr b="1" lang="en-US" sz="2400">
                <a:solidFill>
                  <a:srgbClr val="0000CC"/>
                </a:solidFill>
              </a:rPr>
              <a:t>n )r</a:t>
            </a:r>
            <a:r>
              <a:rPr b="1" baseline="30000" lang="en-US" sz="2400">
                <a:solidFill>
                  <a:srgbClr val="0000CC"/>
                </a:solidFill>
              </a:rPr>
              <a:t>n</a:t>
            </a:r>
            <a:r>
              <a:rPr b="1" baseline="-25000" lang="en-US" sz="2400">
                <a:solidFill>
                  <a:srgbClr val="0000CC"/>
                </a:solidFill>
              </a:rPr>
              <a:t>1</a:t>
            </a:r>
            <a:r>
              <a:rPr b="1" lang="en-US" sz="2400">
                <a:solidFill>
                  <a:srgbClr val="0000CC"/>
                </a:solidFill>
              </a:rPr>
              <a:t> 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400">
                <a:solidFill>
                  <a:srgbClr val="0000CC"/>
                </a:solidFill>
              </a:rPr>
              <a:t>              </a:t>
            </a:r>
            <a:r>
              <a:rPr lang="en-US" sz="2400">
                <a:solidFill>
                  <a:srgbClr val="0000CC"/>
                </a:solidFill>
              </a:rPr>
              <a:t>là </a:t>
            </a:r>
            <a:r>
              <a:rPr b="1" lang="en-US" sz="2400">
                <a:solidFill>
                  <a:srgbClr val="0000CC"/>
                </a:solidFill>
              </a:rPr>
              <a:t>nghiệm của  (1)</a:t>
            </a:r>
            <a:endParaRPr b="1" sz="2400">
              <a:solidFill>
                <a:srgbClr val="0000CC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solidFill>
                <a:srgbClr val="0000CC"/>
              </a:solidFill>
            </a:endParaRPr>
          </a:p>
        </p:txBody>
      </p:sp>
      <p:sp>
        <p:nvSpPr>
          <p:cNvPr id="495" name="Google Shape;495;p30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496" name="Google Shape;496;p3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7" name="Google Shape;497;p3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1"/>
          <p:cNvSpPr txBox="1"/>
          <p:nvPr>
            <p:ph idx="1" type="body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="1" lang="en-US" sz="2400">
                <a:solidFill>
                  <a:srgbClr val="0000CC"/>
                </a:solidFill>
              </a:rPr>
              <a:t>Cần chứng minh: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Char char="•"/>
            </a:pPr>
            <a:r>
              <a:rPr lang="en-US" sz="2000">
                <a:solidFill>
                  <a:srgbClr val="0000CC"/>
                </a:solidFill>
              </a:rPr>
              <a:t>  </a:t>
            </a:r>
            <a:r>
              <a:rPr lang="en-US">
                <a:solidFill>
                  <a:srgbClr val="0000CC"/>
                </a:solidFill>
              </a:rPr>
              <a:t>a</a:t>
            </a:r>
            <a:r>
              <a:rPr baseline="-25000" lang="en-US">
                <a:solidFill>
                  <a:srgbClr val="0000CC"/>
                </a:solidFill>
              </a:rPr>
              <a:t>n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30000" lang="en-US">
                <a:solidFill>
                  <a:srgbClr val="0000CC"/>
                </a:solidFill>
              </a:rPr>
              <a:t>n</a:t>
            </a:r>
            <a:r>
              <a:rPr baseline="-25000" lang="en-US">
                <a:solidFill>
                  <a:srgbClr val="0000CC"/>
                </a:solidFill>
              </a:rPr>
              <a:t>1</a:t>
            </a:r>
            <a:r>
              <a:rPr lang="en-US">
                <a:solidFill>
                  <a:srgbClr val="0000CC"/>
                </a:solidFill>
              </a:rPr>
              <a:t> + d</a:t>
            </a:r>
            <a:r>
              <a:rPr baseline="-25000" lang="en-US">
                <a:solidFill>
                  <a:srgbClr val="0000CC"/>
                </a:solidFill>
              </a:rPr>
              <a:t>2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30000" lang="en-US">
                <a:solidFill>
                  <a:srgbClr val="0000CC"/>
                </a:solidFill>
              </a:rPr>
              <a:t>n</a:t>
            </a:r>
            <a:r>
              <a:rPr baseline="-25000" lang="en-US">
                <a:solidFill>
                  <a:srgbClr val="0000CC"/>
                </a:solidFill>
              </a:rPr>
              <a:t>2</a:t>
            </a:r>
            <a:r>
              <a:rPr lang="en-US">
                <a:solidFill>
                  <a:srgbClr val="0000CC"/>
                </a:solidFill>
              </a:rPr>
              <a:t>  là nghiệm của  (1)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>
                <a:solidFill>
                  <a:srgbClr val="0000CC"/>
                </a:solidFill>
              </a:rPr>
              <a:t>  tồn tại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 d</a:t>
            </a:r>
            <a:r>
              <a:rPr baseline="-25000" lang="en-US">
                <a:solidFill>
                  <a:srgbClr val="0000CC"/>
                </a:solidFill>
              </a:rPr>
              <a:t>2  </a:t>
            </a:r>
            <a:r>
              <a:rPr lang="en-US">
                <a:solidFill>
                  <a:srgbClr val="0000CC"/>
                </a:solidFill>
              </a:rPr>
              <a:t>duy nhất không ?</a:t>
            </a:r>
            <a:endParaRPr>
              <a:solidFill>
                <a:srgbClr val="0000CC"/>
              </a:solidFill>
            </a:endParaRPr>
          </a:p>
          <a:p>
            <a:pPr indent="-406400" lvl="0" marL="342900" rtl="0" algn="l"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Char char="•"/>
            </a:pPr>
            <a:r>
              <a:rPr b="1" lang="en-US" sz="2400">
                <a:solidFill>
                  <a:srgbClr val="0000CC"/>
                </a:solidFill>
              </a:rPr>
              <a:t>Chứng minh: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>
                <a:solidFill>
                  <a:srgbClr val="0000CC"/>
                </a:solidFill>
              </a:rPr>
              <a:t> c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a</a:t>
            </a:r>
            <a:r>
              <a:rPr baseline="-25000" lang="en-US">
                <a:solidFill>
                  <a:srgbClr val="0000CC"/>
                </a:solidFill>
              </a:rPr>
              <a:t>n-1 </a:t>
            </a:r>
            <a:r>
              <a:rPr lang="en-US">
                <a:solidFill>
                  <a:srgbClr val="0000CC"/>
                </a:solidFill>
              </a:rPr>
              <a:t>+ c</a:t>
            </a:r>
            <a:r>
              <a:rPr baseline="-25000" lang="en-US">
                <a:solidFill>
                  <a:srgbClr val="0000CC"/>
                </a:solidFill>
              </a:rPr>
              <a:t>2 </a:t>
            </a:r>
            <a:r>
              <a:rPr lang="en-US">
                <a:solidFill>
                  <a:srgbClr val="0000CC"/>
                </a:solidFill>
              </a:rPr>
              <a:t>a</a:t>
            </a:r>
            <a:r>
              <a:rPr baseline="-25000" lang="en-US">
                <a:solidFill>
                  <a:srgbClr val="0000CC"/>
                </a:solidFill>
              </a:rPr>
              <a:t>n-2 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30000" lang="en-US">
                <a:solidFill>
                  <a:srgbClr val="0000CC"/>
                </a:solidFill>
              </a:rPr>
              <a:t>n</a:t>
            </a:r>
            <a:r>
              <a:rPr baseline="-25000" lang="en-US">
                <a:solidFill>
                  <a:srgbClr val="0000CC"/>
                </a:solidFill>
              </a:rPr>
              <a:t>1</a:t>
            </a:r>
            <a:r>
              <a:rPr lang="en-US">
                <a:solidFill>
                  <a:srgbClr val="0000CC"/>
                </a:solidFill>
              </a:rPr>
              <a:t> + d</a:t>
            </a:r>
            <a:r>
              <a:rPr baseline="-25000" lang="en-US">
                <a:solidFill>
                  <a:srgbClr val="0000CC"/>
                </a:solidFill>
              </a:rPr>
              <a:t>2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30000" lang="en-US">
                <a:solidFill>
                  <a:srgbClr val="0000CC"/>
                </a:solidFill>
              </a:rPr>
              <a:t>n</a:t>
            </a:r>
            <a:r>
              <a:rPr baseline="-25000" lang="en-US">
                <a:solidFill>
                  <a:srgbClr val="0000CC"/>
                </a:solidFill>
              </a:rPr>
              <a:t>2</a:t>
            </a:r>
            <a:r>
              <a:rPr lang="en-US">
                <a:solidFill>
                  <a:srgbClr val="0000CC"/>
                </a:solidFill>
              </a:rPr>
              <a:t> với mọi </a:t>
            </a:r>
            <a:r>
              <a:rPr i="1" lang="en-US">
                <a:solidFill>
                  <a:srgbClr val="0000CC"/>
                </a:solidFill>
              </a:rPr>
              <a:t>n≥2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>
                <a:solidFill>
                  <a:srgbClr val="0000CC"/>
                </a:solidFill>
              </a:rPr>
              <a:t>      I</a:t>
            </a:r>
            <a:r>
              <a:rPr baseline="-25000" lang="en-US">
                <a:solidFill>
                  <a:srgbClr val="0000CC"/>
                </a:solidFill>
              </a:rPr>
              <a:t>0 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+ d</a:t>
            </a:r>
            <a:r>
              <a:rPr baseline="-25000" lang="en-US">
                <a:solidFill>
                  <a:srgbClr val="0000CC"/>
                </a:solidFill>
              </a:rPr>
              <a:t>2                         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aseline="-25000" lang="en-US">
                <a:solidFill>
                  <a:srgbClr val="0000CC"/>
                </a:solidFill>
              </a:rPr>
              <a:t>        </a:t>
            </a:r>
            <a:r>
              <a:rPr lang="en-US">
                <a:solidFill>
                  <a:srgbClr val="0000CC"/>
                </a:solidFill>
              </a:rPr>
              <a:t>I</a:t>
            </a:r>
            <a:r>
              <a:rPr baseline="-25000" lang="en-US">
                <a:solidFill>
                  <a:srgbClr val="0000CC"/>
                </a:solidFill>
              </a:rPr>
              <a:t>1 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+ d</a:t>
            </a:r>
            <a:r>
              <a:rPr baseline="-25000" lang="en-US">
                <a:solidFill>
                  <a:srgbClr val="0000CC"/>
                </a:solidFill>
              </a:rPr>
              <a:t>2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-25000" lang="en-US">
                <a:solidFill>
                  <a:srgbClr val="0000CC"/>
                </a:solidFill>
              </a:rPr>
              <a:t>2            </a:t>
            </a:r>
            <a:r>
              <a:rPr lang="en-US">
                <a:solidFill>
                  <a:srgbClr val="0000CC"/>
                </a:solidFill>
              </a:rPr>
              <a:t> Suy ra 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 d</a:t>
            </a:r>
            <a:r>
              <a:rPr baseline="-25000" lang="en-US">
                <a:solidFill>
                  <a:srgbClr val="0000CC"/>
                </a:solidFill>
              </a:rPr>
              <a:t>2  </a:t>
            </a:r>
            <a:r>
              <a:rPr lang="en-US">
                <a:solidFill>
                  <a:srgbClr val="0000CC"/>
                </a:solidFill>
              </a:rPr>
              <a:t>duy nhất  </a:t>
            </a:r>
            <a:endParaRPr baseline="-25000">
              <a:solidFill>
                <a:srgbClr val="0000CC"/>
              </a:solidFill>
            </a:endParaRPr>
          </a:p>
          <a:p>
            <a:pPr indent="0" lvl="0" marL="11430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        </a:t>
            </a:r>
            <a:endParaRPr baseline="-25000">
              <a:solidFill>
                <a:srgbClr val="0000CC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00CC"/>
                </a:solidFill>
              </a:rPr>
              <a:t>      </a:t>
            </a:r>
            <a:endParaRPr>
              <a:solidFill>
                <a:srgbClr val="0000CC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00CC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00CC"/>
              </a:solidFill>
            </a:endParaRPr>
          </a:p>
        </p:txBody>
      </p:sp>
      <p:sp>
        <p:nvSpPr>
          <p:cNvPr id="503" name="Google Shape;503;p31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04" name="Google Shape;504;p3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31"/>
          <p:cNvSpPr/>
          <p:nvPr/>
        </p:nvSpPr>
        <p:spPr>
          <a:xfrm>
            <a:off x="1742350" y="3689850"/>
            <a:ext cx="231600" cy="6096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3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2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Char char="•"/>
            </a:pPr>
            <a:r>
              <a:rPr lang="en-US">
                <a:solidFill>
                  <a:srgbClr val="0000CC"/>
                </a:solidFill>
              </a:rPr>
              <a:t>Bài toán họ nhà thỏ có hệ thức truy hồi</a:t>
            </a:r>
            <a:endParaRPr sz="2800"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                a</a:t>
            </a:r>
            <a:r>
              <a:rPr b="1" baseline="-25000" lang="en-US" sz="2800">
                <a:solidFill>
                  <a:srgbClr val="0000CC"/>
                </a:solidFill>
              </a:rPr>
              <a:t>n </a:t>
            </a:r>
            <a:r>
              <a:rPr b="1" lang="en-US" sz="2800">
                <a:solidFill>
                  <a:srgbClr val="0000CC"/>
                </a:solidFill>
              </a:rPr>
              <a:t>= a</a:t>
            </a:r>
            <a:r>
              <a:rPr b="1" baseline="-25000" lang="en-US" sz="2800">
                <a:solidFill>
                  <a:srgbClr val="0000CC"/>
                </a:solidFill>
              </a:rPr>
              <a:t>n-1 </a:t>
            </a:r>
            <a:r>
              <a:rPr b="1" lang="en-US" sz="2800">
                <a:solidFill>
                  <a:srgbClr val="0000CC"/>
                </a:solidFill>
              </a:rPr>
              <a:t> + a</a:t>
            </a:r>
            <a:r>
              <a:rPr b="1" baseline="-25000" lang="en-US" sz="2800">
                <a:solidFill>
                  <a:srgbClr val="0000CC"/>
                </a:solidFill>
              </a:rPr>
              <a:t>n-2 </a:t>
            </a:r>
            <a:r>
              <a:rPr lang="en-US" sz="2800">
                <a:solidFill>
                  <a:srgbClr val="0000CC"/>
                </a:solidFill>
              </a:rPr>
              <a:t>,</a:t>
            </a:r>
            <a:r>
              <a:rPr b="1" lang="en-US" sz="2800">
                <a:solidFill>
                  <a:srgbClr val="0000CC"/>
                </a:solidFill>
              </a:rPr>
              <a:t> n≥2; a</a:t>
            </a:r>
            <a:r>
              <a:rPr b="1" baseline="-25000" lang="en-US" sz="2800">
                <a:solidFill>
                  <a:srgbClr val="0000CC"/>
                </a:solidFill>
              </a:rPr>
              <a:t>0 </a:t>
            </a:r>
            <a:r>
              <a:rPr b="1" lang="en-US" sz="2800">
                <a:solidFill>
                  <a:srgbClr val="0000CC"/>
                </a:solidFill>
              </a:rPr>
              <a:t>= 1, a</a:t>
            </a:r>
            <a:r>
              <a:rPr b="1" baseline="-25000" lang="en-US" sz="2800">
                <a:solidFill>
                  <a:srgbClr val="0000CC"/>
                </a:solidFill>
              </a:rPr>
              <a:t>1</a:t>
            </a:r>
            <a:r>
              <a:rPr lang="en-US" sz="2800">
                <a:solidFill>
                  <a:srgbClr val="0000CC"/>
                </a:solidFill>
              </a:rPr>
              <a:t> </a:t>
            </a:r>
            <a:r>
              <a:rPr b="1" lang="en-US" sz="2800">
                <a:solidFill>
                  <a:srgbClr val="0000CC"/>
                </a:solidFill>
              </a:rPr>
              <a:t>= 1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</a:t>
            </a:r>
            <a:endParaRPr b="1" sz="2800"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Giải: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Bước 1: </a:t>
            </a:r>
            <a:r>
              <a:rPr lang="en-US" sz="2400">
                <a:solidFill>
                  <a:srgbClr val="0000CC"/>
                </a:solidFill>
              </a:rPr>
              <a:t>Tìm nghiệm tổng quát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Bước 2</a:t>
            </a:r>
            <a:r>
              <a:rPr lang="en-US" sz="2400">
                <a:solidFill>
                  <a:srgbClr val="0000CC"/>
                </a:solidFill>
              </a:rPr>
              <a:t>:</a:t>
            </a:r>
            <a:r>
              <a:rPr b="1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Tìm  hệ số hằng 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Bước 3: </a:t>
            </a:r>
            <a:r>
              <a:rPr lang="en-US" sz="2400">
                <a:solidFill>
                  <a:srgbClr val="0000CC"/>
                </a:solidFill>
              </a:rPr>
              <a:t>Nghiệm của hệ thức truy hồi</a:t>
            </a:r>
            <a:endParaRPr b="1" sz="2400">
              <a:solidFill>
                <a:srgbClr val="0000CC"/>
              </a:solidFill>
            </a:endParaRPr>
          </a:p>
        </p:txBody>
      </p:sp>
      <p:sp>
        <p:nvSpPr>
          <p:cNvPr id="512" name="Google Shape;512;p3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13" name="Google Shape;513;p3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3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3"/>
          <p:cNvSpPr txBox="1"/>
          <p:nvPr>
            <p:ph idx="1" type="body"/>
          </p:nvPr>
        </p:nvSpPr>
        <p:spPr>
          <a:xfrm>
            <a:off x="457200" y="13716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   </a:t>
            </a:r>
            <a:r>
              <a:rPr b="1" lang="en-US" sz="2800">
                <a:solidFill>
                  <a:srgbClr val="0000CC"/>
                </a:solidFill>
              </a:rPr>
              <a:t>Bước 1: </a:t>
            </a:r>
            <a:r>
              <a:rPr lang="en-US" sz="2800">
                <a:solidFill>
                  <a:srgbClr val="0000CC"/>
                </a:solidFill>
              </a:rPr>
              <a:t>Tìm nghiệm tổng quát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lang="en-US" sz="2400">
                <a:solidFill>
                  <a:srgbClr val="0000CC"/>
                </a:solidFill>
              </a:rPr>
              <a:t>Phương trình đặc trưng:              </a:t>
            </a:r>
            <a:r>
              <a:rPr b="1" lang="en-US">
                <a:solidFill>
                  <a:srgbClr val="0000CC"/>
                </a:solidFill>
              </a:rPr>
              <a:t>r</a:t>
            </a:r>
            <a:r>
              <a:rPr b="1" baseline="30000" lang="en-US">
                <a:solidFill>
                  <a:srgbClr val="0000CC"/>
                </a:solidFill>
              </a:rPr>
              <a:t>2</a:t>
            </a:r>
            <a:r>
              <a:rPr b="1" lang="en-US">
                <a:solidFill>
                  <a:srgbClr val="0000CC"/>
                </a:solidFill>
              </a:rPr>
              <a:t> = </a:t>
            </a:r>
            <a:r>
              <a:rPr b="1" baseline="-25000" lang="en-US">
                <a:solidFill>
                  <a:srgbClr val="0000CC"/>
                </a:solidFill>
              </a:rPr>
              <a:t> </a:t>
            </a:r>
            <a:r>
              <a:rPr b="1" lang="en-US">
                <a:solidFill>
                  <a:srgbClr val="0000CC"/>
                </a:solidFill>
              </a:rPr>
              <a:t>r +1      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lang="en-US" sz="2400">
                <a:solidFill>
                  <a:srgbClr val="0000CC"/>
                </a:solidFill>
              </a:rPr>
              <a:t>Nghiệm của pt đặc trưng: </a:t>
            </a:r>
            <a:r>
              <a:rPr b="1" lang="en-US">
                <a:solidFill>
                  <a:srgbClr val="0000CC"/>
                </a:solidFill>
              </a:rPr>
              <a:t>r</a:t>
            </a:r>
            <a:r>
              <a:rPr b="1" baseline="-25000" lang="en-US">
                <a:solidFill>
                  <a:srgbClr val="0000CC"/>
                </a:solidFill>
              </a:rPr>
              <a:t>1 </a:t>
            </a:r>
            <a:r>
              <a:rPr b="1" lang="en-US">
                <a:solidFill>
                  <a:srgbClr val="0000CC"/>
                </a:solidFill>
              </a:rPr>
              <a:t>= (1+√5)/2 ,  r</a:t>
            </a:r>
            <a:r>
              <a:rPr b="1" baseline="-25000" lang="en-US">
                <a:solidFill>
                  <a:srgbClr val="0000CC"/>
                </a:solidFill>
              </a:rPr>
              <a:t>2 </a:t>
            </a:r>
            <a:r>
              <a:rPr b="1" lang="en-US">
                <a:solidFill>
                  <a:srgbClr val="0000CC"/>
                </a:solidFill>
              </a:rPr>
              <a:t>= (1-√5)/2 </a:t>
            </a:r>
            <a:endParaRPr b="1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lang="en-US" sz="2400">
                <a:solidFill>
                  <a:srgbClr val="0000CC"/>
                </a:solidFill>
              </a:rPr>
              <a:t>Nghiệm tổng quát: </a:t>
            </a:r>
            <a:r>
              <a:rPr b="1" lang="en-US" sz="2400">
                <a:solidFill>
                  <a:srgbClr val="0000CC"/>
                </a:solidFill>
              </a:rPr>
              <a:t> </a:t>
            </a:r>
            <a:r>
              <a:rPr b="1" lang="en-US">
                <a:solidFill>
                  <a:srgbClr val="0000CC"/>
                </a:solidFill>
              </a:rPr>
              <a:t>a</a:t>
            </a:r>
            <a:r>
              <a:rPr b="1" baseline="-25000" lang="en-US">
                <a:solidFill>
                  <a:srgbClr val="0000CC"/>
                </a:solidFill>
              </a:rPr>
              <a:t>n </a:t>
            </a:r>
            <a:r>
              <a:rPr b="1" lang="en-US">
                <a:solidFill>
                  <a:srgbClr val="0000CC"/>
                </a:solidFill>
              </a:rPr>
              <a:t>= d</a:t>
            </a:r>
            <a:r>
              <a:rPr b="1" baseline="-25000" lang="en-US">
                <a:solidFill>
                  <a:srgbClr val="0000CC"/>
                </a:solidFill>
              </a:rPr>
              <a:t>1</a:t>
            </a:r>
            <a:r>
              <a:rPr b="1" lang="en-US">
                <a:solidFill>
                  <a:srgbClr val="0000CC"/>
                </a:solidFill>
              </a:rPr>
              <a:t>((1+√5)/2)</a:t>
            </a:r>
            <a:r>
              <a:rPr b="1" baseline="30000" lang="en-US">
                <a:solidFill>
                  <a:srgbClr val="0000CC"/>
                </a:solidFill>
              </a:rPr>
              <a:t>n </a:t>
            </a:r>
            <a:r>
              <a:rPr b="1" lang="en-US">
                <a:solidFill>
                  <a:srgbClr val="0000CC"/>
                </a:solidFill>
              </a:rPr>
              <a:t>+ d</a:t>
            </a:r>
            <a:r>
              <a:rPr b="1" baseline="-25000" lang="en-US">
                <a:solidFill>
                  <a:srgbClr val="0000CC"/>
                </a:solidFill>
              </a:rPr>
              <a:t>2</a:t>
            </a:r>
            <a:r>
              <a:rPr b="1" lang="en-US">
                <a:solidFill>
                  <a:srgbClr val="0000CC"/>
                </a:solidFill>
              </a:rPr>
              <a:t> ((1+√5)/2)</a:t>
            </a:r>
            <a:r>
              <a:rPr b="1" baseline="30000" lang="en-US">
                <a:solidFill>
                  <a:srgbClr val="0000CC"/>
                </a:solidFill>
              </a:rPr>
              <a:t>n 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Bước 2</a:t>
            </a:r>
            <a:r>
              <a:rPr lang="en-US" sz="2800">
                <a:solidFill>
                  <a:srgbClr val="0000CC"/>
                </a:solidFill>
              </a:rPr>
              <a:t>:</a:t>
            </a:r>
            <a:r>
              <a:rPr b="1" lang="en-US" sz="2800">
                <a:solidFill>
                  <a:srgbClr val="0000CC"/>
                </a:solidFill>
              </a:rPr>
              <a:t> </a:t>
            </a:r>
            <a:r>
              <a:rPr lang="en-US" sz="2800">
                <a:solidFill>
                  <a:srgbClr val="0000CC"/>
                </a:solidFill>
              </a:rPr>
              <a:t>Tìm hằng số </a:t>
            </a:r>
            <a:r>
              <a:rPr b="1" lang="en-US" sz="2800">
                <a:solidFill>
                  <a:srgbClr val="0000CC"/>
                </a:solidFill>
              </a:rPr>
              <a:t>d</a:t>
            </a:r>
            <a:r>
              <a:rPr b="1" baseline="-25000" lang="en-US" sz="2800">
                <a:solidFill>
                  <a:srgbClr val="0000CC"/>
                </a:solidFill>
              </a:rPr>
              <a:t>1 </a:t>
            </a:r>
            <a:r>
              <a:rPr b="1" lang="en-US" sz="2800">
                <a:solidFill>
                  <a:srgbClr val="0000CC"/>
                </a:solidFill>
              </a:rPr>
              <a:t> và d</a:t>
            </a:r>
            <a:r>
              <a:rPr b="1" baseline="-25000" lang="en-US" sz="2800">
                <a:solidFill>
                  <a:srgbClr val="0000CC"/>
                </a:solidFill>
              </a:rPr>
              <a:t>2 </a:t>
            </a:r>
            <a:r>
              <a:rPr b="1" lang="en-US" sz="2800">
                <a:solidFill>
                  <a:srgbClr val="0000CC"/>
                </a:solidFill>
              </a:rPr>
              <a:t>: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lang="en-US" sz="2400">
                <a:solidFill>
                  <a:srgbClr val="0000CC"/>
                </a:solidFill>
              </a:rPr>
              <a:t>Sử dụng điều kiện đầu: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     </a:t>
            </a:r>
            <a:r>
              <a:rPr lang="en-US" sz="2400">
                <a:solidFill>
                  <a:srgbClr val="0000CC"/>
                </a:solidFill>
              </a:rPr>
              <a:t>1 = d</a:t>
            </a:r>
            <a:r>
              <a:rPr baseline="-25000" lang="en-US" sz="2400">
                <a:solidFill>
                  <a:srgbClr val="0000CC"/>
                </a:solidFill>
              </a:rPr>
              <a:t>1</a:t>
            </a:r>
            <a:r>
              <a:rPr lang="en-US" sz="2400">
                <a:solidFill>
                  <a:srgbClr val="0000CC"/>
                </a:solidFill>
              </a:rPr>
              <a:t>  +  d</a:t>
            </a:r>
            <a:r>
              <a:rPr baseline="-25000" lang="en-US" sz="2400">
                <a:solidFill>
                  <a:srgbClr val="0000CC"/>
                </a:solidFill>
              </a:rPr>
              <a:t>2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>
                <a:solidFill>
                  <a:srgbClr val="0000CC"/>
                </a:solidFill>
              </a:rPr>
              <a:t>      </a:t>
            </a:r>
            <a:r>
              <a:rPr lang="en-US">
                <a:solidFill>
                  <a:srgbClr val="0000CC"/>
                </a:solidFill>
              </a:rPr>
              <a:t>1</a:t>
            </a:r>
            <a:r>
              <a:rPr baseline="-25000" lang="en-US">
                <a:solidFill>
                  <a:srgbClr val="0000CC"/>
                </a:solidFill>
              </a:rPr>
              <a:t>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</a:t>
            </a:r>
            <a:r>
              <a:rPr lang="en-US">
                <a:solidFill>
                  <a:srgbClr val="0000CC"/>
                </a:solidFill>
              </a:rPr>
              <a:t> (1+√5)/2</a:t>
            </a:r>
            <a:r>
              <a:rPr baseline="30000" lang="en-US">
                <a:solidFill>
                  <a:srgbClr val="0000CC"/>
                </a:solidFill>
              </a:rPr>
              <a:t> </a:t>
            </a:r>
            <a:r>
              <a:rPr lang="en-US">
                <a:solidFill>
                  <a:srgbClr val="0000CC"/>
                </a:solidFill>
              </a:rPr>
              <a:t>+ d</a:t>
            </a:r>
            <a:r>
              <a:rPr baseline="-25000" lang="en-US">
                <a:solidFill>
                  <a:srgbClr val="0000CC"/>
                </a:solidFill>
              </a:rPr>
              <a:t>2</a:t>
            </a:r>
            <a:r>
              <a:rPr lang="en-US">
                <a:solidFill>
                  <a:srgbClr val="0000CC"/>
                </a:solidFill>
              </a:rPr>
              <a:t> (1+√5)/2 </a:t>
            </a:r>
            <a:endParaRPr sz="2800"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20" name="Google Shape;520;p3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21" name="Google Shape;521;p3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33"/>
          <p:cNvSpPr/>
          <p:nvPr/>
        </p:nvSpPr>
        <p:spPr>
          <a:xfrm>
            <a:off x="1143000" y="4495800"/>
            <a:ext cx="304800" cy="762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3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 txBox="1"/>
          <p:nvPr>
            <p:ph idx="1" type="body"/>
          </p:nvPr>
        </p:nvSpPr>
        <p:spPr>
          <a:xfrm>
            <a:off x="457200" y="12954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   </a:t>
            </a:r>
            <a:r>
              <a:rPr b="1" lang="en-US" sz="2800">
                <a:solidFill>
                  <a:srgbClr val="0000CC"/>
                </a:solidFill>
              </a:rPr>
              <a:t>Bước 2 (t.):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    </a:t>
            </a:r>
            <a:r>
              <a:rPr lang="en-US" sz="2400">
                <a:solidFill>
                  <a:srgbClr val="0000CC"/>
                </a:solidFill>
              </a:rPr>
              <a:t>d</a:t>
            </a:r>
            <a:r>
              <a:rPr baseline="-25000" lang="en-US" sz="2400">
                <a:solidFill>
                  <a:srgbClr val="0000CC"/>
                </a:solidFill>
              </a:rPr>
              <a:t>1</a:t>
            </a:r>
            <a:r>
              <a:rPr lang="en-US" sz="2400">
                <a:solidFill>
                  <a:srgbClr val="0000CC"/>
                </a:solidFill>
              </a:rPr>
              <a:t>  = (1+√5) </a:t>
            </a:r>
            <a:r>
              <a:rPr b="1" lang="en-US" sz="2400">
                <a:solidFill>
                  <a:srgbClr val="0000CC"/>
                </a:solidFill>
              </a:rPr>
              <a:t>/ </a:t>
            </a:r>
            <a:r>
              <a:rPr lang="en-US" sz="2400">
                <a:solidFill>
                  <a:srgbClr val="0000CC"/>
                </a:solidFill>
              </a:rPr>
              <a:t>2√5 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>
                <a:solidFill>
                  <a:srgbClr val="0000CC"/>
                </a:solidFill>
              </a:rPr>
              <a:t>      d</a:t>
            </a:r>
            <a:r>
              <a:rPr baseline="-25000" lang="en-US">
                <a:solidFill>
                  <a:srgbClr val="0000CC"/>
                </a:solidFill>
              </a:rPr>
              <a:t>2</a:t>
            </a:r>
            <a:r>
              <a:rPr lang="en-US">
                <a:solidFill>
                  <a:srgbClr val="0000CC"/>
                </a:solidFill>
              </a:rPr>
              <a:t> =  -(1-√5) </a:t>
            </a:r>
            <a:r>
              <a:rPr b="1" lang="en-US">
                <a:solidFill>
                  <a:srgbClr val="0000CC"/>
                </a:solidFill>
              </a:rPr>
              <a:t>/</a:t>
            </a:r>
            <a:r>
              <a:rPr lang="en-US">
                <a:solidFill>
                  <a:srgbClr val="0000CC"/>
                </a:solidFill>
              </a:rPr>
              <a:t> 2√5 </a:t>
            </a:r>
            <a:endParaRPr sz="2800">
              <a:solidFill>
                <a:srgbClr val="0000CC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Bước</a:t>
            </a:r>
            <a:r>
              <a:rPr lang="en-US" sz="2800">
                <a:solidFill>
                  <a:srgbClr val="0000CC"/>
                </a:solidFill>
              </a:rPr>
              <a:t> 3: Nghiệm của hệ thức truy hồi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00CC"/>
                </a:solidFill>
              </a:rPr>
              <a:t>             </a:t>
            </a:r>
            <a:endParaRPr sz="2800">
              <a:solidFill>
                <a:srgbClr val="0000CC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529" name="Google Shape;529;p34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30" name="Google Shape;530;p3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1" name="Google Shape;5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3825" y="3505200"/>
            <a:ext cx="62039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   Giải hệ thức truy hồi sau: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              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baseline="-25000" lang="en-US">
                <a:solidFill>
                  <a:srgbClr val="002060"/>
                </a:solidFill>
              </a:rPr>
              <a:t>n </a:t>
            </a:r>
            <a:r>
              <a:rPr b="1" lang="en-US">
                <a:solidFill>
                  <a:srgbClr val="002060"/>
                </a:solidFill>
              </a:rPr>
              <a:t>= 6a</a:t>
            </a:r>
            <a:r>
              <a:rPr b="1" baseline="-25000" lang="en-US">
                <a:solidFill>
                  <a:srgbClr val="002060"/>
                </a:solidFill>
              </a:rPr>
              <a:t>n-1 </a:t>
            </a:r>
            <a:r>
              <a:rPr b="1" lang="en-US">
                <a:solidFill>
                  <a:srgbClr val="002060"/>
                </a:solidFill>
              </a:rPr>
              <a:t>- 9a</a:t>
            </a:r>
            <a:r>
              <a:rPr b="1" baseline="-25000" lang="en-US">
                <a:solidFill>
                  <a:srgbClr val="002060"/>
                </a:solidFill>
              </a:rPr>
              <a:t>n-2 </a:t>
            </a:r>
            <a:r>
              <a:rPr b="1" lang="en-US">
                <a:solidFill>
                  <a:srgbClr val="002060"/>
                </a:solidFill>
              </a:rPr>
              <a:t>, a</a:t>
            </a:r>
            <a:r>
              <a:rPr b="1" baseline="-25000" lang="en-US">
                <a:solidFill>
                  <a:srgbClr val="002060"/>
                </a:solidFill>
              </a:rPr>
              <a:t>0</a:t>
            </a:r>
            <a:r>
              <a:rPr b="1" lang="en-US">
                <a:solidFill>
                  <a:srgbClr val="002060"/>
                </a:solidFill>
              </a:rPr>
              <a:t>= 1, a</a:t>
            </a:r>
            <a:r>
              <a:rPr b="1" baseline="-25000" lang="en-US">
                <a:solidFill>
                  <a:srgbClr val="002060"/>
                </a:solidFill>
              </a:rPr>
              <a:t>1</a:t>
            </a:r>
            <a:r>
              <a:rPr b="1" lang="en-US">
                <a:solidFill>
                  <a:srgbClr val="002060"/>
                </a:solidFill>
              </a:rPr>
              <a:t>= 6.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   </a:t>
            </a:r>
            <a:r>
              <a:rPr b="1" lang="en-US">
                <a:solidFill>
                  <a:srgbClr val="002060"/>
                </a:solidFill>
              </a:rPr>
              <a:t>       </a:t>
            </a:r>
            <a:endParaRPr sz="28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38" name="Google Shape;538;p3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39" name="Google Shape;539;p3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0" name="Google Shape;540;p3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b="1" lang="en-US" sz="2400">
                <a:solidFill>
                  <a:srgbClr val="002060"/>
                </a:solidFill>
              </a:rPr>
              <a:t>Bước 1: </a:t>
            </a:r>
            <a:r>
              <a:rPr lang="en-US" sz="2400">
                <a:solidFill>
                  <a:srgbClr val="002060"/>
                </a:solidFill>
              </a:rPr>
              <a:t>Tìm nghiệm tổng quát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Phương trình đặc trưng:           </a:t>
            </a:r>
            <a:r>
              <a:rPr b="1" lang="en-US">
                <a:solidFill>
                  <a:srgbClr val="002060"/>
                </a:solidFill>
              </a:rPr>
              <a:t>r</a:t>
            </a:r>
            <a:r>
              <a:rPr b="1" baseline="30000" lang="en-US">
                <a:solidFill>
                  <a:srgbClr val="002060"/>
                </a:solidFill>
              </a:rPr>
              <a:t>2</a:t>
            </a:r>
            <a:r>
              <a:rPr b="1" lang="en-US">
                <a:solidFill>
                  <a:srgbClr val="002060"/>
                </a:solidFill>
              </a:rPr>
              <a:t> = </a:t>
            </a:r>
            <a:r>
              <a:rPr b="1" baseline="-25000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6r -9     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pt đặc trưng có nghiệm kép:     </a:t>
            </a:r>
            <a:r>
              <a:rPr b="1" lang="en-US">
                <a:solidFill>
                  <a:srgbClr val="002060"/>
                </a:solidFill>
              </a:rPr>
              <a:t>r</a:t>
            </a:r>
            <a:r>
              <a:rPr b="1" baseline="-25000" lang="en-US">
                <a:solidFill>
                  <a:srgbClr val="002060"/>
                </a:solidFill>
              </a:rPr>
              <a:t>1</a:t>
            </a:r>
            <a:r>
              <a:rPr b="1" lang="en-US">
                <a:solidFill>
                  <a:srgbClr val="002060"/>
                </a:solidFill>
              </a:rPr>
              <a:t> = r</a:t>
            </a:r>
            <a:r>
              <a:rPr b="1" baseline="-25000" lang="en-US">
                <a:solidFill>
                  <a:srgbClr val="002060"/>
                </a:solidFill>
              </a:rPr>
              <a:t>2 </a:t>
            </a:r>
            <a:r>
              <a:rPr b="1" lang="en-US">
                <a:solidFill>
                  <a:srgbClr val="002060"/>
                </a:solidFill>
              </a:rPr>
              <a:t>= 3 </a:t>
            </a:r>
            <a:endParaRPr b="1">
              <a:solidFill>
                <a:srgbClr val="00206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Nghiệm tổng quát: </a:t>
            </a:r>
            <a:r>
              <a:rPr b="1" lang="en-US">
                <a:solidFill>
                  <a:srgbClr val="002060"/>
                </a:solidFill>
              </a:rPr>
              <a:t>       a</a:t>
            </a:r>
            <a:r>
              <a:rPr b="1" baseline="-25000" lang="en-US">
                <a:solidFill>
                  <a:srgbClr val="002060"/>
                </a:solidFill>
              </a:rPr>
              <a:t>n </a:t>
            </a:r>
            <a:r>
              <a:rPr b="1" lang="en-US">
                <a:solidFill>
                  <a:srgbClr val="002060"/>
                </a:solidFill>
              </a:rPr>
              <a:t>= (d</a:t>
            </a:r>
            <a:r>
              <a:rPr b="1" baseline="-25000" lang="en-US">
                <a:solidFill>
                  <a:srgbClr val="002060"/>
                </a:solidFill>
              </a:rPr>
              <a:t>1</a:t>
            </a:r>
            <a:r>
              <a:rPr b="1" lang="en-US">
                <a:solidFill>
                  <a:srgbClr val="002060"/>
                </a:solidFill>
              </a:rPr>
              <a:t>  +  d</a:t>
            </a:r>
            <a:r>
              <a:rPr b="1" baseline="-25000" lang="en-US">
                <a:solidFill>
                  <a:srgbClr val="002060"/>
                </a:solidFill>
              </a:rPr>
              <a:t>2</a:t>
            </a:r>
            <a:r>
              <a:rPr b="1" lang="en-US">
                <a:solidFill>
                  <a:srgbClr val="002060"/>
                </a:solidFill>
              </a:rPr>
              <a:t> n ) 3</a:t>
            </a:r>
            <a:r>
              <a:rPr b="1" baseline="30000" lang="en-US">
                <a:solidFill>
                  <a:srgbClr val="002060"/>
                </a:solidFill>
              </a:rPr>
              <a:t>n </a:t>
            </a:r>
            <a:endParaRPr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b="1" lang="en-US" sz="2400">
                <a:solidFill>
                  <a:srgbClr val="002060"/>
                </a:solidFill>
              </a:rPr>
              <a:t>Bước 2</a:t>
            </a:r>
            <a:r>
              <a:rPr lang="en-US" sz="2400">
                <a:solidFill>
                  <a:srgbClr val="002060"/>
                </a:solidFill>
              </a:rPr>
              <a:t>:</a:t>
            </a:r>
            <a:r>
              <a:rPr b="1" lang="en-US" sz="2400">
                <a:solidFill>
                  <a:srgbClr val="002060"/>
                </a:solidFill>
              </a:rPr>
              <a:t> </a:t>
            </a:r>
            <a:r>
              <a:rPr lang="en-US" sz="2400">
                <a:solidFill>
                  <a:srgbClr val="002060"/>
                </a:solidFill>
              </a:rPr>
              <a:t>Tìm hằng số </a:t>
            </a:r>
            <a:r>
              <a:rPr b="1" lang="en-US" sz="2400">
                <a:solidFill>
                  <a:srgbClr val="002060"/>
                </a:solidFill>
              </a:rPr>
              <a:t>d</a:t>
            </a:r>
            <a:r>
              <a:rPr b="1" baseline="-25000" lang="en-US" sz="2400">
                <a:solidFill>
                  <a:srgbClr val="002060"/>
                </a:solidFill>
              </a:rPr>
              <a:t>1 </a:t>
            </a:r>
            <a:r>
              <a:rPr b="1" lang="en-US" sz="2400">
                <a:solidFill>
                  <a:srgbClr val="002060"/>
                </a:solidFill>
              </a:rPr>
              <a:t> và d</a:t>
            </a:r>
            <a:r>
              <a:rPr b="1" baseline="-25000" lang="en-US" sz="2400">
                <a:solidFill>
                  <a:srgbClr val="002060"/>
                </a:solidFill>
              </a:rPr>
              <a:t>2 </a:t>
            </a:r>
            <a:endParaRPr b="1">
              <a:solidFill>
                <a:srgbClr val="00206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Sử dụng điều kiện đầu: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002060"/>
                </a:solidFill>
              </a:rPr>
              <a:t>        1 = d</a:t>
            </a:r>
            <a:r>
              <a:rPr b="1" baseline="-25000" lang="en-US">
                <a:solidFill>
                  <a:srgbClr val="002060"/>
                </a:solidFill>
              </a:rPr>
              <a:t>1                                          </a:t>
            </a:r>
            <a:r>
              <a:rPr b="1" lang="en-US" sz="2000">
                <a:solidFill>
                  <a:srgbClr val="002060"/>
                </a:solidFill>
              </a:rPr>
              <a:t> d</a:t>
            </a:r>
            <a:r>
              <a:rPr b="1" baseline="-25000" lang="en-US" sz="2000">
                <a:solidFill>
                  <a:srgbClr val="002060"/>
                </a:solidFill>
              </a:rPr>
              <a:t>1</a:t>
            </a:r>
            <a:r>
              <a:rPr b="1" lang="en-US" sz="2000">
                <a:solidFill>
                  <a:srgbClr val="002060"/>
                </a:solidFill>
              </a:rPr>
              <a:t>  = 1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002060"/>
                </a:solidFill>
              </a:rPr>
              <a:t>        6= (d</a:t>
            </a:r>
            <a:r>
              <a:rPr b="1" baseline="-25000" lang="en-US">
                <a:solidFill>
                  <a:srgbClr val="002060"/>
                </a:solidFill>
              </a:rPr>
              <a:t>1</a:t>
            </a:r>
            <a:r>
              <a:rPr b="1" lang="en-US">
                <a:solidFill>
                  <a:srgbClr val="002060"/>
                </a:solidFill>
              </a:rPr>
              <a:t> + d</a:t>
            </a:r>
            <a:r>
              <a:rPr b="1" baseline="-25000" lang="en-US">
                <a:solidFill>
                  <a:srgbClr val="002060"/>
                </a:solidFill>
              </a:rPr>
              <a:t>2</a:t>
            </a:r>
            <a:r>
              <a:rPr b="1" lang="en-US">
                <a:solidFill>
                  <a:srgbClr val="002060"/>
                </a:solidFill>
              </a:rPr>
              <a:t>) 3                d</a:t>
            </a:r>
            <a:r>
              <a:rPr b="1" baseline="-25000" lang="en-US">
                <a:solidFill>
                  <a:srgbClr val="002060"/>
                </a:solidFill>
              </a:rPr>
              <a:t>2</a:t>
            </a:r>
            <a:r>
              <a:rPr b="1" lang="en-US">
                <a:solidFill>
                  <a:srgbClr val="002060"/>
                </a:solidFill>
              </a:rPr>
              <a:t> = 1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b="1" lang="en-US" sz="2400">
                <a:solidFill>
                  <a:srgbClr val="002060"/>
                </a:solidFill>
              </a:rPr>
              <a:t>Bước</a:t>
            </a:r>
            <a:r>
              <a:rPr lang="en-US" sz="2400">
                <a:solidFill>
                  <a:srgbClr val="002060"/>
                </a:solidFill>
              </a:rPr>
              <a:t> 3: Nghiệm của hệ thức truy hồi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 sz="2400">
                <a:solidFill>
                  <a:srgbClr val="002060"/>
                </a:solidFill>
              </a:rPr>
              <a:t>                    </a:t>
            </a:r>
            <a:r>
              <a:rPr b="1" lang="en-US" sz="2400">
                <a:solidFill>
                  <a:srgbClr val="002060"/>
                </a:solidFill>
              </a:rPr>
              <a:t>     a</a:t>
            </a:r>
            <a:r>
              <a:rPr b="1" baseline="-25000" lang="en-US" sz="2400">
                <a:solidFill>
                  <a:srgbClr val="002060"/>
                </a:solidFill>
              </a:rPr>
              <a:t>n </a:t>
            </a:r>
            <a:r>
              <a:rPr b="1" lang="en-US" sz="2400">
                <a:solidFill>
                  <a:srgbClr val="002060"/>
                </a:solidFill>
              </a:rPr>
              <a:t>= (1  +  n ) 3</a:t>
            </a:r>
            <a:r>
              <a:rPr b="1" baseline="30000" lang="en-US" sz="2400">
                <a:solidFill>
                  <a:srgbClr val="002060"/>
                </a:solidFill>
              </a:rPr>
              <a:t>n </a:t>
            </a:r>
            <a:r>
              <a:rPr b="1" lang="en-US" sz="2400">
                <a:solidFill>
                  <a:srgbClr val="002060"/>
                </a:solidFill>
              </a:rPr>
              <a:t>,  n≥0</a:t>
            </a:r>
            <a:endParaRPr sz="2400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>
                <a:solidFill>
                  <a:srgbClr val="002060"/>
                </a:solidFill>
              </a:rPr>
              <a:t>       </a:t>
            </a:r>
            <a:endParaRPr sz="28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46" name="Google Shape;546;p36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47" name="Google Shape;547;p3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36"/>
          <p:cNvSpPr/>
          <p:nvPr/>
        </p:nvSpPr>
        <p:spPr>
          <a:xfrm>
            <a:off x="1676400" y="4419600"/>
            <a:ext cx="304800" cy="762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36"/>
          <p:cNvSpPr/>
          <p:nvPr/>
        </p:nvSpPr>
        <p:spPr>
          <a:xfrm>
            <a:off x="4648200" y="4343400"/>
            <a:ext cx="304800" cy="762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3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7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❖"/>
            </a:pPr>
            <a:r>
              <a:rPr b="1" i="1"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Hệ thức truy hồi tuyến tính thuần nhất bậc k:  </a:t>
            </a:r>
            <a:r>
              <a:rPr b="1" lang="en-US">
                <a:solidFill>
                  <a:srgbClr val="002060"/>
                </a:solidFill>
              </a:rPr>
              <a:t>   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i="1" lang="en-US">
                <a:solidFill>
                  <a:srgbClr val="002060"/>
                </a:solidFill>
              </a:rPr>
              <a:t>            a</a:t>
            </a:r>
            <a:r>
              <a:rPr b="1" baseline="-25000" i="1" lang="en-US">
                <a:solidFill>
                  <a:srgbClr val="002060"/>
                </a:solidFill>
              </a:rPr>
              <a:t>n  </a:t>
            </a:r>
            <a:r>
              <a:rPr b="1" i="1" lang="en-US">
                <a:solidFill>
                  <a:srgbClr val="002060"/>
                </a:solidFill>
              </a:rPr>
              <a:t>= c</a:t>
            </a:r>
            <a:r>
              <a:rPr b="1" baseline="-25000" i="1" lang="en-US">
                <a:solidFill>
                  <a:srgbClr val="002060"/>
                </a:solidFill>
              </a:rPr>
              <a:t>1</a:t>
            </a:r>
            <a:r>
              <a:rPr b="1" i="1" lang="en-US">
                <a:solidFill>
                  <a:srgbClr val="002060"/>
                </a:solidFill>
              </a:rPr>
              <a:t> a</a:t>
            </a:r>
            <a:r>
              <a:rPr b="1" baseline="-25000" i="1" lang="en-US">
                <a:solidFill>
                  <a:srgbClr val="002060"/>
                </a:solidFill>
              </a:rPr>
              <a:t>n-1   </a:t>
            </a:r>
            <a:r>
              <a:rPr b="1" i="1" lang="en-US">
                <a:solidFill>
                  <a:srgbClr val="002060"/>
                </a:solidFill>
              </a:rPr>
              <a:t>+ c</a:t>
            </a:r>
            <a:r>
              <a:rPr b="1" baseline="-25000" i="1" lang="en-US">
                <a:solidFill>
                  <a:srgbClr val="002060"/>
                </a:solidFill>
              </a:rPr>
              <a:t>2</a:t>
            </a:r>
            <a:r>
              <a:rPr b="1" i="1" lang="en-US">
                <a:solidFill>
                  <a:srgbClr val="002060"/>
                </a:solidFill>
              </a:rPr>
              <a:t> a</a:t>
            </a:r>
            <a:r>
              <a:rPr b="1" baseline="-25000" i="1" lang="en-US">
                <a:solidFill>
                  <a:srgbClr val="002060"/>
                </a:solidFill>
              </a:rPr>
              <a:t>n-2 </a:t>
            </a:r>
            <a:r>
              <a:rPr b="1" i="1" lang="en-US">
                <a:solidFill>
                  <a:srgbClr val="002060"/>
                </a:solidFill>
              </a:rPr>
              <a:t>+…+ c</a:t>
            </a:r>
            <a:r>
              <a:rPr b="1" baseline="-25000" i="1" lang="en-US">
                <a:solidFill>
                  <a:srgbClr val="002060"/>
                </a:solidFill>
              </a:rPr>
              <a:t>k</a:t>
            </a:r>
            <a:r>
              <a:rPr b="1" i="1" lang="en-US">
                <a:solidFill>
                  <a:srgbClr val="002060"/>
                </a:solidFill>
              </a:rPr>
              <a:t> a</a:t>
            </a:r>
            <a:r>
              <a:rPr b="1" baseline="-25000" i="1" lang="en-US">
                <a:solidFill>
                  <a:srgbClr val="002060"/>
                </a:solidFill>
              </a:rPr>
              <a:t>n-k      </a:t>
            </a:r>
            <a:r>
              <a:rPr i="1" lang="en-US">
                <a:solidFill>
                  <a:srgbClr val="002060"/>
                </a:solidFill>
              </a:rPr>
              <a:t> (*)</a:t>
            </a:r>
            <a:r>
              <a:rPr b="1" baseline="-25000" i="1" lang="en-US">
                <a:solidFill>
                  <a:srgbClr val="002060"/>
                </a:solidFill>
              </a:rPr>
              <a:t>          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i="1" lang="en-US">
                <a:solidFill>
                  <a:srgbClr val="002060"/>
                </a:solidFill>
              </a:rPr>
              <a:t>     </a:t>
            </a:r>
            <a:r>
              <a:rPr lang="en-US">
                <a:solidFill>
                  <a:srgbClr val="002060"/>
                </a:solidFill>
              </a:rPr>
              <a:t>trong đó, c</a:t>
            </a:r>
            <a:r>
              <a:rPr baseline="-25000" lang="en-US">
                <a:solidFill>
                  <a:srgbClr val="002060"/>
                </a:solidFill>
              </a:rPr>
              <a:t>1</a:t>
            </a:r>
            <a:r>
              <a:rPr lang="en-US">
                <a:solidFill>
                  <a:srgbClr val="002060"/>
                </a:solidFill>
              </a:rPr>
              <a:t>, c</a:t>
            </a:r>
            <a:r>
              <a:rPr baseline="-25000" lang="en-US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,…,c</a:t>
            </a:r>
            <a:r>
              <a:rPr baseline="-25000" lang="en-US">
                <a:solidFill>
                  <a:srgbClr val="002060"/>
                </a:solidFill>
              </a:rPr>
              <a:t>k</a:t>
            </a:r>
            <a:r>
              <a:rPr lang="en-US">
                <a:solidFill>
                  <a:srgbClr val="002060"/>
                </a:solidFill>
              </a:rPr>
              <a:t>  - hằng số, c</a:t>
            </a:r>
            <a:r>
              <a:rPr baseline="-25000" lang="en-US">
                <a:solidFill>
                  <a:srgbClr val="002060"/>
                </a:solidFill>
              </a:rPr>
              <a:t>k </a:t>
            </a:r>
            <a:r>
              <a:rPr lang="en-US">
                <a:solidFill>
                  <a:srgbClr val="002060"/>
                </a:solidFill>
              </a:rPr>
              <a:t> ≠ 0 .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❖"/>
            </a:pPr>
            <a:r>
              <a:rPr i="1"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Phương trình đặc trưng: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i="1" lang="en-US">
                <a:solidFill>
                  <a:srgbClr val="002060"/>
                </a:solidFill>
              </a:rPr>
              <a:t>                   </a:t>
            </a:r>
            <a:r>
              <a:rPr b="1" i="1" lang="en-US">
                <a:solidFill>
                  <a:srgbClr val="002060"/>
                </a:solidFill>
              </a:rPr>
              <a:t>r</a:t>
            </a:r>
            <a:r>
              <a:rPr b="1" baseline="30000" i="1" lang="en-US">
                <a:solidFill>
                  <a:srgbClr val="002060"/>
                </a:solidFill>
              </a:rPr>
              <a:t>k</a:t>
            </a:r>
            <a:r>
              <a:rPr b="1" baseline="-25000" i="1" lang="en-US">
                <a:solidFill>
                  <a:srgbClr val="002060"/>
                </a:solidFill>
              </a:rPr>
              <a:t>  </a:t>
            </a:r>
            <a:r>
              <a:rPr b="1" i="1" lang="en-US">
                <a:solidFill>
                  <a:srgbClr val="002060"/>
                </a:solidFill>
              </a:rPr>
              <a:t>= c</a:t>
            </a:r>
            <a:r>
              <a:rPr b="1" baseline="-25000" i="1" lang="en-US">
                <a:solidFill>
                  <a:srgbClr val="002060"/>
                </a:solidFill>
              </a:rPr>
              <a:t>1</a:t>
            </a:r>
            <a:r>
              <a:rPr b="1" i="1" lang="en-US">
                <a:solidFill>
                  <a:srgbClr val="002060"/>
                </a:solidFill>
              </a:rPr>
              <a:t> r</a:t>
            </a:r>
            <a:r>
              <a:rPr b="1" baseline="30000" i="1" lang="en-US">
                <a:solidFill>
                  <a:srgbClr val="002060"/>
                </a:solidFill>
              </a:rPr>
              <a:t>k-1</a:t>
            </a:r>
            <a:r>
              <a:rPr b="1" baseline="-25000" i="1" lang="en-US">
                <a:solidFill>
                  <a:srgbClr val="002060"/>
                </a:solidFill>
              </a:rPr>
              <a:t> </a:t>
            </a:r>
            <a:r>
              <a:rPr b="1" i="1" lang="en-US">
                <a:solidFill>
                  <a:srgbClr val="002060"/>
                </a:solidFill>
              </a:rPr>
              <a:t>+ c</a:t>
            </a:r>
            <a:r>
              <a:rPr b="1" baseline="-25000" i="1" lang="en-US">
                <a:solidFill>
                  <a:srgbClr val="002060"/>
                </a:solidFill>
              </a:rPr>
              <a:t>2</a:t>
            </a:r>
            <a:r>
              <a:rPr b="1" i="1" lang="en-US">
                <a:solidFill>
                  <a:srgbClr val="002060"/>
                </a:solidFill>
              </a:rPr>
              <a:t> r</a:t>
            </a:r>
            <a:r>
              <a:rPr b="1" baseline="30000" i="1" lang="en-US">
                <a:solidFill>
                  <a:srgbClr val="002060"/>
                </a:solidFill>
              </a:rPr>
              <a:t>k-2</a:t>
            </a:r>
            <a:r>
              <a:rPr b="1" baseline="-25000" i="1" lang="en-US">
                <a:solidFill>
                  <a:srgbClr val="002060"/>
                </a:solidFill>
              </a:rPr>
              <a:t> </a:t>
            </a:r>
            <a:r>
              <a:rPr b="1" i="1" lang="en-US">
                <a:solidFill>
                  <a:srgbClr val="002060"/>
                </a:solidFill>
              </a:rPr>
              <a:t>+…+ c</a:t>
            </a:r>
            <a:r>
              <a:rPr b="1" baseline="-25000" i="1" lang="en-US">
                <a:solidFill>
                  <a:srgbClr val="002060"/>
                </a:solidFill>
              </a:rPr>
              <a:t>k     </a:t>
            </a:r>
            <a:r>
              <a:rPr i="1" lang="en-US">
                <a:solidFill>
                  <a:srgbClr val="002060"/>
                </a:solidFill>
              </a:rPr>
              <a:t>   (**)</a:t>
            </a:r>
            <a:r>
              <a:rPr b="1" baseline="-25000" i="1" lang="en-US">
                <a:solidFill>
                  <a:srgbClr val="002060"/>
                </a:solidFill>
              </a:rPr>
              <a:t> 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baseline="-25000" i="1" lang="en-US">
                <a:solidFill>
                  <a:srgbClr val="002060"/>
                </a:solidFill>
              </a:rPr>
              <a:t> </a:t>
            </a:r>
            <a:endParaRPr b="1" i="1">
              <a:solidFill>
                <a:srgbClr val="002060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556" name="Google Shape;556;p37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57" name="Google Shape;557;p3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8" name="Google Shape;558;p3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8"/>
          <p:cNvSpPr txBox="1"/>
          <p:nvPr>
            <p:ph idx="1" type="body"/>
          </p:nvPr>
        </p:nvSpPr>
        <p:spPr>
          <a:xfrm>
            <a:off x="457200" y="1143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b="1" lang="en-US" sz="2400">
                <a:solidFill>
                  <a:srgbClr val="002060"/>
                </a:solidFill>
              </a:rPr>
              <a:t>Người ta chứng minh </a:t>
            </a:r>
            <a:r>
              <a:rPr b="1" lang="en-US" sz="2400">
                <a:solidFill>
                  <a:srgbClr val="002060"/>
                </a:solidFill>
              </a:rPr>
              <a:t>được</a:t>
            </a:r>
            <a:r>
              <a:rPr b="1" lang="en-US" sz="2400">
                <a:solidFill>
                  <a:srgbClr val="002060"/>
                </a:solidFill>
              </a:rPr>
              <a:t> kết quả sau:</a:t>
            </a:r>
            <a:endParaRPr b="1" sz="2400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❖"/>
            </a:pPr>
            <a:r>
              <a:rPr lang="en-US">
                <a:solidFill>
                  <a:srgbClr val="002060"/>
                </a:solidFill>
              </a:rPr>
              <a:t> Nếu (*) có nghiệm thực phân biệt  r</a:t>
            </a:r>
            <a:r>
              <a:rPr baseline="-25000" i="1" lang="en-US">
                <a:solidFill>
                  <a:srgbClr val="002060"/>
                </a:solidFill>
              </a:rPr>
              <a:t>1</a:t>
            </a:r>
            <a:r>
              <a:rPr i="1" lang="en-US">
                <a:solidFill>
                  <a:srgbClr val="002060"/>
                </a:solidFill>
              </a:rPr>
              <a:t> ,r</a:t>
            </a:r>
            <a:r>
              <a:rPr baseline="-25000" i="1" lang="en-US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 ,…,</a:t>
            </a:r>
            <a:r>
              <a:rPr i="1" lang="en-US">
                <a:solidFill>
                  <a:srgbClr val="002060"/>
                </a:solidFill>
              </a:rPr>
              <a:t>r</a:t>
            </a:r>
            <a:r>
              <a:rPr baseline="-25000" i="1" lang="en-US">
                <a:solidFill>
                  <a:srgbClr val="002060"/>
                </a:solidFill>
              </a:rPr>
              <a:t>k</a:t>
            </a:r>
            <a:r>
              <a:rPr lang="en-US">
                <a:solidFill>
                  <a:srgbClr val="002060"/>
                </a:solidFill>
              </a:rPr>
              <a:t> , thì (**) có nghiệm tổng quát sau: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❖"/>
            </a:pPr>
            <a:r>
              <a:rPr lang="en-US">
                <a:solidFill>
                  <a:srgbClr val="002060"/>
                </a:solidFill>
              </a:rPr>
              <a:t> Nếu (*) có t nghiệm thực phân biệt r</a:t>
            </a:r>
            <a:r>
              <a:rPr baseline="-25000" i="1" lang="en-US">
                <a:solidFill>
                  <a:srgbClr val="002060"/>
                </a:solidFill>
              </a:rPr>
              <a:t>1</a:t>
            </a:r>
            <a:r>
              <a:rPr i="1" lang="en-US">
                <a:solidFill>
                  <a:srgbClr val="002060"/>
                </a:solidFill>
              </a:rPr>
              <a:t> ,r</a:t>
            </a:r>
            <a:r>
              <a:rPr baseline="-25000" i="1" lang="en-US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 ,…,</a:t>
            </a:r>
            <a:r>
              <a:rPr i="1" lang="en-US">
                <a:solidFill>
                  <a:srgbClr val="002060"/>
                </a:solidFill>
              </a:rPr>
              <a:t>r</a:t>
            </a:r>
            <a:r>
              <a:rPr baseline="-25000" i="1" lang="en-US">
                <a:solidFill>
                  <a:srgbClr val="002060"/>
                </a:solidFill>
              </a:rPr>
              <a:t>t</a:t>
            </a:r>
            <a:r>
              <a:rPr lang="en-US">
                <a:solidFill>
                  <a:srgbClr val="002060"/>
                </a:solidFill>
              </a:rPr>
              <a:t>  tương ứng với các tính bội m</a:t>
            </a:r>
            <a:r>
              <a:rPr baseline="-25000" i="1" lang="en-US">
                <a:solidFill>
                  <a:srgbClr val="002060"/>
                </a:solidFill>
              </a:rPr>
              <a:t>1</a:t>
            </a:r>
            <a:r>
              <a:rPr i="1" lang="en-US">
                <a:solidFill>
                  <a:srgbClr val="002060"/>
                </a:solidFill>
              </a:rPr>
              <a:t>, m</a:t>
            </a:r>
            <a:r>
              <a:rPr baseline="-25000" i="1" lang="en-US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 ,…, m</a:t>
            </a:r>
            <a:r>
              <a:rPr baseline="-25000" i="1" lang="en-US">
                <a:solidFill>
                  <a:srgbClr val="002060"/>
                </a:solidFill>
              </a:rPr>
              <a:t>t</a:t>
            </a:r>
            <a:r>
              <a:rPr lang="en-US">
                <a:solidFill>
                  <a:srgbClr val="002060"/>
                </a:solidFill>
              </a:rPr>
              <a:t> , thì (**) có nghiệm tổng quát: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64" name="Google Shape;564;p38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65" name="Google Shape;565;p3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6" name="Google Shape;5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1" y="2667000"/>
            <a:ext cx="5811838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4953000"/>
            <a:ext cx="6324599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9"/>
          <p:cNvSpPr txBox="1"/>
          <p:nvPr>
            <p:ph idx="1" type="body"/>
          </p:nvPr>
        </p:nvSpPr>
        <p:spPr>
          <a:xfrm>
            <a:off x="609600" y="1295400"/>
            <a:ext cx="8001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00CC"/>
                </a:solidFill>
              </a:rPr>
              <a:t>Giải hệ thức truy hồi sau</a:t>
            </a:r>
            <a:r>
              <a:rPr lang="en-US" sz="2800">
                <a:solidFill>
                  <a:srgbClr val="0000CC"/>
                </a:solidFill>
              </a:rPr>
              <a:t>: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      </a:t>
            </a:r>
            <a:r>
              <a:rPr b="1" lang="en-US" sz="4000">
                <a:solidFill>
                  <a:srgbClr val="0000CC"/>
                </a:solidFill>
              </a:rPr>
              <a:t>a</a:t>
            </a:r>
            <a:r>
              <a:rPr b="1" baseline="-25000" lang="en-US" sz="4000">
                <a:solidFill>
                  <a:srgbClr val="0000CC"/>
                </a:solidFill>
              </a:rPr>
              <a:t>n </a:t>
            </a:r>
            <a:r>
              <a:rPr b="1" lang="en-US" sz="4000">
                <a:solidFill>
                  <a:srgbClr val="0000CC"/>
                </a:solidFill>
              </a:rPr>
              <a:t>= -3a</a:t>
            </a:r>
            <a:r>
              <a:rPr b="1" baseline="-25000" lang="en-US" sz="4000">
                <a:solidFill>
                  <a:srgbClr val="0000CC"/>
                </a:solidFill>
              </a:rPr>
              <a:t>n-1</a:t>
            </a:r>
            <a:r>
              <a:rPr b="1" lang="en-US" sz="4000">
                <a:solidFill>
                  <a:srgbClr val="0000CC"/>
                </a:solidFill>
              </a:rPr>
              <a:t>- 3a</a:t>
            </a:r>
            <a:r>
              <a:rPr b="1" baseline="-25000" lang="en-US" sz="4000">
                <a:solidFill>
                  <a:srgbClr val="0000CC"/>
                </a:solidFill>
              </a:rPr>
              <a:t>n-2 </a:t>
            </a:r>
            <a:r>
              <a:rPr b="1" lang="en-US" sz="4000">
                <a:solidFill>
                  <a:srgbClr val="0000CC"/>
                </a:solidFill>
              </a:rPr>
              <a:t>- a</a:t>
            </a:r>
            <a:r>
              <a:rPr b="1" baseline="-25000" lang="en-US" sz="4000">
                <a:solidFill>
                  <a:srgbClr val="0000CC"/>
                </a:solidFill>
              </a:rPr>
              <a:t>n-3</a:t>
            </a:r>
            <a:r>
              <a:rPr b="1" lang="en-US" sz="4000">
                <a:solidFill>
                  <a:srgbClr val="0000CC"/>
                </a:solidFill>
              </a:rPr>
              <a:t>, </a:t>
            </a:r>
            <a:endParaRPr b="1" sz="2800"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lang="en-US" sz="3200">
                <a:solidFill>
                  <a:srgbClr val="0000CC"/>
                </a:solidFill>
              </a:rPr>
              <a:t>       a</a:t>
            </a:r>
            <a:r>
              <a:rPr b="1" baseline="-25000" lang="en-US" sz="3200">
                <a:solidFill>
                  <a:srgbClr val="0000CC"/>
                </a:solidFill>
              </a:rPr>
              <a:t>0 </a:t>
            </a:r>
            <a:r>
              <a:rPr b="1" lang="en-US" sz="3200">
                <a:solidFill>
                  <a:srgbClr val="0000CC"/>
                </a:solidFill>
              </a:rPr>
              <a:t>= 1,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lang="en-US" sz="3200">
                <a:solidFill>
                  <a:srgbClr val="0000CC"/>
                </a:solidFill>
              </a:rPr>
              <a:t>       a</a:t>
            </a:r>
            <a:r>
              <a:rPr b="1" baseline="-25000" lang="en-US" sz="3200">
                <a:solidFill>
                  <a:srgbClr val="0000CC"/>
                </a:solidFill>
              </a:rPr>
              <a:t>1 </a:t>
            </a:r>
            <a:r>
              <a:rPr b="1" lang="en-US" sz="3200">
                <a:solidFill>
                  <a:srgbClr val="0000CC"/>
                </a:solidFill>
              </a:rPr>
              <a:t>= -2,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lang="en-US" sz="3200">
                <a:solidFill>
                  <a:srgbClr val="0000CC"/>
                </a:solidFill>
              </a:rPr>
              <a:t>       a</a:t>
            </a:r>
            <a:r>
              <a:rPr b="1" baseline="-25000" lang="en-US" sz="3200">
                <a:solidFill>
                  <a:srgbClr val="0000CC"/>
                </a:solidFill>
              </a:rPr>
              <a:t>2 </a:t>
            </a:r>
            <a:r>
              <a:rPr b="1" lang="en-US" sz="3200">
                <a:solidFill>
                  <a:srgbClr val="0000CC"/>
                </a:solidFill>
              </a:rPr>
              <a:t>= -1</a:t>
            </a:r>
            <a:r>
              <a:rPr lang="en-US" sz="3200">
                <a:solidFill>
                  <a:srgbClr val="0000CC"/>
                </a:solidFill>
              </a:rPr>
              <a:t>.</a:t>
            </a:r>
            <a:r>
              <a:rPr b="1" lang="en-US" sz="3200">
                <a:solidFill>
                  <a:srgbClr val="0000CC"/>
                </a:solidFill>
              </a:rPr>
              <a:t>   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002060"/>
              </a:buClr>
              <a:buSzPts val="3600"/>
              <a:buNone/>
            </a:pPr>
            <a:r>
              <a:rPr b="1" lang="en-US" sz="3600">
                <a:solidFill>
                  <a:srgbClr val="0000CC"/>
                </a:solidFill>
              </a:rPr>
              <a:t>   </a:t>
            </a:r>
            <a:endParaRPr sz="3600"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574" name="Google Shape;574;p39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75" name="Google Shape;575;p3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6" name="Google Shape;576;p3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0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 sz="3200"/>
              <a:t>    </a:t>
            </a:r>
            <a:r>
              <a:rPr b="1" lang="en-US" sz="2400">
                <a:solidFill>
                  <a:srgbClr val="002060"/>
                </a:solidFill>
              </a:rPr>
              <a:t>   </a:t>
            </a:r>
            <a:r>
              <a:rPr b="1" lang="en-US" sz="2400">
                <a:solidFill>
                  <a:srgbClr val="2416D4"/>
                </a:solidFill>
              </a:rPr>
              <a:t>Bước 1: </a:t>
            </a:r>
            <a:r>
              <a:rPr lang="en-US" sz="2400">
                <a:solidFill>
                  <a:srgbClr val="2416D4"/>
                </a:solidFill>
              </a:rPr>
              <a:t>Tìm nghiệm tổng quát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000"/>
              <a:buChar char="•"/>
            </a:pPr>
            <a:r>
              <a:rPr lang="en-US" sz="2000">
                <a:solidFill>
                  <a:srgbClr val="2416D4"/>
                </a:solidFill>
              </a:rPr>
              <a:t>Phương trình đặc trưng</a:t>
            </a:r>
            <a:r>
              <a:rPr b="1" lang="en-US" sz="2000">
                <a:solidFill>
                  <a:srgbClr val="2416D4"/>
                </a:solidFill>
              </a:rPr>
              <a:t>:     </a:t>
            </a:r>
            <a:r>
              <a:rPr b="1" lang="en-US">
                <a:solidFill>
                  <a:srgbClr val="2416D4"/>
                </a:solidFill>
              </a:rPr>
              <a:t>r</a:t>
            </a:r>
            <a:r>
              <a:rPr b="1" baseline="30000" lang="en-US">
                <a:solidFill>
                  <a:srgbClr val="2416D4"/>
                </a:solidFill>
              </a:rPr>
              <a:t>3</a:t>
            </a:r>
            <a:r>
              <a:rPr b="1" lang="en-US">
                <a:solidFill>
                  <a:srgbClr val="2416D4"/>
                </a:solidFill>
              </a:rPr>
              <a:t> = - 3r</a:t>
            </a:r>
            <a:r>
              <a:rPr b="1" baseline="30000" lang="en-US">
                <a:solidFill>
                  <a:srgbClr val="2416D4"/>
                </a:solidFill>
              </a:rPr>
              <a:t>2</a:t>
            </a:r>
            <a:r>
              <a:rPr b="1" lang="en-US">
                <a:solidFill>
                  <a:srgbClr val="2416D4"/>
                </a:solidFill>
              </a:rPr>
              <a:t> - 3r - 1      </a:t>
            </a:r>
            <a:endParaRPr b="1" sz="2000"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000"/>
              <a:buChar char="•"/>
            </a:pPr>
            <a:r>
              <a:rPr lang="en-US" sz="2000">
                <a:solidFill>
                  <a:srgbClr val="2416D4"/>
                </a:solidFill>
              </a:rPr>
              <a:t>Nghiệm của pt đặc trưng:   </a:t>
            </a:r>
            <a:r>
              <a:rPr b="1" lang="en-US">
                <a:solidFill>
                  <a:srgbClr val="2416D4"/>
                </a:solidFill>
              </a:rPr>
              <a:t>r</a:t>
            </a:r>
            <a:r>
              <a:rPr b="1" baseline="-25000" lang="en-US">
                <a:solidFill>
                  <a:srgbClr val="2416D4"/>
                </a:solidFill>
              </a:rPr>
              <a:t>1 </a:t>
            </a:r>
            <a:r>
              <a:rPr b="1" lang="en-US">
                <a:solidFill>
                  <a:srgbClr val="2416D4"/>
                </a:solidFill>
              </a:rPr>
              <a:t>= r</a:t>
            </a:r>
            <a:r>
              <a:rPr b="1" baseline="-25000" lang="en-US">
                <a:solidFill>
                  <a:srgbClr val="2416D4"/>
                </a:solidFill>
              </a:rPr>
              <a:t>2 </a:t>
            </a:r>
            <a:r>
              <a:rPr b="1" lang="en-US">
                <a:solidFill>
                  <a:srgbClr val="2416D4"/>
                </a:solidFill>
              </a:rPr>
              <a:t>= r</a:t>
            </a:r>
            <a:r>
              <a:rPr b="1" baseline="-25000" lang="en-US">
                <a:solidFill>
                  <a:srgbClr val="2416D4"/>
                </a:solidFill>
              </a:rPr>
              <a:t>3</a:t>
            </a:r>
            <a:r>
              <a:rPr lang="en-US">
                <a:solidFill>
                  <a:srgbClr val="2416D4"/>
                </a:solidFill>
              </a:rPr>
              <a:t> = - 1</a:t>
            </a:r>
            <a:r>
              <a:rPr b="1" lang="en-US">
                <a:solidFill>
                  <a:srgbClr val="2416D4"/>
                </a:solidFill>
              </a:rPr>
              <a:t> </a:t>
            </a:r>
            <a:endParaRPr b="1" sz="2000"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000"/>
              <a:buChar char="•"/>
            </a:pPr>
            <a:r>
              <a:rPr lang="en-US" sz="2000">
                <a:solidFill>
                  <a:srgbClr val="2416D4"/>
                </a:solidFill>
              </a:rPr>
              <a:t>Nghiệm tổng quát: </a:t>
            </a:r>
            <a:r>
              <a:rPr b="1" lang="en-US" sz="2000">
                <a:solidFill>
                  <a:srgbClr val="2416D4"/>
                </a:solidFill>
              </a:rPr>
              <a:t> </a:t>
            </a:r>
            <a:r>
              <a:rPr b="1" lang="en-US">
                <a:solidFill>
                  <a:srgbClr val="2416D4"/>
                </a:solidFill>
              </a:rPr>
              <a:t>a</a:t>
            </a:r>
            <a:r>
              <a:rPr b="1" baseline="-25000" lang="en-US">
                <a:solidFill>
                  <a:srgbClr val="2416D4"/>
                </a:solidFill>
              </a:rPr>
              <a:t>n </a:t>
            </a:r>
            <a:r>
              <a:rPr b="1" lang="en-US">
                <a:solidFill>
                  <a:srgbClr val="2416D4"/>
                </a:solidFill>
              </a:rPr>
              <a:t>= (d</a:t>
            </a:r>
            <a:r>
              <a:rPr b="1" baseline="-25000" lang="en-US">
                <a:solidFill>
                  <a:srgbClr val="2416D4"/>
                </a:solidFill>
              </a:rPr>
              <a:t>10 </a:t>
            </a:r>
            <a:r>
              <a:rPr b="1" lang="en-US">
                <a:solidFill>
                  <a:srgbClr val="2416D4"/>
                </a:solidFill>
              </a:rPr>
              <a:t> + d</a:t>
            </a:r>
            <a:r>
              <a:rPr b="1" baseline="-25000" lang="en-US">
                <a:solidFill>
                  <a:srgbClr val="2416D4"/>
                </a:solidFill>
              </a:rPr>
              <a:t>11</a:t>
            </a:r>
            <a:r>
              <a:rPr b="1" lang="en-US">
                <a:solidFill>
                  <a:srgbClr val="2416D4"/>
                </a:solidFill>
              </a:rPr>
              <a:t> n + d</a:t>
            </a:r>
            <a:r>
              <a:rPr b="1" baseline="-25000" lang="en-US">
                <a:solidFill>
                  <a:srgbClr val="2416D4"/>
                </a:solidFill>
              </a:rPr>
              <a:t>12</a:t>
            </a:r>
            <a:r>
              <a:rPr b="1" lang="en-US">
                <a:solidFill>
                  <a:srgbClr val="2416D4"/>
                </a:solidFill>
              </a:rPr>
              <a:t> n</a:t>
            </a:r>
            <a:r>
              <a:rPr b="1" baseline="30000" lang="en-US">
                <a:solidFill>
                  <a:srgbClr val="2416D4"/>
                </a:solidFill>
              </a:rPr>
              <a:t>2 </a:t>
            </a:r>
            <a:r>
              <a:rPr b="1" lang="en-US">
                <a:solidFill>
                  <a:srgbClr val="2416D4"/>
                </a:solidFill>
              </a:rPr>
              <a:t>)(-1)</a:t>
            </a:r>
            <a:r>
              <a:rPr b="1" baseline="30000" lang="en-US">
                <a:solidFill>
                  <a:srgbClr val="2416D4"/>
                </a:solidFill>
              </a:rPr>
              <a:t>n</a:t>
            </a:r>
            <a:endParaRPr sz="2000">
              <a:solidFill>
                <a:srgbClr val="2416D4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2416D4"/>
                </a:solidFill>
              </a:rPr>
              <a:t>   Bước 2</a:t>
            </a:r>
            <a:r>
              <a:rPr lang="en-US" sz="2400">
                <a:solidFill>
                  <a:srgbClr val="2416D4"/>
                </a:solidFill>
              </a:rPr>
              <a:t>: Tìm hằng số </a:t>
            </a:r>
            <a:r>
              <a:rPr lang="en-US">
                <a:solidFill>
                  <a:srgbClr val="2416D4"/>
                </a:solidFill>
              </a:rPr>
              <a:t>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, d</a:t>
            </a:r>
            <a:r>
              <a:rPr baseline="-25000" lang="en-US">
                <a:solidFill>
                  <a:srgbClr val="2416D4"/>
                </a:solidFill>
              </a:rPr>
              <a:t>11 </a:t>
            </a:r>
            <a:r>
              <a:rPr lang="en-US" sz="2400">
                <a:solidFill>
                  <a:srgbClr val="2416D4"/>
                </a:solidFill>
              </a:rPr>
              <a:t>và </a:t>
            </a:r>
            <a:r>
              <a:rPr lang="en-US">
                <a:solidFill>
                  <a:srgbClr val="2416D4"/>
                </a:solidFill>
              </a:rPr>
              <a:t>d</a:t>
            </a:r>
            <a:r>
              <a:rPr baseline="-25000" lang="en-US">
                <a:solidFill>
                  <a:srgbClr val="2416D4"/>
                </a:solidFill>
              </a:rPr>
              <a:t>12</a:t>
            </a:r>
            <a:endParaRPr sz="2400"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416D4"/>
              </a:buClr>
              <a:buSzPts val="2000"/>
              <a:buChar char="•"/>
            </a:pPr>
            <a:r>
              <a:rPr lang="en-US" sz="2000">
                <a:solidFill>
                  <a:srgbClr val="2416D4"/>
                </a:solidFill>
              </a:rPr>
              <a:t>Sử dụng điều kiện đầu: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b="1" lang="en-US" sz="2000">
                <a:solidFill>
                  <a:srgbClr val="2416D4"/>
                </a:solidFill>
              </a:rPr>
              <a:t>                </a:t>
            </a:r>
            <a:r>
              <a:rPr lang="en-US">
                <a:solidFill>
                  <a:srgbClr val="2416D4"/>
                </a:solidFill>
              </a:rPr>
              <a:t>1 = 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 ,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2416D4"/>
                </a:solidFill>
              </a:rPr>
              <a:t>             -2</a:t>
            </a:r>
            <a:r>
              <a:rPr baseline="-25000" lang="en-US">
                <a:solidFill>
                  <a:srgbClr val="2416D4"/>
                </a:solidFill>
              </a:rPr>
              <a:t> </a:t>
            </a:r>
            <a:r>
              <a:rPr lang="en-US">
                <a:solidFill>
                  <a:srgbClr val="2416D4"/>
                </a:solidFill>
              </a:rPr>
              <a:t>= (d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 + d</a:t>
            </a:r>
            <a:r>
              <a:rPr baseline="-25000" lang="en-US">
                <a:solidFill>
                  <a:srgbClr val="2416D4"/>
                </a:solidFill>
              </a:rPr>
              <a:t>11</a:t>
            </a:r>
            <a:r>
              <a:rPr lang="en-US">
                <a:solidFill>
                  <a:srgbClr val="2416D4"/>
                </a:solidFill>
              </a:rPr>
              <a:t> + d</a:t>
            </a:r>
            <a:r>
              <a:rPr baseline="-25000" lang="en-US">
                <a:solidFill>
                  <a:srgbClr val="2416D4"/>
                </a:solidFill>
              </a:rPr>
              <a:t>12</a:t>
            </a:r>
            <a:r>
              <a:rPr lang="en-US">
                <a:solidFill>
                  <a:srgbClr val="2416D4"/>
                </a:solidFill>
              </a:rPr>
              <a:t>)(-1) ,</a:t>
            </a:r>
            <a:endParaRPr baseline="-25000"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aseline="-25000" lang="en-US">
                <a:solidFill>
                  <a:srgbClr val="2416D4"/>
                </a:solidFill>
              </a:rPr>
              <a:t>                     </a:t>
            </a:r>
            <a:r>
              <a:rPr b="1" lang="en-US">
                <a:solidFill>
                  <a:srgbClr val="2416D4"/>
                </a:solidFill>
              </a:rPr>
              <a:t>-1</a:t>
            </a:r>
            <a:r>
              <a:rPr baseline="-25000" lang="en-US">
                <a:solidFill>
                  <a:srgbClr val="2416D4"/>
                </a:solidFill>
              </a:rPr>
              <a:t> </a:t>
            </a:r>
            <a:r>
              <a:rPr lang="en-US">
                <a:solidFill>
                  <a:srgbClr val="2416D4"/>
                </a:solidFill>
              </a:rPr>
              <a:t>= 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 + d</a:t>
            </a:r>
            <a:r>
              <a:rPr baseline="-25000" lang="en-US">
                <a:solidFill>
                  <a:srgbClr val="2416D4"/>
                </a:solidFill>
              </a:rPr>
              <a:t>11</a:t>
            </a:r>
            <a:r>
              <a:rPr lang="en-US">
                <a:solidFill>
                  <a:srgbClr val="2416D4"/>
                </a:solidFill>
              </a:rPr>
              <a:t>2 + d</a:t>
            </a:r>
            <a:r>
              <a:rPr baseline="-25000" lang="en-US">
                <a:solidFill>
                  <a:srgbClr val="2416D4"/>
                </a:solidFill>
              </a:rPr>
              <a:t>12 </a:t>
            </a:r>
            <a:r>
              <a:rPr lang="en-US">
                <a:solidFill>
                  <a:srgbClr val="2416D4"/>
                </a:solidFill>
              </a:rPr>
              <a:t>4</a:t>
            </a:r>
            <a:r>
              <a:rPr baseline="-25000" lang="en-US">
                <a:solidFill>
                  <a:srgbClr val="2416D4"/>
                </a:solidFill>
              </a:rPr>
              <a:t> </a:t>
            </a:r>
            <a:endParaRPr>
              <a:solidFill>
                <a:srgbClr val="2416D4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82" name="Google Shape;582;p40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83" name="Google Shape;583;p4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4" name="Google Shape;584;p40"/>
          <p:cNvSpPr/>
          <p:nvPr/>
        </p:nvSpPr>
        <p:spPr>
          <a:xfrm>
            <a:off x="2004650" y="4380025"/>
            <a:ext cx="228600" cy="1219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4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1"/>
          <p:cNvSpPr txBox="1"/>
          <p:nvPr>
            <p:ph idx="1" type="body"/>
          </p:nvPr>
        </p:nvSpPr>
        <p:spPr>
          <a:xfrm>
            <a:off x="457200" y="12954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 </a:t>
            </a:r>
            <a:endParaRPr b="1" sz="2800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2416D4"/>
                </a:solidFill>
              </a:rPr>
              <a:t>Bước 2 (t.):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2416D4"/>
                </a:solidFill>
              </a:rPr>
              <a:t>       </a:t>
            </a:r>
            <a:r>
              <a:rPr lang="en-US">
                <a:solidFill>
                  <a:srgbClr val="2416D4"/>
                </a:solidFill>
              </a:rPr>
              <a:t>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  = 1 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2416D4"/>
                </a:solidFill>
              </a:rPr>
              <a:t>       d</a:t>
            </a:r>
            <a:r>
              <a:rPr baseline="-25000" lang="en-US">
                <a:solidFill>
                  <a:srgbClr val="2416D4"/>
                </a:solidFill>
              </a:rPr>
              <a:t>11</a:t>
            </a:r>
            <a:r>
              <a:rPr lang="en-US">
                <a:solidFill>
                  <a:srgbClr val="2416D4"/>
                </a:solidFill>
              </a:rPr>
              <a:t> =  3 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2416D4"/>
                </a:solidFill>
              </a:rPr>
              <a:t>       d</a:t>
            </a:r>
            <a:r>
              <a:rPr baseline="-25000" lang="en-US">
                <a:solidFill>
                  <a:srgbClr val="2416D4"/>
                </a:solidFill>
              </a:rPr>
              <a:t>12</a:t>
            </a:r>
            <a:r>
              <a:rPr lang="en-US">
                <a:solidFill>
                  <a:srgbClr val="2416D4"/>
                </a:solidFill>
              </a:rPr>
              <a:t> = -2</a:t>
            </a:r>
            <a:endParaRPr>
              <a:solidFill>
                <a:srgbClr val="2416D4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2416D4"/>
                </a:solidFill>
              </a:rPr>
              <a:t> Bước</a:t>
            </a:r>
            <a:r>
              <a:rPr lang="en-US" sz="2400">
                <a:solidFill>
                  <a:srgbClr val="2416D4"/>
                </a:solidFill>
              </a:rPr>
              <a:t> 3: Nghiệm của hệ thức truy hồi</a:t>
            </a:r>
            <a:endParaRPr>
              <a:solidFill>
                <a:srgbClr val="2416D4"/>
              </a:solidFill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2416D4"/>
                </a:solidFill>
              </a:rPr>
              <a:t> </a:t>
            </a:r>
            <a:r>
              <a:rPr b="1" lang="en-US" sz="3200">
                <a:solidFill>
                  <a:srgbClr val="2416D4"/>
                </a:solidFill>
              </a:rPr>
              <a:t>      a</a:t>
            </a:r>
            <a:r>
              <a:rPr b="1" baseline="-25000" lang="en-US" sz="3200">
                <a:solidFill>
                  <a:srgbClr val="2416D4"/>
                </a:solidFill>
              </a:rPr>
              <a:t>n </a:t>
            </a:r>
            <a:r>
              <a:rPr b="1" lang="en-US" sz="3200">
                <a:solidFill>
                  <a:srgbClr val="2416D4"/>
                </a:solidFill>
              </a:rPr>
              <a:t>= (1</a:t>
            </a:r>
            <a:r>
              <a:rPr b="1" baseline="-25000" lang="en-US" sz="3200">
                <a:solidFill>
                  <a:srgbClr val="2416D4"/>
                </a:solidFill>
              </a:rPr>
              <a:t> </a:t>
            </a:r>
            <a:r>
              <a:rPr b="1" lang="en-US" sz="3200">
                <a:solidFill>
                  <a:srgbClr val="2416D4"/>
                </a:solidFill>
              </a:rPr>
              <a:t> +  3 n - 2 n</a:t>
            </a:r>
            <a:r>
              <a:rPr b="1" baseline="30000" lang="en-US" sz="3200">
                <a:solidFill>
                  <a:srgbClr val="2416D4"/>
                </a:solidFill>
              </a:rPr>
              <a:t>2 </a:t>
            </a:r>
            <a:r>
              <a:rPr b="1" lang="en-US" sz="3200">
                <a:solidFill>
                  <a:srgbClr val="2416D4"/>
                </a:solidFill>
              </a:rPr>
              <a:t>) (-1)</a:t>
            </a:r>
            <a:r>
              <a:rPr b="1" baseline="30000" lang="en-US" sz="3200">
                <a:solidFill>
                  <a:srgbClr val="2416D4"/>
                </a:solidFill>
              </a:rPr>
              <a:t>n</a:t>
            </a:r>
            <a:r>
              <a:rPr b="1" lang="en-US" sz="3200">
                <a:solidFill>
                  <a:srgbClr val="2416D4"/>
                </a:solidFill>
              </a:rPr>
              <a:t> , n ≥ 0</a:t>
            </a:r>
            <a:endParaRPr sz="3200">
              <a:solidFill>
                <a:srgbClr val="2416D4"/>
              </a:solidFill>
            </a:endParaRPr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002060"/>
              </a:buClr>
              <a:buSzPts val="3600"/>
              <a:buNone/>
            </a:pPr>
            <a:r>
              <a:rPr lang="en-US" sz="3600">
                <a:solidFill>
                  <a:srgbClr val="002060"/>
                </a:solidFill>
              </a:rPr>
              <a:t>             </a:t>
            </a:r>
            <a:endParaRPr sz="36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91" name="Google Shape;591;p41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92" name="Google Shape;592;p4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3" name="Google Shape;593;p4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BÀI TẬP</a:t>
            </a:r>
            <a:endParaRPr sz="3200"/>
          </a:p>
        </p:txBody>
      </p:sp>
      <p:sp>
        <p:nvSpPr>
          <p:cNvPr id="599" name="Google Shape;599;p42"/>
          <p:cNvSpPr txBox="1"/>
          <p:nvPr>
            <p:ph idx="1" type="body"/>
          </p:nvPr>
        </p:nvSpPr>
        <p:spPr>
          <a:xfrm>
            <a:off x="457200" y="1600201"/>
            <a:ext cx="8229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b="1" lang="en-US"/>
              <a:t>a</a:t>
            </a:r>
            <a:r>
              <a:rPr b="1" baseline="-25000" lang="en-US"/>
              <a:t>n</a:t>
            </a:r>
            <a:r>
              <a:rPr b="1" lang="en-US"/>
              <a:t> = 6a</a:t>
            </a:r>
            <a:r>
              <a:rPr b="1" baseline="-25000" lang="en-US"/>
              <a:t>n-1</a:t>
            </a:r>
            <a:r>
              <a:rPr b="1" lang="en-US"/>
              <a:t> - 11a</a:t>
            </a:r>
            <a:r>
              <a:rPr b="1" baseline="-25000" lang="en-US"/>
              <a:t>n-2­</a:t>
            </a:r>
            <a:r>
              <a:rPr b="1" lang="en-US"/>
              <a:t> + 6a</a:t>
            </a:r>
            <a:r>
              <a:rPr b="1" baseline="-25000" lang="en-US"/>
              <a:t>n-3</a:t>
            </a:r>
            <a:r>
              <a:rPr b="1" lang="en-US"/>
              <a:t> , 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             a</a:t>
            </a:r>
            <a:r>
              <a:rPr b="1" baseline="-25000" lang="en-US"/>
              <a:t>0</a:t>
            </a:r>
            <a:r>
              <a:rPr b="1" lang="en-US"/>
              <a:t> =2, a</a:t>
            </a:r>
            <a:r>
              <a:rPr b="1" baseline="-25000" lang="en-US"/>
              <a:t>1</a:t>
            </a:r>
            <a:r>
              <a:rPr b="1" lang="en-US"/>
              <a:t> = 5 , a</a:t>
            </a:r>
            <a:r>
              <a:rPr b="1" baseline="-25000" lang="en-US"/>
              <a:t>2</a:t>
            </a:r>
            <a:r>
              <a:rPr b="1" lang="en-US"/>
              <a:t> = 15.</a:t>
            </a:r>
            <a:endParaRPr/>
          </a:p>
        </p:txBody>
      </p:sp>
      <p:sp>
        <p:nvSpPr>
          <p:cNvPr id="600" name="Google Shape;600;p4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01" name="Google Shape;601;p4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2" name="Google Shape;602;p42"/>
          <p:cNvSpPr/>
          <p:nvPr/>
        </p:nvSpPr>
        <p:spPr>
          <a:xfrm>
            <a:off x="838200" y="3276600"/>
            <a:ext cx="7620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ĐS:   a</a:t>
            </a:r>
            <a:r>
              <a:rPr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1 − 2</a:t>
            </a:r>
            <a:r>
              <a:rPr baseline="30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+ 2.3</a:t>
            </a:r>
            <a:r>
              <a:rPr baseline="30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3"/>
          <p:cNvSpPr txBox="1"/>
          <p:nvPr>
            <p:ph idx="1" type="body"/>
          </p:nvPr>
        </p:nvSpPr>
        <p:spPr>
          <a:xfrm>
            <a:off x="533400" y="5334000"/>
            <a:ext cx="8229600" cy="102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NEXT?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                </a:t>
            </a:r>
            <a:endParaRPr/>
          </a:p>
        </p:txBody>
      </p:sp>
      <p:pic>
        <p:nvPicPr>
          <p:cNvPr id="608" name="Google Shape;60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638300"/>
            <a:ext cx="6858000" cy="358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09" name="Google Shape;609;p43"/>
          <p:cNvSpPr txBox="1"/>
          <p:nvPr/>
        </p:nvSpPr>
        <p:spPr>
          <a:xfrm>
            <a:off x="2438400" y="4419600"/>
            <a:ext cx="4876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ALL;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2012-10-08T14:49:17Z</dcterms:created>
  <dc:creator>mc</dc:creator>
</cp:coreProperties>
</file>